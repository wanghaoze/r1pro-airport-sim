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4299dc3da84d7d" /><Relationship Type="http://schemas.openxmlformats.org/officeDocument/2006/relationships/extended-properties" Target="/docProps/app.xml" Id="R628f6f6cb28142b7" /><Relationship Type="http://schemas.openxmlformats.org/officeDocument/2006/relationships/officeDocument" Target="/ppt/presentation.xml" Id="R2404170f19a94b9e" /></Relationships>
</file>

<file path=ppt/presentation.xml><?xml version="1.0" encoding="utf-8"?>
<p:presentation xmlns:p="http://schemas.openxmlformats.org/presentationml/2006/main">
  <p:sldMasterIdLst>
    <p:sldMasterId xmlns:r="http://schemas.openxmlformats.org/officeDocument/2006/relationships" id="2147483648" r:id="Rcbc2873ddff7472d"/>
  </p:sldMasterIdLst>
  <p:notesMasterIdLst>
    <p:notesMasterId xmlns:r="http://schemas.openxmlformats.org/officeDocument/2006/relationships" r:id="Raa33c075cf53401c"/>
  </p:notesMasterIdLst>
  <p:sldIdLst>
    <p:sldId xmlns:r="http://schemas.openxmlformats.org/officeDocument/2006/relationships" id="256" r:id="R5c4d62ccb5df4f92"/>
    <p:sldId xmlns:r="http://schemas.openxmlformats.org/officeDocument/2006/relationships" id="257" r:id="R318342d787d84611"/>
    <p:sldId xmlns:r="http://schemas.openxmlformats.org/officeDocument/2006/relationships" id="258" r:id="R9b21fbd949aa470f"/>
    <p:sldId xmlns:r="http://schemas.openxmlformats.org/officeDocument/2006/relationships" id="259" r:id="R4be249f546c6411b"/>
    <p:sldId xmlns:r="http://schemas.openxmlformats.org/officeDocument/2006/relationships" id="260" r:id="R8b5c66f2b13347fc"/>
    <p:sldId xmlns:r="http://schemas.openxmlformats.org/officeDocument/2006/relationships" id="261" r:id="R55b4525ab262440a"/>
    <p:sldId xmlns:r="http://schemas.openxmlformats.org/officeDocument/2006/relationships" id="262" r:id="Rbdf2d71db6964ff1"/>
    <p:sldId xmlns:r="http://schemas.openxmlformats.org/officeDocument/2006/relationships" id="263" r:id="R5cf4722f3b2e4f79"/>
    <p:sldId xmlns:r="http://schemas.openxmlformats.org/officeDocument/2006/relationships" id="264" r:id="Rfff3605e0cca4252"/>
    <p:sldId xmlns:r="http://schemas.openxmlformats.org/officeDocument/2006/relationships" id="265" r:id="Rc15a42d29c6c4a34"/>
    <p:sldId xmlns:r="http://schemas.openxmlformats.org/officeDocument/2006/relationships" id="266" r:id="Re0e3ed73c3bc49d8"/>
    <p:sldId xmlns:r="http://schemas.openxmlformats.org/officeDocument/2006/relationships" id="267" r:id="Rbc57bf616f5b4d65"/>
    <p:sldId xmlns:r="http://schemas.openxmlformats.org/officeDocument/2006/relationships" id="268" r:id="R7c09cf2a9a754ece"/>
    <p:sldId xmlns:r="http://schemas.openxmlformats.org/officeDocument/2006/relationships" id="269" r:id="R48fbf6f032964182"/>
    <p:sldId xmlns:r="http://schemas.openxmlformats.org/officeDocument/2006/relationships" id="270" r:id="R9aa86398a5c64a59"/>
    <p:sldId xmlns:r="http://schemas.openxmlformats.org/officeDocument/2006/relationships" id="271" r:id="Rc9a28a32c3384dc3"/>
    <p:sldId xmlns:r="http://schemas.openxmlformats.org/officeDocument/2006/relationships" id="272" r:id="R6d6898c25f5448b0"/>
    <p:sldId xmlns:r="http://schemas.openxmlformats.org/officeDocument/2006/relationships" id="273" r:id="R973d97494ac04b8c"/>
    <p:sldId xmlns:r="http://schemas.openxmlformats.org/officeDocument/2006/relationships" id="274" r:id="Rf3fdeeb706b546cd"/>
    <p:sldId xmlns:r="http://schemas.openxmlformats.org/officeDocument/2006/relationships" id="275" r:id="Rb058091f456343df"/>
    <p:sldId xmlns:r="http://schemas.openxmlformats.org/officeDocument/2006/relationships" id="276" r:id="R3c026bf23be54121"/>
    <p:sldId xmlns:r="http://schemas.openxmlformats.org/officeDocument/2006/relationships" id="277" r:id="Re89bfc399c6843d8"/>
    <p:sldId xmlns:r="http://schemas.openxmlformats.org/officeDocument/2006/relationships" id="278" r:id="Rc8a8823011634473"/>
    <p:sldId xmlns:r="http://schemas.openxmlformats.org/officeDocument/2006/relationships" id="279" r:id="R5e398404f04f4285"/>
    <p:sldId xmlns:r="http://schemas.openxmlformats.org/officeDocument/2006/relationships" id="280" r:id="R6793804023374223"/>
    <p:sldId xmlns:r="http://schemas.openxmlformats.org/officeDocument/2006/relationships" id="281" r:id="R8e8873f371d94c80"/>
    <p:sldId xmlns:r="http://schemas.openxmlformats.org/officeDocument/2006/relationships" id="282" r:id="R8b8dbaec7ba548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9c3b92820a4d49" /><Relationship Type="http://schemas.openxmlformats.org/officeDocument/2006/relationships/slideMaster" Target="/ppt/slideMasters/slideMaster1.xml" Id="Rcbc2873ddff7472d" /><Relationship Type="http://schemas.openxmlformats.org/officeDocument/2006/relationships/notesMaster" Target="/ppt/notesMasters/notesMaster1.xml" Id="Raa33c075cf53401c" /><Relationship Type="http://schemas.openxmlformats.org/officeDocument/2006/relationships/presProps" Target="/ppt/presProps.xml" Id="Rbd46ca0928584442" /><Relationship Type="http://schemas.openxmlformats.org/officeDocument/2006/relationships/tableStyles" Target="/ppt/tableStyles.xml" Id="R6df57b46d3da4a03" /><Relationship Type="http://schemas.openxmlformats.org/officeDocument/2006/relationships/slide" Target="/ppt/slides/slide1.xml" Id="R5c4d62ccb5df4f92" /><Relationship Type="http://schemas.openxmlformats.org/officeDocument/2006/relationships/slide" Target="/ppt/slides/slide2.xml" Id="R318342d787d84611" /><Relationship Type="http://schemas.openxmlformats.org/officeDocument/2006/relationships/slide" Target="/ppt/slides/slide3.xml" Id="R9b21fbd949aa470f" /><Relationship Type="http://schemas.openxmlformats.org/officeDocument/2006/relationships/slide" Target="/ppt/slides/slide4.xml" Id="R4be249f546c6411b" /><Relationship Type="http://schemas.openxmlformats.org/officeDocument/2006/relationships/slide" Target="/ppt/slides/slide5.xml" Id="R8b5c66f2b13347fc" /><Relationship Type="http://schemas.openxmlformats.org/officeDocument/2006/relationships/slide" Target="/ppt/slides/slide6.xml" Id="R55b4525ab262440a" /><Relationship Type="http://schemas.openxmlformats.org/officeDocument/2006/relationships/slide" Target="/ppt/slides/slide7.xml" Id="Rbdf2d71db6964ff1" /><Relationship Type="http://schemas.openxmlformats.org/officeDocument/2006/relationships/slide" Target="/ppt/slides/slide8.xml" Id="R5cf4722f3b2e4f79" /><Relationship Type="http://schemas.openxmlformats.org/officeDocument/2006/relationships/slide" Target="/ppt/slides/slide9.xml" Id="Rfff3605e0cca4252" /><Relationship Type="http://schemas.openxmlformats.org/officeDocument/2006/relationships/slide" Target="/ppt/slides/slide10.xml" Id="Rc15a42d29c6c4a34" /><Relationship Type="http://schemas.openxmlformats.org/officeDocument/2006/relationships/slide" Target="/ppt/slides/slide11.xml" Id="Re0e3ed73c3bc49d8" /><Relationship Type="http://schemas.openxmlformats.org/officeDocument/2006/relationships/slide" Target="/ppt/slides/slide12.xml" Id="Rbc57bf616f5b4d65" /><Relationship Type="http://schemas.openxmlformats.org/officeDocument/2006/relationships/slide" Target="/ppt/slides/slide13.xml" Id="R7c09cf2a9a754ece" /><Relationship Type="http://schemas.openxmlformats.org/officeDocument/2006/relationships/slide" Target="/ppt/slides/slide14.xml" Id="R48fbf6f032964182" /><Relationship Type="http://schemas.openxmlformats.org/officeDocument/2006/relationships/slide" Target="/ppt/slides/slide15.xml" Id="R9aa86398a5c64a59" /><Relationship Type="http://schemas.openxmlformats.org/officeDocument/2006/relationships/slide" Target="/ppt/slides/slide16.xml" Id="Rc9a28a32c3384dc3" /><Relationship Type="http://schemas.openxmlformats.org/officeDocument/2006/relationships/slide" Target="/ppt/slides/slide17.xml" Id="R6d6898c25f5448b0" /><Relationship Type="http://schemas.openxmlformats.org/officeDocument/2006/relationships/slide" Target="/ppt/slides/slide18.xml" Id="R973d97494ac04b8c" /><Relationship Type="http://schemas.openxmlformats.org/officeDocument/2006/relationships/slide" Target="/ppt/slides/slide19.xml" Id="Rf3fdeeb706b546cd" /><Relationship Type="http://schemas.openxmlformats.org/officeDocument/2006/relationships/slide" Target="/ppt/slides/slide20.xml" Id="Rb058091f456343df" /><Relationship Type="http://schemas.openxmlformats.org/officeDocument/2006/relationships/slide" Target="/ppt/slides/slide21.xml" Id="R3c026bf23be54121" /><Relationship Type="http://schemas.openxmlformats.org/officeDocument/2006/relationships/slide" Target="/ppt/slides/slide22.xml" Id="Re89bfc399c6843d8" /><Relationship Type="http://schemas.openxmlformats.org/officeDocument/2006/relationships/slide" Target="/ppt/slides/slide23.xml" Id="Rc8a8823011634473" /><Relationship Type="http://schemas.openxmlformats.org/officeDocument/2006/relationships/slide" Target="/ppt/slides/slide24.xml" Id="R5e398404f04f4285" /><Relationship Type="http://schemas.openxmlformats.org/officeDocument/2006/relationships/slide" Target="/ppt/slides/slide25.xml" Id="R6793804023374223" /><Relationship Type="http://schemas.openxmlformats.org/officeDocument/2006/relationships/slide" Target="/ppt/slides/slide26.xml" Id="R8e8873f371d94c80" /><Relationship Type="http://schemas.openxmlformats.org/officeDocument/2006/relationships/slide" Target="/ppt/slides/slide27.xml" Id="R8b8dbaec7ba548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8ab7e05f1740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f7903280ca4070" /><Relationship Type="http://schemas.openxmlformats.org/officeDocument/2006/relationships/notesMaster" Target="/ppt/notesMasters/notesMaster1.xml" Id="Rccaf326d35004f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e080a99f9e460f" /><Relationship Type="http://schemas.openxmlformats.org/officeDocument/2006/relationships/notesMaster" Target="/ppt/notesMasters/notesMaster1.xml" Id="R79495fa4bd8d49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cbaeae1ef64762" /><Relationship Type="http://schemas.openxmlformats.org/officeDocument/2006/relationships/notesMaster" Target="/ppt/notesMasters/notesMaster1.xml" Id="R4d754f80448740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b8def20ec44c5d" /><Relationship Type="http://schemas.openxmlformats.org/officeDocument/2006/relationships/notesMaster" Target="/ppt/notesMasters/notesMaster1.xml" Id="Rc2f2f01b946b46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4191e682ed4b8f" /><Relationship Type="http://schemas.openxmlformats.org/officeDocument/2006/relationships/notesMaster" Target="/ppt/notesMasters/notesMaster1.xml" Id="R935b1045e80b41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cb112dcb0c426d" /><Relationship Type="http://schemas.openxmlformats.org/officeDocument/2006/relationships/notesMaster" Target="/ppt/notesMasters/notesMaster1.xml" Id="Rff2f460f3b1f44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236142cea84b43" /><Relationship Type="http://schemas.openxmlformats.org/officeDocument/2006/relationships/notesMaster" Target="/ppt/notesMasters/notesMaster1.xml" Id="R0a605b86c96d47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0b523b5f6f434f" /><Relationship Type="http://schemas.openxmlformats.org/officeDocument/2006/relationships/notesMaster" Target="/ppt/notesMasters/notesMaster1.xml" Id="Rbfaf4a81f4dc4d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0968c1822940be" /><Relationship Type="http://schemas.openxmlformats.org/officeDocument/2006/relationships/notesMaster" Target="/ppt/notesMasters/notesMaster1.xml" Id="R6fc252ca43cb48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b074f9b8b54d0d" /><Relationship Type="http://schemas.openxmlformats.org/officeDocument/2006/relationships/notesMaster" Target="/ppt/notesMasters/notesMaster1.xml" Id="Rd9fd8d80e4504f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5c632a07344574" /><Relationship Type="http://schemas.openxmlformats.org/officeDocument/2006/relationships/notesMaster" Target="/ppt/notesMasters/notesMaster1.xml" Id="R3ec66117d37440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da7fa4d0d24977" /><Relationship Type="http://schemas.openxmlformats.org/officeDocument/2006/relationships/notesMaster" Target="/ppt/notesMasters/notesMaster1.xml" Id="Re4921a02cf7148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1b67ed23d240bf" /><Relationship Type="http://schemas.openxmlformats.org/officeDocument/2006/relationships/notesMaster" Target="/ppt/notesMasters/notesMaster1.xml" Id="R645f6c9a5fe445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a8d1107a7c46c2" /><Relationship Type="http://schemas.openxmlformats.org/officeDocument/2006/relationships/notesMaster" Target="/ppt/notesMasters/notesMaster1.xml" Id="R3dc5b294b95e40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658dafab88477b" /><Relationship Type="http://schemas.openxmlformats.org/officeDocument/2006/relationships/notesMaster" Target="/ppt/notesMasters/notesMaster1.xml" Id="R0fa43d393d2f4f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f6a0a3130e440d" /><Relationship Type="http://schemas.openxmlformats.org/officeDocument/2006/relationships/notesMaster" Target="/ppt/notesMasters/notesMaster1.xml" Id="R691f0efab6b942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6238d7e04e4284" /><Relationship Type="http://schemas.openxmlformats.org/officeDocument/2006/relationships/notesMaster" Target="/ppt/notesMasters/notesMaster1.xml" Id="Ra302f5af8c3e41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06e6530b9c4715" /><Relationship Type="http://schemas.openxmlformats.org/officeDocument/2006/relationships/notesMaster" Target="/ppt/notesMasters/notesMaster1.xml" Id="R8a89af074c4c4d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dd62105744745a6" /><Relationship Type="http://schemas.openxmlformats.org/officeDocument/2006/relationships/notesMaster" Target="/ppt/notesMasters/notesMaster1.xml" Id="Rdf72c4273a5f4e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8f8e2c5fe6472b" /><Relationship Type="http://schemas.openxmlformats.org/officeDocument/2006/relationships/notesMaster" Target="/ppt/notesMasters/notesMaster1.xml" Id="Re888923b116444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f45145a76d4874" /><Relationship Type="http://schemas.openxmlformats.org/officeDocument/2006/relationships/notesMaster" Target="/ppt/notesMasters/notesMaster1.xml" Id="R561934965ef647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42a307190ee49eb" /><Relationship Type="http://schemas.openxmlformats.org/officeDocument/2006/relationships/notesMaster" Target="/ppt/notesMasters/notesMaster1.xml" Id="Rf9d172d5776248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47d1844ed44303" /><Relationship Type="http://schemas.openxmlformats.org/officeDocument/2006/relationships/notesMaster" Target="/ppt/notesMasters/notesMaster1.xml" Id="Rdb9f34dfb2b5430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20f4e201ee45c9" /><Relationship Type="http://schemas.openxmlformats.org/officeDocument/2006/relationships/notesMaster" Target="/ppt/notesMasters/notesMaster1.xml" Id="Rbe171d1814d442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432d728a194a60" /><Relationship Type="http://schemas.openxmlformats.org/officeDocument/2006/relationships/notesMaster" Target="/ppt/notesMasters/notesMaster1.xml" Id="R52945147edb34a0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f67e839a0d40ac" /><Relationship Type="http://schemas.openxmlformats.org/officeDocument/2006/relationships/notesMaster" Target="/ppt/notesMasters/notesMaster1.xml" Id="R11886da7221746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20bbbc37744295" /><Relationship Type="http://schemas.openxmlformats.org/officeDocument/2006/relationships/notesMaster" Target="/ppt/notesMasters/notesMaster1.xml" Id="R4299ecb532ad41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technical report. Sources: project task contract, server evidence collected on 19 October 2026, and original laboratory reference photography. The cover photograph identifies the platform, not an evaluated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https://arxiv.org/abs/2504.16054 and https://www.pi.website/blog/pi05 . The original paper reports open-world generalization using heterogeneous co-training. Those paper-level findings are not measurements from this R1 Pro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https://github.com/Physical-Intelligence/openpi and https://github.com/Physical-Intelligence/openpi/blob/main/src/openpi/models/pi0_config.py . OpenPI currently exposes the flow-matching action head. The paper also describes high-level semantic inference. This project supplies explicit task text rather than implementing that complete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r1pro_teleop/vla/real_sim_data.py, scripts/studio_mse.py and r1pro_teleop/real2sim/isaac_policy_pickplace.py. Raw channel order: left arm 7, left gripper, right arm 7, right gripper, base 3. The model pads 19 dimensions to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apps/scene-agent/PROJECT.md and scripts/studio_prepare_training.py. All diagram nodes remain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resources/single_tray_lab_v1/reference_photos/room_desks.jpg and runs/isaacsim_reachable_fixedbase_20261016_v1/case_000/presentation.mp4. These are project source assets. The slide does not claim pixel-equivalent reconstruction.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scripts/run_isaac_parallel_pickplace.py and r1pro_teleop/vla/parallel_pickplace_training.py.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production website screenshots and actual interaction on 19 October 2026. The current basic instruction parser handles color edits. GPT API configuration remains pending. The English screenshot shows the restored original material at version 5. The earlier color demonstration was restored and saved as a new version. No GPU synchronization or training input change occurred. This is the scene editing workspace. Policy evaluation separately displays measured PhysX poses.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workstation bootstrap sampled 19 October 2026 18:29 SGT, automatic_evaluation.json, latest_figure_source.json, and docs/site/README.md. The figure is the completed latest 10000-update paired MSE job amse_c9c6f69c3fa6b0bd34dde0b2. Hosted Sites retains owner authentication for GPU operations; workstation mode uses local identity. GPT API remains unconfigured: dialogue is basic instruction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docs/site/POLICY_EVALUATION.md; current workstation screenshot and bootstrap sampled 19 October 2026. The screenshot is the final measured state of protected run 02237d37, not a live successful Pick/Place. No job was submitted while preparing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media: demo_english.mp4. Website screenshots show actual UI interactions. The camera/color segment records the original website GLB and material rules in a presentation viewer with a static pose. The native Isaac clip shows expert-controlled physics, not a successful VLA policy rollout. Physics footage remains at original speed. English captions identify each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and runs/isaacsim_parallel_pickplace300_20261017_v1. One Isaac engine and one PhysicsScene advance all rooms together. These rooms share one training parent scene and do not establish held-out scene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project task contract and independent native audit. Tolerances follow the user-authorized contract. No new acceptance thresholds are introduced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frozen 300-source manifest, preparation status and real-data cache. Production created 313 new complete pairs, but this training input froze exactly 300. Historical 59 pairs belong to a separate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parallel_pickplace_training.py, train_pi05_parallel_real_mix.py and decisions DEC-055 / DEC-WEB-004. This is behavior cloning with LoRA, not RL or DAgger. Duration weighting applies to the new 50/50 run. Historical recipes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studio_mse.py, studio_vla_evaluate.py and project handoff documents. Offline analysis of recorded real data does not operate the physical robot. No physical robot control was performed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docs/site/WORKSTATION.md, docs/site/LIVE_INFERENCE.md, docs/SCENE_TASK_SPEC.md v1.181 and runtime audit. The newest performance changes are deployed on the workstation; they were not republished to the hosted frontend. No hardware control was performed. G0.5 completed actual model loading/inference but lacks a complete gripper action contract; GR00T compatible weights remain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paired evaluation dated 12 October and full-frame evaluation dated 19 October 2026. Real-only and historical 90/10 models use the archived paired results. The new 50/50 model uses a separate evaluation run with the same protocol. Each checkpoint retains its own normalization. Initialization, simulated sources and training recipes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comparison_metrics.json and the new full-frame report. Archived order: L1–L7, R1–R7, GL, GR. New report order: L1–L7, GL, R1–R7, GR. The builder explicitly reorders channels. Chart workbooks retain 12 significant digits for Excel compatibility. The companion CSV preserves the original report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channel mapping match the previous slide. All joints remain visible, including R5 and R7 with larger errors. Numerical values accompany the deck as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fixed real Test19. Convert gripper m² to mm² by multiplying by 10^6. Joint and gripper values have different units and are never averaged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archived 12 October paired real100 vs real90/sim10; latest automatic paired MSE amse_c9c6f69c3fa6b0bd34dde0b2. The previous three charts intentionally retain their original frozen values. Latest real100 arm0.006771753502435589 and gripper405.97845179832854 differ slightly from archived0.0067694845045005265 and406.36878144081703; the source of this rerun discrepancy has not been isolated. No cross-run baseline substitution is performed. Initializations and simulation sources/weighting differ, preventing a causal ratio-only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completed automatic native VLA report avla_c9c6f69c3fa6b0bd34dde0b2, retrieved in workstation_bootstrap.json at 18:29 SGT on 19 October 2026. Checkpoint cp_8788068a6984a796aed42ef1, real50/sim50,10000 updates. 32 training-parent rooms,200 frames per action, no teacher/IK fallback, fixed base. All32 model failures: left_arm_joint4=29,right_arm_joint4=3; infrastructureFailures=0, coverage100%. This supersedes v2 queued/unverified wording. It is not a held-out-scene generalization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runs/web_realtime_optimization_20261019/comparison.json and audit.json. Same room000,real90/sim10 checkpoint cp_d0c1ec449340c22c344ee87c,40 frames,2 simulated seconds,actionSafetyMode robot_limits. Baseline GPU PhysX+synchronous; optimized CPU PhysX+one in-flight asynchronous prediction+Fabric. Both use warmup and25 substeps at0.002s. Three displayed timing values overlap: physics and model waiting are components of total rollout, not additive categories. Initialization/warmup and media finalization are excluded from rollout. CPU/GPU and asynchronous observations produce different trajectories; one short pair does not establish long-run 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runtime_comparison_english.mp4. Original wall-clock videos were downloaded from the current workstation artifact API and SHA-verified against comparison.json. Both begin together with original waiting time preserved. The optimized final frame is explicitly held after4.8s while baseline continues; both end cards hold until17.92s. Original recordings are320x180; no new motion is generated. Source encoder rounding produces15.92s and4.80s videos versus measured15.8707s and4.7446s rollout. This protected diagnostic is not task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current workstation API snapshot at18:29SGT, project release evidence and the measured reports cited throughout. Recommendations are next research steps, not completed experiments or authorization to run them. No new training or simulation job was submitted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media: real_robot_english.mp4. The user supplied the original 72.93-second recording. The presentation preserves its speed and full visual sequence, adds descriptive English captions, and strips location metadata. The user identifies the recipe as 10% real + 90% simulation at 10,000 updates. The exact checkpoint hash and execution mode remain unverified. This is a different recipe from the archived 90% real / 10% simulation MSE model. No task success rate or causal training claim is derived from this single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6c327533104e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7c13dc778a4b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70328ddc1e41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43e831ab2841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044cdf5d914d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4c0e727dc043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AF5670-A228-45ED-8C0C-F5820388AB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CCE8D4-9AAB-4374-951D-6169CC84ED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C61A59-C820-463D-B637-9327A9ED48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7DDABD-4A6C-458B-9F0E-712832B7AE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DE0751-36F1-4499-ACD6-5C199F3E6F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328A4B-18D4-4482-8B00-C2035A97AD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B4CCD6-C07B-49C9-A2B6-E01586038D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2530F5-452D-4A30-8588-2EE6417BE82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188915-2ED8-4FF7-B519-F888ECD3C4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69713C-C344-4932-9E40-E27DFA35DE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2db5165213450b" /><Relationship Type="http://schemas.openxmlformats.org/officeDocument/2006/relationships/slideLayout" Target="/ppt/slideLayouts/slideLayout1.xml" Id="Rb5d3fd21e81c4238" /><Relationship Type="http://schemas.openxmlformats.org/officeDocument/2006/relationships/slideLayout" Target="/ppt/slideLayouts/slideLayout2.xml" Id="R0eea7a4bc1474497" /><Relationship Type="http://schemas.openxmlformats.org/officeDocument/2006/relationships/slideLayout" Target="/ppt/slideLayouts/slideLayout3.xml" Id="R23a122ebc426470b" /><Relationship Type="http://schemas.openxmlformats.org/officeDocument/2006/relationships/slideLayout" Target="/ppt/slideLayouts/slideLayout4.xml" Id="Rd7d82167b3ee41d5" /><Relationship Type="http://schemas.openxmlformats.org/officeDocument/2006/relationships/slideLayout" Target="/ppt/slideLayouts/slideLayout5.xml" Id="R138887ab285644d3" /><Relationship Type="http://schemas.openxmlformats.org/officeDocument/2006/relationships/slideLayout" Target="/ppt/slideLayouts/slideLayout6.xml" Id="Rd8b2c91b8a8649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d3fd21e81c4238"/>
    <p:sldLayoutId xmlns:r="http://schemas.openxmlformats.org/officeDocument/2006/relationships" id="2147483650" r:id="R0eea7a4bc1474497"/>
    <p:sldLayoutId xmlns:r="http://schemas.openxmlformats.org/officeDocument/2006/relationships" id="2147483651" r:id="R23a122ebc426470b"/>
    <p:sldLayoutId xmlns:r="http://schemas.openxmlformats.org/officeDocument/2006/relationships" id="2147483652" r:id="Rd7d82167b3ee41d5"/>
    <p:sldLayoutId xmlns:r="http://schemas.openxmlformats.org/officeDocument/2006/relationships" id="2147483653" r:id="R138887ab285644d3"/>
    <p:sldLayoutId xmlns:r="http://schemas.openxmlformats.org/officeDocument/2006/relationships" id="2147483654" r:id="Rd8b2c91b8a8649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8788ce467744c0" /><Relationship Type="http://schemas.openxmlformats.org/officeDocument/2006/relationships/image" Target="/ppt/media/image.jpeg" Id="Rfc7a5ec8c8994c3e" /><Relationship Type="http://schemas.openxmlformats.org/officeDocument/2006/relationships/notesSlide" Target="/ppt/notesSlides/notesSlide1.xml" Id="Ra332e92a7d124c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f20fdc6b2141e2" /><Relationship Type="http://schemas.openxmlformats.org/officeDocument/2006/relationships/notesSlide" Target="/ppt/notesSlides/notesSlide2.xml" Id="R67b10e3b8b114c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fb5814830e447f" /><Relationship Type="http://schemas.openxmlformats.org/officeDocument/2006/relationships/notesSlide" Target="/ppt/notesSlides/notesSlide3.xml" Id="R5d32171fc8df47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6a5151a72e46cc" /><Relationship Type="http://schemas.openxmlformats.org/officeDocument/2006/relationships/notesSlide" Target="/ppt/notesSlides/notesSlide4.xml" Id="R68618f0abed34c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5bf086aa484bb5" /><Relationship Type="http://schemas.openxmlformats.org/officeDocument/2006/relationships/notesSlide" Target="/ppt/notesSlides/notesSlide5.xml" Id="R2ac2d4799d044c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b2fffce4504976" /><Relationship Type="http://schemas.openxmlformats.org/officeDocument/2006/relationships/image" Target="/ppt/media/image2.jpeg" Id="Re4ba94dcbe1148da" /><Relationship Type="http://schemas.openxmlformats.org/officeDocument/2006/relationships/image" Target="/ppt/media/image.png" Id="R9bb45629345f4df0" /><Relationship Type="http://schemas.openxmlformats.org/officeDocument/2006/relationships/notesSlide" Target="/ppt/notesSlides/notesSlide6.xml" Id="R86785e40291a4c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11e0068df84f7f" /><Relationship Type="http://schemas.openxmlformats.org/officeDocument/2006/relationships/notesSlide" Target="/ppt/notesSlides/notesSlide7.xml" Id="R4634f4a4d5dc4d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b2a45222e946ee" /><Relationship Type="http://schemas.openxmlformats.org/officeDocument/2006/relationships/image" Target="/ppt/media/image3.jpeg" Id="R40b5bc7c1bb74840" /><Relationship Type="http://schemas.openxmlformats.org/officeDocument/2006/relationships/notesSlide" Target="/ppt/notesSlides/notesSlide8.xml" Id="Rc2ad69c38c0d40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fb314651544081" /><Relationship Type="http://schemas.openxmlformats.org/officeDocument/2006/relationships/image" Target="/ppt/media/image2.png" Id="R6185e33281704074" /><Relationship Type="http://schemas.openxmlformats.org/officeDocument/2006/relationships/notesSlide" Target="/ppt/notesSlides/notesSlide9.xml" Id="Rf48ac7dccb044c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a184c225b645b0" /><Relationship Type="http://schemas.openxmlformats.org/officeDocument/2006/relationships/image" Target="/ppt/media/image4.jpeg" Id="R4c643234a35b4a30" /><Relationship Type="http://schemas.openxmlformats.org/officeDocument/2006/relationships/notesSlide" Target="/ppt/notesSlides/notesSlide10.xml" Id="R6a6f98335e0f4293"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a3d39b1c697a46c6" /><ns0:Relationship Type="http://schemas.openxmlformats.org/officeDocument/2006/relationships/image" Target="/ppt/media/image3.png" Id="Rfea93c2bf0634fd7" /><ns0:Relationship Type="http://schemas.openxmlformats.org/officeDocument/2006/relationships/notesSlide" Target="/ppt/notesSlides/notesSlide11.xml" Id="R368e822a310a45e8" /><ns0:Relationship Id="rIdPresentationVideo" Type="http://schemas.openxmlformats.org/officeDocument/2006/relationships/video" Target="../media/demo_english.mp4" /><ns0:Relationship Id="rIdPresentationMedia" Type="http://schemas.microsoft.com/office/2007/relationships/media" Target="../media/demo_english.mp4" /></ns0: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27866b67de432b" /><Relationship Type="http://schemas.openxmlformats.org/officeDocument/2006/relationships/image" Target="/ppt/media/image4.png" Id="R32eac4b39cfc4ae5" /><Relationship Type="http://schemas.openxmlformats.org/officeDocument/2006/relationships/notesSlide" Target="/ppt/notesSlides/notesSlide12.xml" Id="Rbeddcfc30ea94d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8c94ecb3434200" /><Relationship Type="http://schemas.openxmlformats.org/officeDocument/2006/relationships/notesSlide" Target="/ppt/notesSlides/notesSlide13.xml" Id="R804587decdc94c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0079f624a3d4e0a" /><Relationship Type="http://schemas.openxmlformats.org/officeDocument/2006/relationships/notesSlide" Target="/ppt/notesSlides/notesSlide14.xml" Id="R87c98db15d5448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f3b2d1a54c14113" /><Relationship Type="http://schemas.openxmlformats.org/officeDocument/2006/relationships/notesSlide" Target="/ppt/notesSlides/notesSlide15.xml" Id="R8761453d99a84e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de8fea1cbb749a7" /><Relationship Type="http://schemas.openxmlformats.org/officeDocument/2006/relationships/notesSlide" Target="/ppt/notesSlides/notesSlide16.xml" Id="R597a3b6c29714c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c66897a92aa43d5" /><Relationship Type="http://schemas.openxmlformats.org/officeDocument/2006/relationships/notesSlide" Target="/ppt/notesSlides/notesSlide17.xml" Id="R077a23b1e09248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f673c9077b7405d" /><Relationship Type="http://schemas.openxmlformats.org/officeDocument/2006/relationships/notesSlide" Target="/ppt/notesSlides/notesSlide18.xml" Id="Rda44c355a37940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55fd55df42f4bc1" /><Relationship Type="http://schemas.openxmlformats.org/officeDocument/2006/relationships/chart" Target="/ppt/slides/charts/chart1.xml" Id="R18e1259d96d949ae" /><Relationship Type="http://schemas.openxmlformats.org/officeDocument/2006/relationships/notesSlide" Target="/ppt/notesSlides/notesSlide19.xml" Id="Rf140a6c12ae44a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a52f06770aa4903" /><Relationship Type="http://schemas.openxmlformats.org/officeDocument/2006/relationships/chart" Target="/ppt/slides/charts/chart2.xml" Id="Rcae923563ba24c75" /><Relationship Type="http://schemas.openxmlformats.org/officeDocument/2006/relationships/notesSlide" Target="/ppt/notesSlides/notesSlide20.xml" Id="Rc2252247466e4d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365dbadd5c24454" /><Relationship Type="http://schemas.openxmlformats.org/officeDocument/2006/relationships/chart" Target="/ppt/slides/charts/chart3.xml" Id="Re891fb0a6fa74ee0" /><Relationship Type="http://schemas.openxmlformats.org/officeDocument/2006/relationships/notesSlide" Target="/ppt/notesSlides/notesSlide21.xml" Id="R3b4a143b507948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ed127c73d584d36" /><Relationship Type="http://schemas.openxmlformats.org/officeDocument/2006/relationships/notesSlide" Target="/ppt/notesSlides/notesSlide22.xml" Id="R6357b851e0b246c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70e88081eb14128" /><Relationship Type="http://schemas.openxmlformats.org/officeDocument/2006/relationships/notesSlide" Target="/ppt/notesSlides/notesSlide23.xml" Id="Rc27c5a9b9c7040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3c34590e7ba4a84" /><Relationship Type="http://schemas.openxmlformats.org/officeDocument/2006/relationships/chart" Target="/ppt/slides/charts/chart4.xml" Id="R4f55edfb3f4345f7" /><Relationship Type="http://schemas.openxmlformats.org/officeDocument/2006/relationships/notesSlide" Target="/ppt/notesSlides/notesSlide24.xml" Id="R7113b7c9500942d9" /></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6.xml" Id="Re802ea75b3084dcf" /><ns0:Relationship Type="http://schemas.openxmlformats.org/officeDocument/2006/relationships/image" Target="/ppt/media/image5.png" Id="Rdab517501c1240b0" /><ns0:Relationship Type="http://schemas.openxmlformats.org/officeDocument/2006/relationships/notesSlide" Target="/ppt/notesSlides/notesSlide25.xml" Id="Rce528aed90a64e52" /><ns0:Relationship Id="rIdPresentationVideo" Type="http://schemas.openxmlformats.org/officeDocument/2006/relationships/video" Target="../media/runtime_comparison_english.mp4" /><ns0:Relationship Id="rIdPresentationMedia" Type="http://schemas.microsoft.com/office/2007/relationships/media" Target="../media/runtime_comparison_english.mp4" /></ns0: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abc54d5bf054793" /><Relationship Type="http://schemas.openxmlformats.org/officeDocument/2006/relationships/notesSlide" Target="/ppt/notesSlides/notesSlide26.xml" Id="Rd1fd0e2295d74b42" /></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6.xml" Id="R226f85a046ce467a" /><ns0:Relationship Type="http://schemas.openxmlformats.org/officeDocument/2006/relationships/image" Target="/ppt/media/image6.png" Id="R0c6b714d288f465b" /><ns0:Relationship Type="http://schemas.openxmlformats.org/officeDocument/2006/relationships/notesSlide" Target="/ppt/notesSlides/notesSlide27.xml" Id="R0e4bfcc097fe4109" /><ns0:Relationship Id="rIdPresentationVideo" Type="http://schemas.openxmlformats.org/officeDocument/2006/relationships/video" Target="../media/real_robot_english.mp4" /><ns0:Relationship Id="rIdPresentationMedia" Type="http://schemas.microsoft.com/office/2007/relationships/media" Target="../media/real_robot_english.mp4"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Data'!$A$2:$A$8</c:f>
              <c:strCache>
                <c:ptCount val="7"/>
                <c:pt idx="0">
                  <c:v>L1</c:v>
                </c:pt>
                <c:pt idx="1">
                  <c:v>L2</c:v>
                </c:pt>
                <c:pt idx="2">
                  <c:v>L3</c:v>
                </c:pt>
                <c:pt idx="3">
                  <c:v>L4</c:v>
                </c:pt>
                <c:pt idx="4">
                  <c:v>L5</c:v>
                </c:pt>
                <c:pt idx="5">
                  <c:v>L6</c:v>
                </c:pt>
                <c:pt idx="6">
                  <c:v>L7</c:v>
                </c:pt>
              </c:strCache>
            </c:strRef>
          </c:cat>
          <c:val>
            <c:numRef>
              <c:f>'Chart Data'!$B$2:$B$8</c:f>
              <c:numCache>
                <c:formatCode>0.000</c:formatCode>
                <c:ptCount val="7"/>
                <c:pt idx="0">
                  <c:v>0.00264959321192</c:v>
                </c:pt>
                <c:pt idx="1">
                  <c:v>0.000665158892079</c:v>
                </c:pt>
                <c:pt idx="2">
                  <c:v>0.00193510105119</c:v>
                </c:pt>
                <c:pt idx="3">
                  <c:v>0.00674508620593</c:v>
                </c:pt>
                <c:pt idx="4">
                  <c:v>0.00852114596006</c:v>
                </c:pt>
                <c:pt idx="5">
                  <c:v>0.00445980581621</c:v>
                </c:pt>
                <c:pt idx="6">
                  <c:v>0.00528128261616</c:v>
                </c:pt>
              </c:numCache>
            </c:numRef>
          </c:val>
        </c:ser>
        <c:ser>
          <c:idx val="1"/>
          <c:order val="1"/>
          <c:tx>
            <c:v>Real 90% / Sim 10%</c:v>
          </c:tx>
          <c:spPr>
            <a:solidFill xmlns:a="http://schemas.openxmlformats.org/drawingml/2006/main">
              <a:srgbClr val="008879"/>
            </a:solidFill>
          </c:spPr>
          <c:invertIfNegative val="0"/>
          <c:cat>
            <c:strRef>
              <c:f>'Chart Data'!$C$2:$C$8</c:f>
              <c:strCache>
                <c:ptCount val="7"/>
                <c:pt idx="0">
                  <c:v>L1</c:v>
                </c:pt>
                <c:pt idx="1">
                  <c:v>L2</c:v>
                </c:pt>
                <c:pt idx="2">
                  <c:v>L3</c:v>
                </c:pt>
                <c:pt idx="3">
                  <c:v>L4</c:v>
                </c:pt>
                <c:pt idx="4">
                  <c:v>L5</c:v>
                </c:pt>
                <c:pt idx="5">
                  <c:v>L6</c:v>
                </c:pt>
                <c:pt idx="6">
                  <c:v>L7</c:v>
                </c:pt>
              </c:strCache>
            </c:strRef>
          </c:cat>
          <c:val>
            <c:numRef>
              <c:f>'Chart Data'!$D$2:$D$8</c:f>
              <c:numCache>
                <c:formatCode>0.000</c:formatCode>
                <c:ptCount val="7"/>
                <c:pt idx="0">
                  <c:v>0.00230987614992</c:v>
                </c:pt>
                <c:pt idx="1">
                  <c:v>0.000702255282573</c:v>
                </c:pt>
                <c:pt idx="2">
                  <c:v>0.00192743442661</c:v>
                </c:pt>
                <c:pt idx="3">
                  <c:v>0.00630810542255</c:v>
                </c:pt>
                <c:pt idx="4">
                  <c:v>0.00732681834977</c:v>
                </c:pt>
                <c:pt idx="5">
                  <c:v>0.00412556888412</c:v>
                </c:pt>
                <c:pt idx="6">
                  <c:v>0.00530860782478</c:v>
                </c:pt>
              </c:numCache>
            </c:numRef>
          </c:val>
        </c:ser>
        <c:ser>
          <c:idx val="2"/>
          <c:order val="2"/>
          <c:tx>
            <c:v>Real 50% / Sim 50%</c:v>
          </c:tx>
          <c:spPr>
            <a:solidFill xmlns:a="http://schemas.openxmlformats.org/drawingml/2006/main">
              <a:srgbClr val="D8882E"/>
            </a:solidFill>
          </c:spPr>
          <c:invertIfNegative val="0"/>
          <c:cat>
            <c:strRef>
              <c:f>'Chart Data'!$E$2:$E$8</c:f>
              <c:strCache>
                <c:ptCount val="7"/>
                <c:pt idx="0">
                  <c:v>L1</c:v>
                </c:pt>
                <c:pt idx="1">
                  <c:v>L2</c:v>
                </c:pt>
                <c:pt idx="2">
                  <c:v>L3</c:v>
                </c:pt>
                <c:pt idx="3">
                  <c:v>L4</c:v>
                </c:pt>
                <c:pt idx="4">
                  <c:v>L5</c:v>
                </c:pt>
                <c:pt idx="5">
                  <c:v>L6</c:v>
                </c:pt>
                <c:pt idx="6">
                  <c:v>L7</c:v>
                </c:pt>
              </c:strCache>
            </c:strRef>
          </c:cat>
          <c:val>
            <c:numRef>
              <c:f>'Chart Data'!$F$2:$F$8</c:f>
              <c:numCache>
                <c:formatCode>0.000</c:formatCode>
                <c:ptCount val="7"/>
                <c:pt idx="0">
                  <c:v>0.00244118047716</c:v>
                </c:pt>
                <c:pt idx="1">
                  <c:v>0.000888413070346</c:v>
                </c:pt>
                <c:pt idx="2">
                  <c:v>0.0017955055872</c:v>
                </c:pt>
                <c:pt idx="3">
                  <c:v>0.00690154761469</c:v>
                </c:pt>
                <c:pt idx="4">
                  <c:v>0.00839512427549</c:v>
                </c:pt>
                <c:pt idx="5">
                  <c:v>0.00431661615588</c:v>
                </c:pt>
                <c:pt idx="6">
                  <c:v>0.00573826456578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(rad²)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Data'!$A$2:$A$8</c:f>
              <c:strCache>
                <c:ptCount val="7"/>
                <c:pt idx="0">
                  <c:v>R1</c:v>
                </c:pt>
                <c:pt idx="1">
                  <c:v>R2</c:v>
                </c:pt>
                <c:pt idx="2">
                  <c:v>R3</c:v>
                </c:pt>
                <c:pt idx="3">
                  <c:v>R4</c:v>
                </c:pt>
                <c:pt idx="4">
                  <c:v>R5</c:v>
                </c:pt>
                <c:pt idx="5">
                  <c:v>R6</c:v>
                </c:pt>
                <c:pt idx="6">
                  <c:v>R7</c:v>
                </c:pt>
              </c:strCache>
            </c:strRef>
          </c:cat>
          <c:val>
            <c:numRef>
              <c:f>'Chart Data'!$B$2:$B$8</c:f>
              <c:numCache>
                <c:formatCode>0.000</c:formatCode>
                <c:ptCount val="7"/>
                <c:pt idx="0">
                  <c:v>0.00311893683082</c:v>
                </c:pt>
                <c:pt idx="1">
                  <c:v>0.00243577358401</c:v>
                </c:pt>
                <c:pt idx="2">
                  <c:v>0.00302172226867</c:v>
                </c:pt>
                <c:pt idx="3">
                  <c:v>0.00670531341267</c:v>
                </c:pt>
                <c:pt idx="4">
                  <c:v>0.0209282637184</c:v>
                </c:pt>
                <c:pt idx="5">
                  <c:v>0.00587555456555</c:v>
                </c:pt>
                <c:pt idx="6">
                  <c:v>0.0224300449293</c:v>
                </c:pt>
              </c:numCache>
            </c:numRef>
          </c:val>
        </c:ser>
        <c:ser>
          <c:idx val="1"/>
          <c:order val="1"/>
          <c:tx>
            <c:v>Real 90% / Sim 10%</c:v>
          </c:tx>
          <c:spPr>
            <a:solidFill xmlns:a="http://schemas.openxmlformats.org/drawingml/2006/main">
              <a:srgbClr val="008879"/>
            </a:solidFill>
          </c:spPr>
          <c:invertIfNegative val="0"/>
          <c:cat>
            <c:strRef>
              <c:f>'Chart Data'!$C$2:$C$8</c:f>
              <c:strCache>
                <c:ptCount val="7"/>
                <c:pt idx="0">
                  <c:v>R1</c:v>
                </c:pt>
                <c:pt idx="1">
                  <c:v>R2</c:v>
                </c:pt>
                <c:pt idx="2">
                  <c:v>R3</c:v>
                </c:pt>
                <c:pt idx="3">
                  <c:v>R4</c:v>
                </c:pt>
                <c:pt idx="4">
                  <c:v>R5</c:v>
                </c:pt>
                <c:pt idx="5">
                  <c:v>R6</c:v>
                </c:pt>
                <c:pt idx="6">
                  <c:v>R7</c:v>
                </c:pt>
              </c:strCache>
            </c:strRef>
          </c:cat>
          <c:val>
            <c:numRef>
              <c:f>'Chart Data'!$D$2:$D$8</c:f>
              <c:numCache>
                <c:formatCode>0.000</c:formatCode>
                <c:ptCount val="7"/>
                <c:pt idx="0">
                  <c:v>0.00316741028458</c:v>
                </c:pt>
                <c:pt idx="1">
                  <c:v>0.00245286228546</c:v>
                </c:pt>
                <c:pt idx="2">
                  <c:v>0.00271970986731</c:v>
                </c:pt>
                <c:pt idx="3">
                  <c:v>0.00634266920314</c:v>
                </c:pt>
                <c:pt idx="4">
                  <c:v>0.0209473983515</c:v>
                </c:pt>
                <c:pt idx="5">
                  <c:v>0.00509258861421</c:v>
                </c:pt>
                <c:pt idx="6">
                  <c:v>0.0222102368277</c:v>
                </c:pt>
              </c:numCache>
            </c:numRef>
          </c:val>
        </c:ser>
        <c:ser>
          <c:idx val="2"/>
          <c:order val="2"/>
          <c:tx>
            <c:v>Real 50% / Sim 50%</c:v>
          </c:tx>
          <c:spPr>
            <a:solidFill xmlns:a="http://schemas.openxmlformats.org/drawingml/2006/main">
              <a:srgbClr val="D8882E"/>
            </a:solidFill>
          </c:spPr>
          <c:invertIfNegative val="0"/>
          <c:cat>
            <c:strRef>
              <c:f>'Chart Data'!$E$2:$E$8</c:f>
              <c:strCache>
                <c:ptCount val="7"/>
                <c:pt idx="0">
                  <c:v>R1</c:v>
                </c:pt>
                <c:pt idx="1">
                  <c:v>R2</c:v>
                </c:pt>
                <c:pt idx="2">
                  <c:v>R3</c:v>
                </c:pt>
                <c:pt idx="3">
                  <c:v>R4</c:v>
                </c:pt>
                <c:pt idx="4">
                  <c:v>R5</c:v>
                </c:pt>
                <c:pt idx="5">
                  <c:v>R6</c:v>
                </c:pt>
                <c:pt idx="6">
                  <c:v>R7</c:v>
                </c:pt>
              </c:strCache>
            </c:strRef>
          </c:cat>
          <c:val>
            <c:numRef>
              <c:f>'Chart Data'!$F$2:$F$8</c:f>
              <c:numCache>
                <c:formatCode>0.000</c:formatCode>
                <c:ptCount val="7"/>
                <c:pt idx="0">
                  <c:v>0.00340324923327</c:v>
                </c:pt>
                <c:pt idx="1">
                  <c:v>0.00274448379834</c:v>
                </c:pt>
                <c:pt idx="2">
                  <c:v>0.00347977788887</c:v>
                </c:pt>
                <c:pt idx="3">
                  <c:v>0.00780376218053</c:v>
                </c:pt>
                <c:pt idx="4">
                  <c:v>0.0237182039333</c:v>
                </c:pt>
                <c:pt idx="5">
                  <c:v>0.00532391055779</c:v>
                </c:pt>
                <c:pt idx="6">
                  <c:v>0.0242681841001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(rad²)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Data'!$A$2:$A$3</c:f>
              <c:strCache>
                <c:ptCount val="2"/>
                <c:pt idx="0">
                  <c:v>Left gripper</c:v>
                </c:pt>
                <c:pt idx="1">
                  <c:v>Right gripper</c:v>
                </c:pt>
              </c:strCache>
            </c:strRef>
          </c:cat>
          <c:val>
            <c:numRef>
              <c:f>'Chart Data'!$B$2:$B$3</c:f>
              <c:numCache>
                <c:formatCode>0</c:formatCode>
                <c:ptCount val="2"/>
                <c:pt idx="0">
                  <c:v>394.940537518</c:v>
                </c:pt>
                <c:pt idx="1">
                  <c:v>417.797025363</c:v>
                </c:pt>
              </c:numCache>
            </c:numRef>
          </c:val>
        </c:ser>
        <c:ser>
          <c:idx val="1"/>
          <c:order val="1"/>
          <c:tx>
            <c:v>Real 90% / Sim 10%</c:v>
          </c:tx>
          <c:spPr>
            <a:solidFill xmlns:a="http://schemas.openxmlformats.org/drawingml/2006/main">
              <a:srgbClr val="008879"/>
            </a:solidFill>
          </c:spPr>
          <c:invertIfNegative val="0"/>
          <c:cat>
            <c:strRef>
              <c:f>'Chart Data'!$C$2:$C$3</c:f>
              <c:strCache>
                <c:ptCount val="2"/>
                <c:pt idx="0">
                  <c:v>Left gripper</c:v>
                </c:pt>
                <c:pt idx="1">
                  <c:v>Right gripper</c:v>
                </c:pt>
              </c:strCache>
            </c:strRef>
          </c:cat>
          <c:val>
            <c:numRef>
              <c:f>'Chart Data'!$D$2:$D$3</c:f>
              <c:numCache>
                <c:formatCode>0</c:formatCode>
                <c:ptCount val="2"/>
                <c:pt idx="0">
                  <c:v>355.516721528</c:v>
                </c:pt>
                <c:pt idx="1">
                  <c:v>393.3710602</c:v>
                </c:pt>
              </c:numCache>
            </c:numRef>
          </c:val>
        </c:ser>
        <c:ser>
          <c:idx val="2"/>
          <c:order val="2"/>
          <c:tx>
            <c:v>Real 50% / Sim 50%</c:v>
          </c:tx>
          <c:spPr>
            <a:solidFill xmlns:a="http://schemas.openxmlformats.org/drawingml/2006/main">
              <a:srgbClr val="D8882E"/>
            </a:solidFill>
          </c:spPr>
          <c:invertIfNegative val="0"/>
          <c:cat>
            <c:strRef>
              <c:f>'Chart Data'!$E$2:$E$3</c:f>
              <c:strCache>
                <c:ptCount val="2"/>
                <c:pt idx="0">
                  <c:v>Left gripper</c:v>
                </c:pt>
                <c:pt idx="1">
                  <c:v>Right gripper</c:v>
                </c:pt>
              </c:strCache>
            </c:strRef>
          </c:cat>
          <c:val>
            <c:numRef>
              <c:f>'Chart Data'!$F$2:$F$3</c:f>
              <c:numCache>
                <c:formatCode>0</c:formatCode>
                <c:ptCount val="2"/>
                <c:pt idx="0">
                  <c:v>340.713836106</c:v>
                </c:pt>
                <c:pt idx="1">
                  <c:v>372.877803536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(mm²)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2667BA"/>
            </a:solidFill>
          </c:spPr>
          <c:invertIfNegative val="0"/>
          <c:cat>
            <c:strRef>
              <c:f>'Chart Data'!$A$2:$A$4</c:f>
              <c:strCache>
                <c:ptCount val="3"/>
                <c:pt idx="0">
                  <c:v>Total rollout</c:v>
                </c:pt>
                <c:pt idx="1">
                  <c:v>Physics stepping</c:v>
                </c:pt>
                <c:pt idx="2">
                  <c:v>Model waiting</c:v>
                </c:pt>
              </c:strCache>
            </c:strRef>
          </c:cat>
          <c:val>
            <c:numRef>
              <c:f>'Chart Data'!$B$2:$B$4</c:f>
              <c:numCache>
                <c:formatCode>0.0</c:formatCode>
                <c:ptCount val="3"/>
                <c:pt idx="0">
                  <c:v>15.870699217</c:v>
                </c:pt>
                <c:pt idx="1">
                  <c:v>9.13604060595</c:v>
                </c:pt>
                <c:pt idx="2">
                  <c:v>3.64896971884</c:v>
                </c:pt>
              </c:numCache>
            </c:numRef>
          </c:val>
        </c:ser>
        <c:ser>
          <c:idx val="1"/>
          <c:order val="1"/>
          <c:tx>
            <c:v>Optimized</c:v>
          </c:tx>
          <c:spPr>
            <a:solidFill xmlns:a="http://schemas.openxmlformats.org/drawingml/2006/main">
              <a:srgbClr val="008879"/>
            </a:solidFill>
          </c:spPr>
          <c:invertIfNegative val="0"/>
          <c:cat>
            <c:strRef>
              <c:f>'Chart Data'!$C$2:$C$4</c:f>
              <c:strCache>
                <c:ptCount val="3"/>
                <c:pt idx="0">
                  <c:v>Total rollout</c:v>
                </c:pt>
                <c:pt idx="1">
                  <c:v>Physics stepping</c:v>
                </c:pt>
                <c:pt idx="2">
                  <c:v>Model waiting</c:v>
                </c:pt>
              </c:strCache>
            </c:strRef>
          </c:cat>
          <c:val>
            <c:numRef>
              <c:f>'Chart Data'!$D$2:$D$4</c:f>
              <c:numCache>
                <c:formatCode>0.0</c:formatCode>
                <c:ptCount val="3"/>
                <c:pt idx="0">
                  <c:v>4.74461396597</c:v>
                </c:pt>
                <c:pt idx="1">
                  <c:v>1.940640221</c:v>
                </c:pt>
                <c:pt idx="2">
                  <c:v>0.522161340457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1F30"/>
        </a:solidFill>
      </p:bgPr>
    </p:bg>
    <p:spTree>
      <p:nvGrpSpPr>
        <p:cNvPr id="1" name=""/>
        <p:cNvGrpSpPr/>
        <p:nvPr/>
      </p:nvGrpSpPr>
      <p:grpSpPr>
        <a:xfrm xmlns:a="http://schemas.openxmlformats.org/drawingml/2006/main"/>
      </p:grpSpPr>
      <p:sp>
        <p:nvSpPr>
          <p:cNvPr id="6" name="R1 Pro: From Lab to Policy">
            <a:extLst xmlns:a="http://schemas.openxmlformats.org/drawingml/2006/main">
              <a:ext uri="{FF2B5EF4-FFF2-40B4-BE49-F238E27FC236}">
                <a16:creationId xmlns:a16="http://schemas.microsoft.com/office/drawing/2014/main" id="{C3E3430A-7B3D-4F01-8956-7B2BFA58FC9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R1 Pro: From Lab to Policy</a:t>
            </a:r>
          </a:p>
        </p:txBody>
      </p:sp>
      <p:sp>
        <p:nvSpPr>
          <p:cNvPr id="2" name="01">
            <a:extLst xmlns:a="http://schemas.openxmlformats.org/drawingml/2006/main">
              <a:ext uri="{FF2B5EF4-FFF2-40B4-BE49-F238E27FC236}">
                <a16:creationId xmlns:a16="http://schemas.microsoft.com/office/drawing/2014/main" id="{AADEF45B-45A3-44F1-A96E-4550A68739D3}"/>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4C3D3"/>
                </a:solidFill>
                <a:latin typeface="Arial"/>
                <a:ea typeface="Arial"/>
                <a:cs typeface="Arial"/>
              </a:defRPr>
            </a:defPPr>
          </a:lstStyle>
          <a:p xmlns:a="http://schemas.openxmlformats.org/drawingml/2006/main">
            <a:pPr>
              <a:defRPr sz="1200" b="0">
                <a:solidFill>
                  <a:srgbClr val="B4C3D3"/>
                </a:solidFill>
                <a:latin typeface="Arial"/>
                <a:ea typeface="Arial"/>
                <a:cs typeface="Arial"/>
              </a:defRPr>
            </a:pPr>
            <a:r>
              <a:rPr sz="1200" b="0">
                <a:solidFill>
                  <a:srgbClr val="B4C3D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53E32AAD-9D78-49F0-802A-04855C999AD5}"/>
              </a:ext>
            </a:extLst>
          </p:cNvPr>
          <p:cNvPicPr>
            <a:picLocks xmlns:a="http://schemas.openxmlformats.org/drawingml/2006/main" noChangeAspect="1"/>
          </p:cNvPicPr>
          <p:nvPr/>
        </p:nvPicPr>
        <p:blipFill>
          <a:blip xmlns:r="http://schemas.openxmlformats.org/officeDocument/2006/relationships" xmlns:a="http://schemas.openxmlformats.org/drawingml/2006/main" r:embed="Rfc7a5ec8c8994c3e"/>
          <a:srcRect xmlns:a="http://schemas.openxmlformats.org/drawingml/2006/main" l="25260" t="0" r="25260" b="0"/>
          <a:stretch xmlns:a="http://schemas.openxmlformats.org/drawingml/2006/main">
            <a:fillRect l="0" t="0" r="0" b="0"/>
          </a:stretch>
        </p:blipFill>
        <p:spPr>
          <a:xfrm xmlns:a="http://schemas.openxmlformats.org/drawingml/2006/main">
            <a:off x="7667625" y="0"/>
            <a:ext cx="4524375" cy="6858000"/>
          </a:xfrm>
          <a:prstGeom xmlns:a="http://schemas.openxmlformats.org/drawingml/2006/main" prst="rect">
            <a:avLst/>
          </a:prstGeom>
        </p:spPr>
      </p:pic>
      <p:sp>
        <p:nvSpPr>
          <p:cNvPr id="4" name="π0.5 adaptation&#10;Real2Sim and Sim2Real&#10;Mixe">
            <a:extLst xmlns:a="http://schemas.openxmlformats.org/drawingml/2006/main">
              <a:ext uri="{FF2B5EF4-FFF2-40B4-BE49-F238E27FC236}">
                <a16:creationId xmlns:a16="http://schemas.microsoft.com/office/drawing/2014/main" id="{8B4CE003-1171-4B3B-881D-EC329B01B27B}"/>
              </a:ext>
            </a:extLst>
          </p:cNvPr>
          <p:cNvSpPr>
            <a:spLocks xmlns:a="http://schemas.openxmlformats.org/drawingml/2006/main" noGrp="1"/>
          </p:cNvSpPr>
          <p:nvPr/>
        </p:nvSpPr>
        <p:spPr>
          <a:xfrm xmlns:a="http://schemas.openxmlformats.org/drawingml/2006/main">
            <a:off x="533400" y="2095500"/>
            <a:ext cx="681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E7EEF5"/>
                </a:solidFill>
                <a:latin typeface="Arial"/>
                <a:ea typeface="Arial"/>
                <a:cs typeface="Arial"/>
              </a:defRPr>
            </a:defPPr>
          </a:lstStyle>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π0.5 adaptation</a:t>
            </a:r>
          </a:p>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Real2Sim and Sim2Real</a:t>
            </a:r>
          </a:p>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Mixed-data training</a:t>
            </a:r>
          </a:p>
        </p:txBody>
      </p:sp>
      <p:sp>
        <p:nvSpPr>
          <p:cNvPr id="5" name="Technical report · Updated 19 October 2026">
            <a:extLst xmlns:a="http://schemas.openxmlformats.org/drawingml/2006/main">
              <a:ext uri="{FF2B5EF4-FFF2-40B4-BE49-F238E27FC236}">
                <a16:creationId xmlns:a16="http://schemas.microsoft.com/office/drawing/2014/main" id="{54F100D1-ABA4-4ED8-B3D2-CDBF9E03EB36}"/>
              </a:ext>
            </a:extLst>
          </p:cNvPr>
          <p:cNvSpPr>
            <a:spLocks xmlns:a="http://schemas.openxmlformats.org/drawingml/2006/main" noGrp="1"/>
          </p:cNvSpPr>
          <p:nvPr/>
        </p:nvSpPr>
        <p:spPr>
          <a:xfrm xmlns:a="http://schemas.openxmlformats.org/drawingml/2006/main">
            <a:off x="533400" y="53816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FC1D6"/>
                </a:solidFill>
                <a:latin typeface="Arial"/>
                <a:ea typeface="Arial"/>
                <a:cs typeface="Arial"/>
              </a:defRPr>
            </a:defPPr>
          </a:lstStyle>
          <a:p xmlns:a="http://schemas.openxmlformats.org/drawingml/2006/main">
            <a:pPr>
              <a:defRPr sz="1875" b="0">
                <a:solidFill>
                  <a:srgbClr val="AFC1D6"/>
                </a:solidFill>
                <a:latin typeface="Arial"/>
                <a:ea typeface="Arial"/>
                <a:cs typeface="Arial"/>
              </a:defRPr>
            </a:pPr>
            <a:r>
              <a:rPr sz="1875" b="0">
                <a:solidFill>
                  <a:srgbClr val="AFC1D6"/>
                </a:solidFill>
                <a:latin typeface="Arial"/>
                <a:ea typeface="Arial"/>
                <a:cs typeface="Arial"/>
              </a:rPr>
              <a:t>Technical report · Updated 19 October 2026</a:t>
            </a:r>
          </a:p>
          <a:p xmlns:a="http://schemas.openxmlformats.org/drawingml/2006/main">
            <a:pPr>
              <a:defRPr sz="1875" b="0">
                <a:solidFill>
                  <a:srgbClr val="AFC1D6"/>
                </a:solidFill>
                <a:latin typeface="Arial"/>
                <a:ea typeface="Arial"/>
                <a:cs typeface="Arial"/>
              </a:defRPr>
            </a:pPr>
            <a:r>
              <a:rPr sz="1875" b="0">
                <a:solidFill>
                  <a:srgbClr val="AFC1D6"/>
                </a:solidFill>
                <a:latin typeface="Arial"/>
                <a:ea typeface="Arial"/>
                <a:cs typeface="Arial"/>
              </a:rPr>
              <a:t>Evidence snapshot: 18:29 SGT</a:t>
            </a:r>
          </a:p>
        </p:txBody>
      </p:sp>
    </p:spTree>
    <p:extLst>
      <p:ext uri="{BB962C8B-B14F-4D97-AF65-F5344CB8AC3E}">
        <p14:creationId xmlns:p14="http://schemas.microsoft.com/office/powerpoint/2010/main" val="1449388882"/>
      </p:ext>
    </p:extLst>
  </p:cSld>
</p:sld>
</file>

<file path=ppt/slides/slide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π0.5 connects perception to robot actions">
            <a:extLst xmlns:a="http://schemas.openxmlformats.org/drawingml/2006/main">
              <a:ext uri="{FF2B5EF4-FFF2-40B4-BE49-F238E27FC236}">
                <a16:creationId xmlns:a16="http://schemas.microsoft.com/office/drawing/2014/main" id="{08E7ECB0-B1B7-4E7E-B3B9-D90F9568BF5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π0.5 connects perception to robot actions</a:t>
            </a:r>
          </a:p>
        </p:txBody>
      </p:sp>
      <p:sp>
        <p:nvSpPr>
          <p:cNvPr id="2" name="02">
            <a:extLst xmlns:a="http://schemas.openxmlformats.org/drawingml/2006/main">
              <a:ext uri="{FF2B5EF4-FFF2-40B4-BE49-F238E27FC236}">
                <a16:creationId xmlns:a16="http://schemas.microsoft.com/office/drawing/2014/main" id="{3466C921-8543-4526-A9C1-ABEBCF58F134}"/>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02</a:t>
            </a:r>
          </a:p>
        </p:txBody>
      </p:sp>
      <p:sp>
        <p:nvSpPr>
          <p:cNvPr id="3" name="Current observations and a task instructio">
            <a:extLst xmlns:a="http://schemas.openxmlformats.org/drawingml/2006/main">
              <a:ext uri="{FF2B5EF4-FFF2-40B4-BE49-F238E27FC236}">
                <a16:creationId xmlns:a16="http://schemas.microsoft.com/office/drawing/2014/main" id="{05F83235-FC4C-4A65-BB7C-98A87E9E04B1}"/>
              </a:ext>
            </a:extLst>
          </p:cNvPr>
          <p:cNvSpPr>
            <a:spLocks xmlns:a="http://schemas.openxmlformats.org/drawingml/2006/main" noGrp="1"/>
          </p:cNvSpPr>
          <p:nvPr/>
        </p:nvSpPr>
        <p:spPr>
          <a:xfrm xmlns:a="http://schemas.openxmlformats.org/drawingml/2006/main">
            <a:off x="533400" y="13335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34"/>
                </a:solidFill>
                <a:latin typeface="Arial"/>
                <a:ea typeface="Arial"/>
                <a:cs typeface="Arial"/>
              </a:defRPr>
            </a:defPPr>
          </a:lstStyle>
          <a:p xmlns:a="http://schemas.openxmlformats.org/drawingml/2006/main">
            <a:pPr>
              <a:defRPr sz="2325" b="0">
                <a:solidFill>
                  <a:srgbClr val="142334"/>
                </a:solidFill>
                <a:latin typeface="Arial"/>
                <a:ea typeface="Arial"/>
                <a:cs typeface="Arial"/>
              </a:defRPr>
            </a:pPr>
            <a:r>
              <a:rPr sz="2325" b="0">
                <a:solidFill>
                  <a:srgbClr val="142334"/>
                </a:solidFill>
                <a:latin typeface="Arial"/>
                <a:ea typeface="Arial"/>
                <a:cs typeface="Arial"/>
              </a:rPr>
              <a:t>Current observations and a task instruction condition an action chunk.</a:t>
            </a:r>
          </a:p>
        </p:txBody>
      </p:sp>
      <p:sp>
        <p:nvSpPr>
          <p:cNvPr id="4" name="">
            <a:extLst xmlns:a="http://schemas.openxmlformats.org/drawingml/2006/main">
              <a:ext uri="{FF2B5EF4-FFF2-40B4-BE49-F238E27FC236}">
                <a16:creationId xmlns:a16="http://schemas.microsoft.com/office/drawing/2014/main" id="{94E769F6-4DCC-46FE-BA67-D4862B99A489}"/>
              </a:ext>
            </a:extLst>
          </p:cNvPr>
          <p:cNvSpPr>
            <a:spLocks xmlns:a="http://schemas.openxmlformats.org/drawingml/2006/main" noGrp="1"/>
          </p:cNvSpPr>
          <p:nvPr/>
        </p:nvSpPr>
        <p:spPr>
          <a:xfrm xmlns:a="http://schemas.openxmlformats.org/drawingml/2006/main">
            <a:off x="533400" y="2428875"/>
            <a:ext cx="3000375"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5" name="Vision">
            <a:extLst xmlns:a="http://schemas.openxmlformats.org/drawingml/2006/main">
              <a:ext uri="{FF2B5EF4-FFF2-40B4-BE49-F238E27FC236}">
                <a16:creationId xmlns:a16="http://schemas.microsoft.com/office/drawing/2014/main" id="{E8588D0E-0C39-492C-B74C-A94FF5B127C8}"/>
              </a:ext>
            </a:extLst>
          </p:cNvPr>
          <p:cNvSpPr>
            <a:spLocks xmlns:a="http://schemas.openxmlformats.org/drawingml/2006/main" noGrp="1"/>
          </p:cNvSpPr>
          <p:nvPr/>
        </p:nvSpPr>
        <p:spPr>
          <a:xfrm xmlns:a="http://schemas.openxmlformats.org/drawingml/2006/main">
            <a:off x="723900" y="2600325"/>
            <a:ext cx="2619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Vision</a:t>
            </a:r>
          </a:p>
        </p:txBody>
      </p:sp>
      <p:sp>
        <p:nvSpPr>
          <p:cNvPr id="6" name="Multiple RGB views&#10;Scene and object contex">
            <a:extLst xmlns:a="http://schemas.openxmlformats.org/drawingml/2006/main">
              <a:ext uri="{FF2B5EF4-FFF2-40B4-BE49-F238E27FC236}">
                <a16:creationId xmlns:a16="http://schemas.microsoft.com/office/drawing/2014/main" id="{E4F4AD9F-361E-4859-8320-7CDC3C50B46E}"/>
              </a:ext>
            </a:extLst>
          </p:cNvPr>
          <p:cNvSpPr>
            <a:spLocks xmlns:a="http://schemas.openxmlformats.org/drawingml/2006/main" noGrp="1"/>
          </p:cNvSpPr>
          <p:nvPr/>
        </p:nvSpPr>
        <p:spPr>
          <a:xfrm xmlns:a="http://schemas.openxmlformats.org/drawingml/2006/main">
            <a:off x="723900" y="3152775"/>
            <a:ext cx="2619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Multiple RGB views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Scene and object context</a:t>
            </a:r>
          </a:p>
        </p:txBody>
      </p:sp>
      <p:sp>
        <p:nvSpPr>
          <p:cNvPr id="7" name="">
            <a:extLst xmlns:a="http://schemas.openxmlformats.org/drawingml/2006/main">
              <a:ext uri="{FF2B5EF4-FFF2-40B4-BE49-F238E27FC236}">
                <a16:creationId xmlns:a16="http://schemas.microsoft.com/office/drawing/2014/main" id="{5694BE56-156E-4CC0-AB2A-5F25BC957F02}"/>
              </a:ext>
            </a:extLst>
          </p:cNvPr>
          <p:cNvSpPr>
            <a:spLocks xmlns:a="http://schemas.openxmlformats.org/drawingml/2006/main" noGrp="1"/>
          </p:cNvSpPr>
          <p:nvPr/>
        </p:nvSpPr>
        <p:spPr>
          <a:xfrm xmlns:a="http://schemas.openxmlformats.org/drawingml/2006/main">
            <a:off x="3648075" y="333375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18FCEFC-FD73-42BB-9055-0AB41BCCAF07}"/>
              </a:ext>
            </a:extLst>
          </p:cNvPr>
          <p:cNvSpPr>
            <a:spLocks xmlns:a="http://schemas.openxmlformats.org/drawingml/2006/main" noGrp="1"/>
          </p:cNvSpPr>
          <p:nvPr/>
        </p:nvSpPr>
        <p:spPr>
          <a:xfrm xmlns:a="http://schemas.openxmlformats.org/drawingml/2006/main">
            <a:off x="4114800" y="2428875"/>
            <a:ext cx="3333750"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9" name="Language + state">
            <a:extLst xmlns:a="http://schemas.openxmlformats.org/drawingml/2006/main">
              <a:ext uri="{FF2B5EF4-FFF2-40B4-BE49-F238E27FC236}">
                <a16:creationId xmlns:a16="http://schemas.microsoft.com/office/drawing/2014/main" id="{A8C313FC-2A21-4B14-8D1F-2E9640591E00}"/>
              </a:ext>
            </a:extLst>
          </p:cNvPr>
          <p:cNvSpPr>
            <a:spLocks xmlns:a="http://schemas.openxmlformats.org/drawingml/2006/main" noGrp="1"/>
          </p:cNvSpPr>
          <p:nvPr/>
        </p:nvSpPr>
        <p:spPr>
          <a:xfrm xmlns:a="http://schemas.openxmlformats.org/drawingml/2006/main">
            <a:off x="4305300" y="26003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Language + state</a:t>
            </a:r>
          </a:p>
        </p:txBody>
      </p:sp>
      <p:sp>
        <p:nvSpPr>
          <p:cNvPr id="10" name="Task instruction&#10;Robot proprioception">
            <a:extLst xmlns:a="http://schemas.openxmlformats.org/drawingml/2006/main">
              <a:ext uri="{FF2B5EF4-FFF2-40B4-BE49-F238E27FC236}">
                <a16:creationId xmlns:a16="http://schemas.microsoft.com/office/drawing/2014/main" id="{C1A9D285-2D00-42E5-A265-8158CB96BDE2}"/>
              </a:ext>
            </a:extLst>
          </p:cNvPr>
          <p:cNvSpPr>
            <a:spLocks xmlns:a="http://schemas.openxmlformats.org/drawingml/2006/main" noGrp="1"/>
          </p:cNvSpPr>
          <p:nvPr/>
        </p:nvSpPr>
        <p:spPr>
          <a:xfrm xmlns:a="http://schemas.openxmlformats.org/drawingml/2006/main">
            <a:off x="4305300" y="31527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Task instruction</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Robot proprioception</a:t>
            </a:r>
          </a:p>
        </p:txBody>
      </p:sp>
      <p:sp>
        <p:nvSpPr>
          <p:cNvPr id="11" name="">
            <a:extLst xmlns:a="http://schemas.openxmlformats.org/drawingml/2006/main">
              <a:ext uri="{FF2B5EF4-FFF2-40B4-BE49-F238E27FC236}">
                <a16:creationId xmlns:a16="http://schemas.microsoft.com/office/drawing/2014/main" id="{4D7CD2DB-8CFD-4BC6-91D6-509AADA8ABF8}"/>
              </a:ext>
            </a:extLst>
          </p:cNvPr>
          <p:cNvSpPr>
            <a:spLocks xmlns:a="http://schemas.openxmlformats.org/drawingml/2006/main" noGrp="1"/>
          </p:cNvSpPr>
          <p:nvPr/>
        </p:nvSpPr>
        <p:spPr>
          <a:xfrm xmlns:a="http://schemas.openxmlformats.org/drawingml/2006/main">
            <a:off x="7562850" y="333375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1DEF670-8F40-465B-A454-403B3596F7D3}"/>
              </a:ext>
            </a:extLst>
          </p:cNvPr>
          <p:cNvSpPr>
            <a:spLocks xmlns:a="http://schemas.openxmlformats.org/drawingml/2006/main" noGrp="1"/>
          </p:cNvSpPr>
          <p:nvPr/>
        </p:nvSpPr>
        <p:spPr>
          <a:xfrm xmlns:a="http://schemas.openxmlformats.org/drawingml/2006/main">
            <a:off x="8029575" y="2428875"/>
            <a:ext cx="3629025"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3" name="Action chunk">
            <a:extLst xmlns:a="http://schemas.openxmlformats.org/drawingml/2006/main">
              <a:ext uri="{FF2B5EF4-FFF2-40B4-BE49-F238E27FC236}">
                <a16:creationId xmlns:a16="http://schemas.microsoft.com/office/drawing/2014/main" id="{7C952FB8-1B06-45C9-A652-39E65BC8FFA7}"/>
              </a:ext>
            </a:extLst>
          </p:cNvPr>
          <p:cNvSpPr>
            <a:spLocks xmlns:a="http://schemas.openxmlformats.org/drawingml/2006/main" noGrp="1"/>
          </p:cNvSpPr>
          <p:nvPr/>
        </p:nvSpPr>
        <p:spPr>
          <a:xfrm xmlns:a="http://schemas.openxmlformats.org/drawingml/2006/main">
            <a:off x="8220075" y="2600325"/>
            <a:ext cx="3248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Action chunk</a:t>
            </a:r>
          </a:p>
        </p:txBody>
      </p:sp>
      <p:sp>
        <p:nvSpPr>
          <p:cNvPr id="14" name="Continuous joint targets&#10;Repeated predicti">
            <a:extLst xmlns:a="http://schemas.openxmlformats.org/drawingml/2006/main">
              <a:ext uri="{FF2B5EF4-FFF2-40B4-BE49-F238E27FC236}">
                <a16:creationId xmlns:a16="http://schemas.microsoft.com/office/drawing/2014/main" id="{773273D0-9272-47F6-BCB8-A052F3B02698}"/>
              </a:ext>
            </a:extLst>
          </p:cNvPr>
          <p:cNvSpPr>
            <a:spLocks xmlns:a="http://schemas.openxmlformats.org/drawingml/2006/main" noGrp="1"/>
          </p:cNvSpPr>
          <p:nvPr/>
        </p:nvSpPr>
        <p:spPr>
          <a:xfrm xmlns:a="http://schemas.openxmlformats.org/drawingml/2006/main">
            <a:off x="8220075" y="3152775"/>
            <a:ext cx="32480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Continuous joint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Repeated prediction</a:t>
            </a:r>
          </a:p>
        </p:txBody>
      </p:sp>
      <p:sp>
        <p:nvSpPr>
          <p:cNvPr id="15" name="Heterogeneous co-training connects robotic">
            <a:extLst xmlns:a="http://schemas.openxmlformats.org/drawingml/2006/main">
              <a:ext uri="{FF2B5EF4-FFF2-40B4-BE49-F238E27FC236}">
                <a16:creationId xmlns:a16="http://schemas.microsoft.com/office/drawing/2014/main" id="{B43AE13F-2A79-42A7-BE97-473CE60940FC}"/>
              </a:ext>
            </a:extLst>
          </p:cNvPr>
          <p:cNvSpPr>
            <a:spLocks xmlns:a="http://schemas.openxmlformats.org/drawingml/2006/main" noGrp="1"/>
          </p:cNvSpPr>
          <p:nvPr/>
        </p:nvSpPr>
        <p:spPr>
          <a:xfrm xmlns:a="http://schemas.openxmlformats.org/drawingml/2006/main">
            <a:off x="533400" y="50863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667BA"/>
                </a:solidFill>
                <a:latin typeface="Arial"/>
                <a:ea typeface="Arial"/>
                <a:cs typeface="Arial"/>
              </a:defRPr>
            </a:defPPr>
          </a:lstStyle>
          <a:p xmlns:a="http://schemas.openxmlformats.org/drawingml/2006/main">
            <a:pPr>
              <a:defRPr sz="2100" b="1">
                <a:solidFill>
                  <a:srgbClr val="2667BA"/>
                </a:solidFill>
                <a:latin typeface="Arial"/>
                <a:ea typeface="Arial"/>
                <a:cs typeface="Arial"/>
              </a:defRPr>
            </a:pPr>
            <a:r>
              <a:rPr sz="2100" b="1">
                <a:solidFill>
                  <a:srgbClr val="2667BA"/>
                </a:solidFill>
                <a:latin typeface="Arial"/>
                <a:ea typeface="Arial"/>
                <a:cs typeface="Arial"/>
              </a:rPr>
              <a:t>Heterogeneous co-training connects robotic and semantic supervision.</a:t>
            </a:r>
          </a:p>
        </p:txBody>
      </p:sp>
      <p:sp>
        <p:nvSpPr>
          <p:cNvPr id="16" name="This project adapts the low-level action p">
            <a:extLst xmlns:a="http://schemas.openxmlformats.org/drawingml/2006/main">
              <a:ext uri="{FF2B5EF4-FFF2-40B4-BE49-F238E27FC236}">
                <a16:creationId xmlns:a16="http://schemas.microsoft.com/office/drawing/2014/main" id="{59D12919-8086-4B4C-83C9-47620051E7A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This project adapts the low-level action policy to the R1 Pro tray task.</a:t>
            </a:r>
          </a:p>
        </p:txBody>
      </p:sp>
    </p:spTree>
    <p:extLst>
      <p:ext uri="{BB962C8B-B14F-4D97-AF65-F5344CB8AC3E}">
        <p14:creationId xmlns:p14="http://schemas.microsoft.com/office/powerpoint/2010/main" val="1944135855"/>
      </p:ext>
    </p:extLst>
  </p:cSld>
</p:sld>
</file>

<file path=ppt/slides/slide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π0.5 generates actions with flow matching">
            <a:extLst xmlns:a="http://schemas.openxmlformats.org/drawingml/2006/main">
              <a:ext uri="{FF2B5EF4-FFF2-40B4-BE49-F238E27FC236}">
                <a16:creationId xmlns:a16="http://schemas.microsoft.com/office/drawing/2014/main" id="{71A073D6-64F6-408B-B301-ACF14B87D3DC}"/>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π0.5 generates actions with flow matching</a:t>
            </a:r>
          </a:p>
        </p:txBody>
      </p:sp>
      <p:sp>
        <p:nvSpPr>
          <p:cNvPr id="2" name="03">
            <a:extLst xmlns:a="http://schemas.openxmlformats.org/drawingml/2006/main">
              <a:ext uri="{FF2B5EF4-FFF2-40B4-BE49-F238E27FC236}">
                <a16:creationId xmlns:a16="http://schemas.microsoft.com/office/drawing/2014/main" id="{C373D613-DD34-4C61-B12F-5FE10EE14FF9}"/>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E86517A-DD9F-4803-8C95-E55A2192273E}"/>
              </a:ext>
            </a:extLst>
          </p:cNvPr>
          <p:cNvSpPr>
            <a:spLocks xmlns:a="http://schemas.openxmlformats.org/drawingml/2006/main" noGrp="1"/>
          </p:cNvSpPr>
          <p:nvPr/>
        </p:nvSpPr>
        <p:spPr>
          <a:xfrm xmlns:a="http://schemas.openxmlformats.org/drawingml/2006/main">
            <a:off x="533400" y="1809750"/>
            <a:ext cx="314325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Context encoder">
            <a:extLst xmlns:a="http://schemas.openxmlformats.org/drawingml/2006/main">
              <a:ext uri="{FF2B5EF4-FFF2-40B4-BE49-F238E27FC236}">
                <a16:creationId xmlns:a16="http://schemas.microsoft.com/office/drawing/2014/main" id="{1456AE9C-A8F6-41AC-BEE1-79EB12B4BDF6}"/>
              </a:ext>
            </a:extLst>
          </p:cNvPr>
          <p:cNvSpPr>
            <a:spLocks xmlns:a="http://schemas.openxmlformats.org/drawingml/2006/main" noGrp="1"/>
          </p:cNvSpPr>
          <p:nvPr/>
        </p:nvSpPr>
        <p:spPr>
          <a:xfrm xmlns:a="http://schemas.openxmlformats.org/drawingml/2006/main">
            <a:off x="723900" y="19812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Context encoder</a:t>
            </a:r>
          </a:p>
        </p:txBody>
      </p:sp>
      <p:sp>
        <p:nvSpPr>
          <p:cNvPr id="5" name="Images, instruction&#10;and robot state">
            <a:extLst xmlns:a="http://schemas.openxmlformats.org/drawingml/2006/main">
              <a:ext uri="{FF2B5EF4-FFF2-40B4-BE49-F238E27FC236}">
                <a16:creationId xmlns:a16="http://schemas.microsoft.com/office/drawing/2014/main" id="{5F196831-E295-4CD7-9098-7BF75FD89A90}"/>
              </a:ext>
            </a:extLst>
          </p:cNvPr>
          <p:cNvSpPr>
            <a:spLocks xmlns:a="http://schemas.openxmlformats.org/drawingml/2006/main" noGrp="1"/>
          </p:cNvSpPr>
          <p:nvPr/>
        </p:nvSpPr>
        <p:spPr>
          <a:xfrm xmlns:a="http://schemas.openxmlformats.org/drawingml/2006/main">
            <a:off x="723900" y="2533650"/>
            <a:ext cx="276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Images, instruction</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robot state</a:t>
            </a:r>
          </a:p>
        </p:txBody>
      </p:sp>
      <p:sp>
        <p:nvSpPr>
          <p:cNvPr id="6" name="">
            <a:extLst xmlns:a="http://schemas.openxmlformats.org/drawingml/2006/main">
              <a:ext uri="{FF2B5EF4-FFF2-40B4-BE49-F238E27FC236}">
                <a16:creationId xmlns:a16="http://schemas.microsoft.com/office/drawing/2014/main" id="{C6029E30-D519-4991-A040-86D496F095A4}"/>
              </a:ext>
            </a:extLst>
          </p:cNvPr>
          <p:cNvSpPr>
            <a:spLocks xmlns:a="http://schemas.openxmlformats.org/drawingml/2006/main" noGrp="1"/>
          </p:cNvSpPr>
          <p:nvPr/>
        </p:nvSpPr>
        <p:spPr>
          <a:xfrm xmlns:a="http://schemas.openxmlformats.org/drawingml/2006/main">
            <a:off x="3790950" y="266700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AB08E45-7C69-420C-B338-5473BAE9B32A}"/>
              </a:ext>
            </a:extLst>
          </p:cNvPr>
          <p:cNvSpPr>
            <a:spLocks xmlns:a="http://schemas.openxmlformats.org/drawingml/2006/main" noGrp="1"/>
          </p:cNvSpPr>
          <p:nvPr/>
        </p:nvSpPr>
        <p:spPr>
          <a:xfrm xmlns:a="http://schemas.openxmlformats.org/drawingml/2006/main">
            <a:off x="4257675" y="1809750"/>
            <a:ext cx="342900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Action expert">
            <a:extLst xmlns:a="http://schemas.openxmlformats.org/drawingml/2006/main">
              <a:ext uri="{FF2B5EF4-FFF2-40B4-BE49-F238E27FC236}">
                <a16:creationId xmlns:a16="http://schemas.microsoft.com/office/drawing/2014/main" id="{92179C6F-81E9-46F5-82D4-D6DA33B6EA81}"/>
              </a:ext>
            </a:extLst>
          </p:cNvPr>
          <p:cNvSpPr>
            <a:spLocks xmlns:a="http://schemas.openxmlformats.org/drawingml/2006/main" noGrp="1"/>
          </p:cNvSpPr>
          <p:nvPr/>
        </p:nvSpPr>
        <p:spPr>
          <a:xfrm xmlns:a="http://schemas.openxmlformats.org/drawingml/2006/main">
            <a:off x="4448175" y="19812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Action expert</a:t>
            </a:r>
          </a:p>
        </p:txBody>
      </p:sp>
      <p:sp>
        <p:nvSpPr>
          <p:cNvPr id="9" name="Flow matching converts&#10;noise into an actio">
            <a:extLst xmlns:a="http://schemas.openxmlformats.org/drawingml/2006/main">
              <a:ext uri="{FF2B5EF4-FFF2-40B4-BE49-F238E27FC236}">
                <a16:creationId xmlns:a16="http://schemas.microsoft.com/office/drawing/2014/main" id="{1EF9BD25-3C02-40E9-B037-866D6D52DF5E}"/>
              </a:ext>
            </a:extLst>
          </p:cNvPr>
          <p:cNvSpPr>
            <a:spLocks xmlns:a="http://schemas.openxmlformats.org/drawingml/2006/main" noGrp="1"/>
          </p:cNvSpPr>
          <p:nvPr/>
        </p:nvSpPr>
        <p:spPr>
          <a:xfrm xmlns:a="http://schemas.openxmlformats.org/drawingml/2006/main">
            <a:off x="4448175" y="2533650"/>
            <a:ext cx="304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Flow matching converts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noise into an action chunk</a:t>
            </a:r>
          </a:p>
        </p:txBody>
      </p:sp>
      <p:sp>
        <p:nvSpPr>
          <p:cNvPr id="10" name="">
            <a:extLst xmlns:a="http://schemas.openxmlformats.org/drawingml/2006/main">
              <a:ext uri="{FF2B5EF4-FFF2-40B4-BE49-F238E27FC236}">
                <a16:creationId xmlns:a16="http://schemas.microsoft.com/office/drawing/2014/main" id="{C4E0D31E-CF2B-4914-9F88-53572D24DDE8}"/>
              </a:ext>
            </a:extLst>
          </p:cNvPr>
          <p:cNvSpPr>
            <a:spLocks xmlns:a="http://schemas.openxmlformats.org/drawingml/2006/main" noGrp="1"/>
          </p:cNvSpPr>
          <p:nvPr/>
        </p:nvSpPr>
        <p:spPr>
          <a:xfrm xmlns:a="http://schemas.openxmlformats.org/drawingml/2006/main">
            <a:off x="7800975" y="266700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7FC3D07-1E25-47E0-89F8-D54BBBB06382}"/>
              </a:ext>
            </a:extLst>
          </p:cNvPr>
          <p:cNvSpPr>
            <a:spLocks xmlns:a="http://schemas.openxmlformats.org/drawingml/2006/main" noGrp="1"/>
          </p:cNvSpPr>
          <p:nvPr/>
        </p:nvSpPr>
        <p:spPr>
          <a:xfrm xmlns:a="http://schemas.openxmlformats.org/drawingml/2006/main">
            <a:off x="8267700" y="1809750"/>
            <a:ext cx="339090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Robot interface">
            <a:extLst xmlns:a="http://schemas.openxmlformats.org/drawingml/2006/main">
              <a:ext uri="{FF2B5EF4-FFF2-40B4-BE49-F238E27FC236}">
                <a16:creationId xmlns:a16="http://schemas.microsoft.com/office/drawing/2014/main" id="{04EB4F48-BF94-4EF1-9DB6-DCE71A41EA07}"/>
              </a:ext>
            </a:extLst>
          </p:cNvPr>
          <p:cNvSpPr>
            <a:spLocks xmlns:a="http://schemas.openxmlformats.org/drawingml/2006/main" noGrp="1"/>
          </p:cNvSpPr>
          <p:nvPr/>
        </p:nvSpPr>
        <p:spPr>
          <a:xfrm xmlns:a="http://schemas.openxmlformats.org/drawingml/2006/main">
            <a:off x="8458200" y="198120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Robot interface</a:t>
            </a:r>
          </a:p>
        </p:txBody>
      </p:sp>
      <p:sp>
        <p:nvSpPr>
          <p:cNvPr id="13" name="Decode targets&#10;Act, then observe again">
            <a:extLst xmlns:a="http://schemas.openxmlformats.org/drawingml/2006/main">
              <a:ext uri="{FF2B5EF4-FFF2-40B4-BE49-F238E27FC236}">
                <a16:creationId xmlns:a16="http://schemas.microsoft.com/office/drawing/2014/main" id="{30DFE88F-8B69-4117-9630-09F1C09FD0F2}"/>
              </a:ext>
            </a:extLst>
          </p:cNvPr>
          <p:cNvSpPr>
            <a:spLocks xmlns:a="http://schemas.openxmlformats.org/drawingml/2006/main" noGrp="1"/>
          </p:cNvSpPr>
          <p:nvPr/>
        </p:nvSpPr>
        <p:spPr>
          <a:xfrm xmlns:a="http://schemas.openxmlformats.org/drawingml/2006/main">
            <a:off x="8458200" y="2533650"/>
            <a:ext cx="30099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Decode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Act, then observe again</a:t>
            </a:r>
          </a:p>
        </p:txBody>
      </p:sp>
      <p:sp>
        <p:nvSpPr>
          <p:cNvPr id="14" name="Implementation scope">
            <a:extLst xmlns:a="http://schemas.openxmlformats.org/drawingml/2006/main">
              <a:ext uri="{FF2B5EF4-FFF2-40B4-BE49-F238E27FC236}">
                <a16:creationId xmlns:a16="http://schemas.microsoft.com/office/drawing/2014/main" id="{8218CD02-CCFA-46DE-80DC-08298E07C1B9}"/>
              </a:ext>
            </a:extLst>
          </p:cNvPr>
          <p:cNvSpPr>
            <a:spLocks xmlns:a="http://schemas.openxmlformats.org/drawingml/2006/main" noGrp="1"/>
          </p:cNvSpPr>
          <p:nvPr/>
        </p:nvSpPr>
        <p:spPr>
          <a:xfrm xmlns:a="http://schemas.openxmlformats.org/drawingml/2006/main">
            <a:off x="533400" y="4362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Implementation scope</a:t>
            </a:r>
          </a:p>
        </p:txBody>
      </p:sp>
      <p:sp>
        <p:nvSpPr>
          <p:cNvPr id="15" name="OpenPI provides the low-level policy. The ">
            <a:extLst xmlns:a="http://schemas.openxmlformats.org/drawingml/2006/main">
              <a:ext uri="{FF2B5EF4-FFF2-40B4-BE49-F238E27FC236}">
                <a16:creationId xmlns:a16="http://schemas.microsoft.com/office/drawing/2014/main" id="{1D86572E-C72A-4A2A-87EF-28A68A93F69A}"/>
              </a:ext>
            </a:extLst>
          </p:cNvPr>
          <p:cNvSpPr>
            <a:spLocks xmlns:a="http://schemas.openxmlformats.org/drawingml/2006/main" noGrp="1"/>
          </p:cNvSpPr>
          <p:nvPr/>
        </p:nvSpPr>
        <p:spPr>
          <a:xfrm xmlns:a="http://schemas.openxmlformats.org/drawingml/2006/main">
            <a:off x="533400" y="48196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OpenPI provides the low-level policy. The task controller supplies the instruction and maps model outputs to the robot.</a:t>
            </a:r>
          </a:p>
        </p:txBody>
      </p:sp>
      <p:sp>
        <p:nvSpPr>
          <p:cNvPr id="16" name="Project configuration: 20-step horizon at ">
            <a:extLst xmlns:a="http://schemas.openxmlformats.org/drawingml/2006/main">
              <a:ext uri="{FF2B5EF4-FFF2-40B4-BE49-F238E27FC236}">
                <a16:creationId xmlns:a16="http://schemas.microsoft.com/office/drawing/2014/main" id="{C180B434-311C-42F0-B1AF-CCA3805B968E}"/>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Project configuration: 20-step horizon at 20 Hz. This differs from the original default horizon.</a:t>
            </a:r>
          </a:p>
        </p:txBody>
      </p:sp>
    </p:spTree>
    <p:extLst>
      <p:ext uri="{BB962C8B-B14F-4D97-AF65-F5344CB8AC3E}">
        <p14:creationId xmlns:p14="http://schemas.microsoft.com/office/powerpoint/2010/main" val="1334797267"/>
      </p:ext>
    </p:extLst>
  </p:cSld>
</p:sld>
</file>

<file path=ppt/slides/slide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Observation and action interfaces">
            <a:extLst xmlns:a="http://schemas.openxmlformats.org/drawingml/2006/main">
              <a:ext uri="{FF2B5EF4-FFF2-40B4-BE49-F238E27FC236}">
                <a16:creationId xmlns:a16="http://schemas.microsoft.com/office/drawing/2014/main" id="{221227A2-E949-4A92-BA78-7A407E9AF88D}"/>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Observation and action interfaces</a:t>
            </a:r>
          </a:p>
        </p:txBody>
      </p:sp>
      <p:sp>
        <p:nvSpPr>
          <p:cNvPr id="2" name="04">
            <a:extLst xmlns:a="http://schemas.openxmlformats.org/drawingml/2006/main">
              <a:ext uri="{FF2B5EF4-FFF2-40B4-BE49-F238E27FC236}">
                <a16:creationId xmlns:a16="http://schemas.microsoft.com/office/drawing/2014/main" id="{2ECAE99E-08BD-48FC-8279-057C70B321FA}"/>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2961407B-3B5C-481D-8810-6E4805CAD1A5}"/>
              </a:ext>
            </a:extLst>
          </p:cNvPr>
          <p:cNvGraphicFramePr/>
          <p:nvPr/>
        </p:nvGraphicFramePr>
        <p:xfrm>
          <a:off xmlns:a="http://schemas.openxmlformats.org/drawingml/2006/main" x="533400" y="1619250"/>
          <a:ext xmlns:a="http://schemas.openxmlformats.org/drawingml/2006/main" cx="11125200" cy="3476625"/>
        </p:xfrm>
        <a:graphic xmlns:a="http://schemas.openxmlformats.org/drawingml/2006/main">
          <a:graphicData uri="http://schemas.openxmlformats.org/drawingml/2006/table">
            <a:tbl>
              <a:tblPr/>
              <a:tblGrid>
                <a:gridCol w="1905000"/>
                <a:gridCol w="4476750"/>
                <a:gridCol w="4743450"/>
              </a:tblGrid>
              <a:tr h="695325">
                <a:tc>
                  <a:txBody>
                    <a:bodyPr lIns="114300" tIns="114300" rIns="114300" bIns="114300"/>
                    <a:lstStyle/>
                    <a:p>
                      <a:r>
                        <a:rPr sz="1725" b="1">
                          <a:solidFill>
                            <a:srgbClr val="142334"/>
                          </a:solidFill>
                          <a:latin typeface="Arial"/>
                          <a:ea typeface="Arial"/>
                          <a:cs typeface="Arial"/>
                        </a:rPr>
                        <a:t>Interface</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R1 Pro configuration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Consistency requirement</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95325">
                <a:tc>
                  <a:txBody>
                    <a:bodyPr lIns="114300" tIns="114300" rIns="114300" bIns="114300"/>
                    <a:lstStyle/>
                    <a:p>
                      <a:r>
                        <a:rPr sz="1725" b="0">
                          <a:solidFill>
                            <a:srgbClr val="142334"/>
                          </a:solidFill>
                          <a:latin typeface="Arial"/>
                          <a:ea typeface="Arial"/>
                          <a:cs typeface="Arial"/>
                        </a:rPr>
                        <a:t>Vision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Head + two wrists, 224 × 224</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Native camera orientation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95325">
                <a:tc>
                  <a:txBody>
                    <a:bodyPr lIns="114300" tIns="114300" rIns="114300" bIns="114300"/>
                    <a:lstStyle/>
                    <a:p>
                      <a:r>
                        <a:rPr sz="1725" b="0">
                          <a:solidFill>
                            <a:srgbClr val="142334"/>
                          </a:solidFill>
                          <a:latin typeface="Arial"/>
                          <a:ea typeface="Arial"/>
                          <a:cs typeface="Arial"/>
                        </a:rPr>
                        <a:t>State / action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14 joints + 2 grippers + 3 base</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Joints in rad, grippers in m</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95325">
                <a:tc>
                  <a:txBody>
                    <a:bodyPr lIns="114300" tIns="114300" rIns="114300" bIns="114300"/>
                    <a:lstStyle/>
                    <a:p>
                      <a:r>
                        <a:rPr sz="1725" b="0">
                          <a:solidFill>
                            <a:srgbClr val="142334"/>
                          </a:solidFill>
                          <a:latin typeface="Arial"/>
                          <a:ea typeface="Arial"/>
                          <a:cs typeface="Arial"/>
                        </a:rPr>
                        <a:t>Action chunk</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Horizon 20, sampled at 20 Hz</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Common time base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95325">
                <a:tc>
                  <a:txBody>
                    <a:bodyPr lIns="114300" tIns="114300" rIns="114300" bIns="114300"/>
                    <a:lstStyle/>
                    <a:p>
                      <a:r>
                        <a:rPr sz="1725" b="0">
                          <a:solidFill>
                            <a:srgbClr val="142334"/>
                          </a:solidFill>
                          <a:latin typeface="Arial"/>
                          <a:ea typeface="Arial"/>
                          <a:cs typeface="Arial"/>
                        </a:rPr>
                        <a:t>Closed-loop execution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Reobserve after up to 5 steps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Explicit fixed-base mask</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bl>
          </a:graphicData>
        </a:graphic>
      </p:graphicFrame>
      <p:sp>
        <p:nvSpPr>
          <p:cNvPr id="4" name="Keep raw model outputs and record the fixe">
            <a:extLst xmlns:a="http://schemas.openxmlformats.org/drawingml/2006/main">
              <a:ext uri="{FF2B5EF4-FFF2-40B4-BE49-F238E27FC236}">
                <a16:creationId xmlns:a16="http://schemas.microsoft.com/office/drawing/2014/main" id="{DE03EC04-F533-497E-84C2-BB2F62CB74D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Keep raw model outputs and record the fixed-base execution mask explicitly.</a:t>
            </a:r>
          </a:p>
        </p:txBody>
      </p:sp>
    </p:spTree>
    <p:extLst>
      <p:ext uri="{BB962C8B-B14F-4D97-AF65-F5344CB8AC3E}">
        <p14:creationId xmlns:p14="http://schemas.microsoft.com/office/powerpoint/2010/main" val="634348082"/>
      </p:ext>
    </p:extLst>
  </p:cSld>
</p:sld>
</file>

<file path=ppt/slides/slide5.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24" name="The project pipeline">
            <a:extLst xmlns:a="http://schemas.openxmlformats.org/drawingml/2006/main">
              <a:ext uri="{FF2B5EF4-FFF2-40B4-BE49-F238E27FC236}">
                <a16:creationId xmlns:a16="http://schemas.microsoft.com/office/drawing/2014/main" id="{BEA38A1F-825E-422A-9E05-A20A40F4EA0F}"/>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The project pipeline</a:t>
            </a:r>
          </a:p>
        </p:txBody>
      </p:sp>
      <p:sp>
        <p:nvSpPr>
          <p:cNvPr id="2" name="05">
            <a:extLst xmlns:a="http://schemas.openxmlformats.org/drawingml/2006/main">
              <a:ext uri="{FF2B5EF4-FFF2-40B4-BE49-F238E27FC236}">
                <a16:creationId xmlns:a16="http://schemas.microsoft.com/office/drawing/2014/main" id="{680C711E-006E-4A2E-87A5-3AC8A3E55419}"/>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B3AD74C-9B5B-448D-A657-FA2EA25DE773}"/>
              </a:ext>
            </a:extLst>
          </p:cNvPr>
          <p:cNvSpPr>
            <a:spLocks xmlns:a="http://schemas.openxmlformats.org/drawingml/2006/main" noGrp="1"/>
          </p:cNvSpPr>
          <p:nvPr/>
        </p:nvSpPr>
        <p:spPr>
          <a:xfrm xmlns:a="http://schemas.openxmlformats.org/drawingml/2006/main">
            <a:off x="53340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Real lab">
            <a:extLst xmlns:a="http://schemas.openxmlformats.org/drawingml/2006/main">
              <a:ext uri="{FF2B5EF4-FFF2-40B4-BE49-F238E27FC236}">
                <a16:creationId xmlns:a16="http://schemas.microsoft.com/office/drawing/2014/main" id="{4FBB0661-62A3-40FC-834E-1C7031A9E479}"/>
              </a:ext>
            </a:extLst>
          </p:cNvPr>
          <p:cNvSpPr>
            <a:spLocks xmlns:a="http://schemas.openxmlformats.org/drawingml/2006/main" noGrp="1"/>
          </p:cNvSpPr>
          <p:nvPr/>
        </p:nvSpPr>
        <p:spPr>
          <a:xfrm xmlns:a="http://schemas.openxmlformats.org/drawingml/2006/main">
            <a:off x="72390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 lab</a:t>
            </a:r>
          </a:p>
        </p:txBody>
      </p:sp>
      <p:sp>
        <p:nvSpPr>
          <p:cNvPr id="5" name="Photos, CAD and&#10;real demonstrations">
            <a:extLst xmlns:a="http://schemas.openxmlformats.org/drawingml/2006/main">
              <a:ext uri="{FF2B5EF4-FFF2-40B4-BE49-F238E27FC236}">
                <a16:creationId xmlns:a16="http://schemas.microsoft.com/office/drawing/2014/main" id="{0C9EEB81-56F7-4EE5-96D8-A5D678B8739D}"/>
              </a:ext>
            </a:extLst>
          </p:cNvPr>
          <p:cNvSpPr>
            <a:spLocks xmlns:a="http://schemas.openxmlformats.org/drawingml/2006/main" noGrp="1"/>
          </p:cNvSpPr>
          <p:nvPr/>
        </p:nvSpPr>
        <p:spPr>
          <a:xfrm xmlns:a="http://schemas.openxmlformats.org/drawingml/2006/main">
            <a:off x="72390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Photos, CAD and</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real demonstrations</a:t>
            </a:r>
          </a:p>
        </p:txBody>
      </p:sp>
      <p:sp>
        <p:nvSpPr>
          <p:cNvPr id="6" name="">
            <a:extLst xmlns:a="http://schemas.openxmlformats.org/drawingml/2006/main">
              <a:ext uri="{FF2B5EF4-FFF2-40B4-BE49-F238E27FC236}">
                <a16:creationId xmlns:a16="http://schemas.microsoft.com/office/drawing/2014/main" id="{F451720A-8795-4883-98F8-402256A214B5}"/>
              </a:ext>
            </a:extLst>
          </p:cNvPr>
          <p:cNvSpPr>
            <a:spLocks xmlns:a="http://schemas.openxmlformats.org/drawingml/2006/main" noGrp="1"/>
          </p:cNvSpPr>
          <p:nvPr/>
        </p:nvSpPr>
        <p:spPr>
          <a:xfrm xmlns:a="http://schemas.openxmlformats.org/drawingml/2006/main">
            <a:off x="2657475"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68AA78-3A26-4A67-A627-A5BB0932FAD7}"/>
              </a:ext>
            </a:extLst>
          </p:cNvPr>
          <p:cNvSpPr>
            <a:spLocks xmlns:a="http://schemas.openxmlformats.org/drawingml/2006/main" noGrp="1"/>
          </p:cNvSpPr>
          <p:nvPr/>
        </p:nvSpPr>
        <p:spPr>
          <a:xfrm xmlns:a="http://schemas.openxmlformats.org/drawingml/2006/main">
            <a:off x="2790825"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Real2Sim">
            <a:extLst xmlns:a="http://schemas.openxmlformats.org/drawingml/2006/main">
              <a:ext uri="{FF2B5EF4-FFF2-40B4-BE49-F238E27FC236}">
                <a16:creationId xmlns:a16="http://schemas.microsoft.com/office/drawing/2014/main" id="{60D97A63-6F11-458A-A730-015B5E37E88F}"/>
              </a:ext>
            </a:extLst>
          </p:cNvPr>
          <p:cNvSpPr>
            <a:spLocks xmlns:a="http://schemas.openxmlformats.org/drawingml/2006/main" noGrp="1"/>
          </p:cNvSpPr>
          <p:nvPr/>
        </p:nvSpPr>
        <p:spPr>
          <a:xfrm xmlns:a="http://schemas.openxmlformats.org/drawingml/2006/main">
            <a:off x="2981325"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Real2Sim</a:t>
            </a:r>
          </a:p>
        </p:txBody>
      </p:sp>
      <p:sp>
        <p:nvSpPr>
          <p:cNvPr id="9" name="Geometry, joints&#10;and camera mapping">
            <a:extLst xmlns:a="http://schemas.openxmlformats.org/drawingml/2006/main">
              <a:ext uri="{FF2B5EF4-FFF2-40B4-BE49-F238E27FC236}">
                <a16:creationId xmlns:a16="http://schemas.microsoft.com/office/drawing/2014/main" id="{51EC8027-CF00-4DF5-B2B9-66E03A8D5070}"/>
              </a:ext>
            </a:extLst>
          </p:cNvPr>
          <p:cNvSpPr>
            <a:spLocks xmlns:a="http://schemas.openxmlformats.org/drawingml/2006/main" noGrp="1"/>
          </p:cNvSpPr>
          <p:nvPr/>
        </p:nvSpPr>
        <p:spPr>
          <a:xfrm xmlns:a="http://schemas.openxmlformats.org/drawingml/2006/main">
            <a:off x="2981325"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Geometry, joints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camera mapping</a:t>
            </a:r>
          </a:p>
        </p:txBody>
      </p:sp>
      <p:sp>
        <p:nvSpPr>
          <p:cNvPr id="10" name="">
            <a:extLst xmlns:a="http://schemas.openxmlformats.org/drawingml/2006/main">
              <a:ext uri="{FF2B5EF4-FFF2-40B4-BE49-F238E27FC236}">
                <a16:creationId xmlns:a16="http://schemas.microsoft.com/office/drawing/2014/main" id="{9BA6DADD-36EB-472D-A8B5-746721BE8818}"/>
              </a:ext>
            </a:extLst>
          </p:cNvPr>
          <p:cNvSpPr>
            <a:spLocks xmlns:a="http://schemas.openxmlformats.org/drawingml/2006/main" noGrp="1"/>
          </p:cNvSpPr>
          <p:nvPr/>
        </p:nvSpPr>
        <p:spPr>
          <a:xfrm xmlns:a="http://schemas.openxmlformats.org/drawingml/2006/main">
            <a:off x="4914900"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34AC3B-132E-4159-95E7-6753FCE5A1C6}"/>
              </a:ext>
            </a:extLst>
          </p:cNvPr>
          <p:cNvSpPr>
            <a:spLocks xmlns:a="http://schemas.openxmlformats.org/drawingml/2006/main" noGrp="1"/>
          </p:cNvSpPr>
          <p:nvPr/>
        </p:nvSpPr>
        <p:spPr>
          <a:xfrm xmlns:a="http://schemas.openxmlformats.org/drawingml/2006/main">
            <a:off x="504825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Simulation">
            <a:extLst xmlns:a="http://schemas.openxmlformats.org/drawingml/2006/main">
              <a:ext uri="{FF2B5EF4-FFF2-40B4-BE49-F238E27FC236}">
                <a16:creationId xmlns:a16="http://schemas.microsoft.com/office/drawing/2014/main" id="{FA3A551A-00AB-4A26-B1DB-5DABD650976D}"/>
              </a:ext>
            </a:extLst>
          </p:cNvPr>
          <p:cNvSpPr>
            <a:spLocks xmlns:a="http://schemas.openxmlformats.org/drawingml/2006/main" noGrp="1"/>
          </p:cNvSpPr>
          <p:nvPr/>
        </p:nvSpPr>
        <p:spPr>
          <a:xfrm xmlns:a="http://schemas.openxmlformats.org/drawingml/2006/main">
            <a:off x="523875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Simulation</a:t>
            </a:r>
          </a:p>
        </p:txBody>
      </p:sp>
      <p:sp>
        <p:nvSpPr>
          <p:cNvPr id="13" name="32 rooms collect&#10;physical trajectories">
            <a:extLst xmlns:a="http://schemas.openxmlformats.org/drawingml/2006/main">
              <a:ext uri="{FF2B5EF4-FFF2-40B4-BE49-F238E27FC236}">
                <a16:creationId xmlns:a16="http://schemas.microsoft.com/office/drawing/2014/main" id="{5886AC79-CBA0-452A-8AAE-C35DD05EC65A}"/>
              </a:ext>
            </a:extLst>
          </p:cNvPr>
          <p:cNvSpPr>
            <a:spLocks xmlns:a="http://schemas.openxmlformats.org/drawingml/2006/main" noGrp="1"/>
          </p:cNvSpPr>
          <p:nvPr/>
        </p:nvSpPr>
        <p:spPr>
          <a:xfrm xmlns:a="http://schemas.openxmlformats.org/drawingml/2006/main">
            <a:off x="523875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32 rooms collect</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physical trajectories</a:t>
            </a:r>
          </a:p>
        </p:txBody>
      </p:sp>
      <p:sp>
        <p:nvSpPr>
          <p:cNvPr id="14" name="">
            <a:extLst xmlns:a="http://schemas.openxmlformats.org/drawingml/2006/main">
              <a:ext uri="{FF2B5EF4-FFF2-40B4-BE49-F238E27FC236}">
                <a16:creationId xmlns:a16="http://schemas.microsoft.com/office/drawing/2014/main" id="{24F5823C-E0E5-4639-AA67-DF1F7C8C2909}"/>
              </a:ext>
            </a:extLst>
          </p:cNvPr>
          <p:cNvSpPr>
            <a:spLocks xmlns:a="http://schemas.openxmlformats.org/drawingml/2006/main" noGrp="1"/>
          </p:cNvSpPr>
          <p:nvPr/>
        </p:nvSpPr>
        <p:spPr>
          <a:xfrm xmlns:a="http://schemas.openxmlformats.org/drawingml/2006/main">
            <a:off x="7172325"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182C790-37F1-4A10-94A7-995450B717C9}"/>
              </a:ext>
            </a:extLst>
          </p:cNvPr>
          <p:cNvSpPr>
            <a:spLocks xmlns:a="http://schemas.openxmlformats.org/drawingml/2006/main" noGrp="1"/>
          </p:cNvSpPr>
          <p:nvPr/>
        </p:nvSpPr>
        <p:spPr>
          <a:xfrm xmlns:a="http://schemas.openxmlformats.org/drawingml/2006/main">
            <a:off x="7305675"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6" name="Training">
            <a:extLst xmlns:a="http://schemas.openxmlformats.org/drawingml/2006/main">
              <a:ext uri="{FF2B5EF4-FFF2-40B4-BE49-F238E27FC236}">
                <a16:creationId xmlns:a16="http://schemas.microsoft.com/office/drawing/2014/main" id="{0868B1AB-CFBD-4D21-82A5-DB1367F7B94A}"/>
              </a:ext>
            </a:extLst>
          </p:cNvPr>
          <p:cNvSpPr>
            <a:spLocks xmlns:a="http://schemas.openxmlformats.org/drawingml/2006/main" noGrp="1"/>
          </p:cNvSpPr>
          <p:nvPr/>
        </p:nvSpPr>
        <p:spPr>
          <a:xfrm xmlns:a="http://schemas.openxmlformats.org/drawingml/2006/main">
            <a:off x="7496175"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Training</a:t>
            </a:r>
          </a:p>
        </p:txBody>
      </p:sp>
      <p:sp>
        <p:nvSpPr>
          <p:cNvPr id="17" name="Frozen sources&#10;and mixed sampling">
            <a:extLst xmlns:a="http://schemas.openxmlformats.org/drawingml/2006/main">
              <a:ext uri="{FF2B5EF4-FFF2-40B4-BE49-F238E27FC236}">
                <a16:creationId xmlns:a16="http://schemas.microsoft.com/office/drawing/2014/main" id="{5898E344-B168-4C9C-971F-762DF65BAF14}"/>
              </a:ext>
            </a:extLst>
          </p:cNvPr>
          <p:cNvSpPr>
            <a:spLocks xmlns:a="http://schemas.openxmlformats.org/drawingml/2006/main" noGrp="1"/>
          </p:cNvSpPr>
          <p:nvPr/>
        </p:nvSpPr>
        <p:spPr>
          <a:xfrm xmlns:a="http://schemas.openxmlformats.org/drawingml/2006/main">
            <a:off x="7496175"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Frozen sources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mixed sampling</a:t>
            </a:r>
          </a:p>
        </p:txBody>
      </p:sp>
      <p:sp>
        <p:nvSpPr>
          <p:cNvPr id="18" name="">
            <a:extLst xmlns:a="http://schemas.openxmlformats.org/drawingml/2006/main">
              <a:ext uri="{FF2B5EF4-FFF2-40B4-BE49-F238E27FC236}">
                <a16:creationId xmlns:a16="http://schemas.microsoft.com/office/drawing/2014/main" id="{9B9751E5-195D-43E5-9CDF-DCC0C0732A6D}"/>
              </a:ext>
            </a:extLst>
          </p:cNvPr>
          <p:cNvSpPr>
            <a:spLocks xmlns:a="http://schemas.openxmlformats.org/drawingml/2006/main" noGrp="1"/>
          </p:cNvSpPr>
          <p:nvPr/>
        </p:nvSpPr>
        <p:spPr>
          <a:xfrm xmlns:a="http://schemas.openxmlformats.org/drawingml/2006/main">
            <a:off x="9429750"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B5C2D37-AC0D-4C36-9A8B-4701B3D7D027}"/>
              </a:ext>
            </a:extLst>
          </p:cNvPr>
          <p:cNvSpPr>
            <a:spLocks xmlns:a="http://schemas.openxmlformats.org/drawingml/2006/main" noGrp="1"/>
          </p:cNvSpPr>
          <p:nvPr/>
        </p:nvSpPr>
        <p:spPr>
          <a:xfrm xmlns:a="http://schemas.openxmlformats.org/drawingml/2006/main">
            <a:off x="956310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20" name="Evaluation">
            <a:extLst xmlns:a="http://schemas.openxmlformats.org/drawingml/2006/main">
              <a:ext uri="{FF2B5EF4-FFF2-40B4-BE49-F238E27FC236}">
                <a16:creationId xmlns:a16="http://schemas.microsoft.com/office/drawing/2014/main" id="{74503191-A8AA-44BA-A431-89F30CDEA750}"/>
              </a:ext>
            </a:extLst>
          </p:cNvPr>
          <p:cNvSpPr>
            <a:spLocks xmlns:a="http://schemas.openxmlformats.org/drawingml/2006/main" noGrp="1"/>
          </p:cNvSpPr>
          <p:nvPr/>
        </p:nvSpPr>
        <p:spPr>
          <a:xfrm xmlns:a="http://schemas.openxmlformats.org/drawingml/2006/main">
            <a:off x="975360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Evaluation</a:t>
            </a:r>
          </a:p>
        </p:txBody>
      </p:sp>
      <p:sp>
        <p:nvSpPr>
          <p:cNvPr id="21" name="Real-data MSE&#10;and policy rollouts">
            <a:extLst xmlns:a="http://schemas.openxmlformats.org/drawingml/2006/main">
              <a:ext uri="{FF2B5EF4-FFF2-40B4-BE49-F238E27FC236}">
                <a16:creationId xmlns:a16="http://schemas.microsoft.com/office/drawing/2014/main" id="{B9EF05AE-B468-4236-AA4D-3F47D1785A53}"/>
              </a:ext>
            </a:extLst>
          </p:cNvPr>
          <p:cNvSpPr>
            <a:spLocks xmlns:a="http://schemas.openxmlformats.org/drawingml/2006/main" noGrp="1"/>
          </p:cNvSpPr>
          <p:nvPr/>
        </p:nvSpPr>
        <p:spPr>
          <a:xfrm xmlns:a="http://schemas.openxmlformats.org/drawingml/2006/main">
            <a:off x="975360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Real-data MSE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policy rollouts</a:t>
            </a:r>
          </a:p>
        </p:txBody>
      </p:sp>
      <p:sp>
        <p:nvSpPr>
          <p:cNvPr id="22" name="Scene Studio connects hosted access and an">
            <a:extLst xmlns:a="http://schemas.openxmlformats.org/drawingml/2006/main">
              <a:ext uri="{FF2B5EF4-FFF2-40B4-BE49-F238E27FC236}">
                <a16:creationId xmlns:a16="http://schemas.microsoft.com/office/drawing/2014/main" id="{31CB39E3-0309-48E0-BDA4-08DCDB4B248D}"/>
              </a:ext>
            </a:extLst>
          </p:cNvPr>
          <p:cNvSpPr>
            <a:spLocks xmlns:a="http://schemas.openxmlformats.org/drawingml/2006/main" noGrp="1"/>
          </p:cNvSpPr>
          <p:nvPr/>
        </p:nvSpPr>
        <p:spPr>
          <a:xfrm xmlns:a="http://schemas.openxmlformats.org/drawingml/2006/main">
            <a:off x="533400" y="49530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667BA"/>
                </a:solidFill>
                <a:latin typeface="Arial"/>
                <a:ea typeface="Arial"/>
                <a:cs typeface="Arial"/>
              </a:defRPr>
            </a:defPPr>
          </a:lstStyle>
          <a:p xmlns:a="http://schemas.openxmlformats.org/drawingml/2006/main">
            <a:pPr>
              <a:defRPr sz="2400" b="1">
                <a:solidFill>
                  <a:srgbClr val="2667BA"/>
                </a:solidFill>
                <a:latin typeface="Arial"/>
                <a:ea typeface="Arial"/>
                <a:cs typeface="Arial"/>
              </a:defRPr>
            </a:pPr>
            <a:r>
              <a:rPr sz="2400" b="1">
                <a:solidFill>
                  <a:srgbClr val="2667BA"/>
                </a:solidFill>
                <a:latin typeface="Arial"/>
                <a:ea typeface="Arial"/>
                <a:cs typeface="Arial"/>
              </a:rPr>
              <a:t>Scene Studio connects hosted access and an offline workstation to GPU jobs.</a:t>
            </a:r>
          </a:p>
        </p:txBody>
      </p:sp>
      <p:sp>
        <p:nvSpPr>
          <p:cNvPr id="23" name="Hosted Sites and workstation releases diff">
            <a:extLst xmlns:a="http://schemas.openxmlformats.org/drawingml/2006/main">
              <a:ext uri="{FF2B5EF4-FFF2-40B4-BE49-F238E27FC236}">
                <a16:creationId xmlns:a16="http://schemas.microsoft.com/office/drawing/2014/main" id="{EDA9B332-801C-4471-8226-29A6FCC72A18}"/>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Hosted Sites and workstation releases differ; the newest runtime comparison is on the workstation.</a:t>
            </a:r>
          </a:p>
        </p:txBody>
      </p:sp>
    </p:spTree>
    <p:extLst>
      <p:ext uri="{BB962C8B-B14F-4D97-AF65-F5344CB8AC3E}">
        <p14:creationId xmlns:p14="http://schemas.microsoft.com/office/powerpoint/2010/main" val="618008220"/>
      </p:ext>
    </p:extLst>
  </p:cSld>
</p:sld>
</file>

<file path=ppt/slides/slide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8" name="Real2Sim reconstructs the laboratory">
            <a:extLst xmlns:a="http://schemas.openxmlformats.org/drawingml/2006/main">
              <a:ext uri="{FF2B5EF4-FFF2-40B4-BE49-F238E27FC236}">
                <a16:creationId xmlns:a16="http://schemas.microsoft.com/office/drawing/2014/main" id="{73D8F0F0-5E70-4CDE-92D8-4D143BD81579}"/>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Real2Sim reconstructs the laboratory</a:t>
            </a:r>
          </a:p>
        </p:txBody>
      </p:sp>
      <p:sp>
        <p:nvSpPr>
          <p:cNvPr id="2" name="06">
            <a:extLst xmlns:a="http://schemas.openxmlformats.org/drawingml/2006/main">
              <a:ext uri="{FF2B5EF4-FFF2-40B4-BE49-F238E27FC236}">
                <a16:creationId xmlns:a16="http://schemas.microsoft.com/office/drawing/2014/main" id="{B6F1C0DE-320D-4867-9F2C-7DA21945C1E5}"/>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C65250B1-A9BC-4EA2-A816-998132578082}"/>
              </a:ext>
            </a:extLst>
          </p:cNvPr>
          <p:cNvPicPr>
            <a:picLocks xmlns:a="http://schemas.openxmlformats.org/drawingml/2006/main" noChangeAspect="1"/>
          </p:cNvPicPr>
          <p:nvPr/>
        </p:nvPicPr>
        <p:blipFill>
          <a:blip xmlns:r="http://schemas.openxmlformats.org/officeDocument/2006/relationships" xmlns:a="http://schemas.openxmlformats.org/drawingml/2006/main" r:embed="Re4ba94dcbe1148da"/>
          <a:srcRect xmlns:a="http://schemas.openxmlformats.org/drawingml/2006/main" l="11538" t="0" r="11538" b="0"/>
          <a:stretch xmlns:a="http://schemas.openxmlformats.org/drawingml/2006/main">
            <a:fillRect l="0" t="0" r="0" b="0"/>
          </a:stretch>
        </p:blipFill>
        <p:spPr>
          <a:xfrm xmlns:a="http://schemas.openxmlformats.org/drawingml/2006/main">
            <a:off x="533400" y="1524000"/>
            <a:ext cx="3810000" cy="3714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86E509A-60DE-469C-911F-C599C1A32CB0}"/>
              </a:ext>
            </a:extLst>
          </p:cNvPr>
          <p:cNvPicPr>
            <a:picLocks xmlns:a="http://schemas.openxmlformats.org/drawingml/2006/main" noChangeAspect="1"/>
          </p:cNvPicPr>
          <p:nvPr/>
        </p:nvPicPr>
        <p:blipFill>
          <a:blip xmlns:r="http://schemas.openxmlformats.org/officeDocument/2006/relationships" xmlns:a="http://schemas.openxmlformats.org/drawingml/2006/main" r:embed="R9bb45629345f4df0"/>
          <a:stretch xmlns:a="http://schemas.openxmlformats.org/drawingml/2006/main"/>
        </p:blipFill>
        <p:spPr>
          <a:xfrm xmlns:a="http://schemas.openxmlformats.org/drawingml/2006/main">
            <a:off x="4612217" y="1524000"/>
            <a:ext cx="7044267" cy="3962400"/>
          </a:xfrm>
          <a:prstGeom xmlns:a="http://schemas.openxmlformats.org/drawingml/2006/main" prst="rect">
            <a:avLst/>
          </a:prstGeom>
        </p:spPr>
      </p:pic>
      <p:sp>
        <p:nvSpPr>
          <p:cNvPr id="5" name="Real laboratory reference">
            <a:extLst xmlns:a="http://schemas.openxmlformats.org/drawingml/2006/main">
              <a:ext uri="{FF2B5EF4-FFF2-40B4-BE49-F238E27FC236}">
                <a16:creationId xmlns:a16="http://schemas.microsoft.com/office/drawing/2014/main" id="{532C17BE-DF33-48F2-8E04-0A52CA304796}"/>
              </a:ext>
            </a:extLst>
          </p:cNvPr>
          <p:cNvSpPr>
            <a:spLocks xmlns:a="http://schemas.openxmlformats.org/drawingml/2006/main" noGrp="1"/>
          </p:cNvSpPr>
          <p:nvPr/>
        </p:nvSpPr>
        <p:spPr>
          <a:xfrm xmlns:a="http://schemas.openxmlformats.org/drawingml/2006/main">
            <a:off x="533400" y="54578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Real laboratory reference</a:t>
            </a:r>
          </a:p>
        </p:txBody>
      </p:sp>
      <p:sp>
        <p:nvSpPr>
          <p:cNvPr id="6" name="Native Isaac scene with R1 Pro">
            <a:extLst xmlns:a="http://schemas.openxmlformats.org/drawingml/2006/main">
              <a:ext uri="{FF2B5EF4-FFF2-40B4-BE49-F238E27FC236}">
                <a16:creationId xmlns:a16="http://schemas.microsoft.com/office/drawing/2014/main" id="{6C1C0453-B3C4-4FEC-81ED-1430AE061EAF}"/>
              </a:ext>
            </a:extLst>
          </p:cNvPr>
          <p:cNvSpPr>
            <a:spLocks xmlns:a="http://schemas.openxmlformats.org/drawingml/2006/main" noGrp="1"/>
          </p:cNvSpPr>
          <p:nvPr/>
        </p:nvSpPr>
        <p:spPr>
          <a:xfrm xmlns:a="http://schemas.openxmlformats.org/drawingml/2006/main">
            <a:off x="4610100" y="566737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Native Isaac scene with R1 Pro</a:t>
            </a:r>
          </a:p>
        </p:txBody>
      </p:sp>
      <p:sp>
        <p:nvSpPr>
          <p:cNvPr id="7" name="Preserve the desk layout, robot appearance">
            <a:extLst xmlns:a="http://schemas.openxmlformats.org/drawingml/2006/main">
              <a:ext uri="{FF2B5EF4-FFF2-40B4-BE49-F238E27FC236}">
                <a16:creationId xmlns:a16="http://schemas.microsoft.com/office/drawing/2014/main" id="{A687A924-A301-4FAD-A836-936028031760}"/>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Preserve the desk layout, robot appearance and tray markings. Check physical alignment separately.</a:t>
            </a:r>
          </a:p>
        </p:txBody>
      </p:sp>
    </p:spTree>
    <p:extLst>
      <p:ext uri="{BB962C8B-B14F-4D97-AF65-F5344CB8AC3E}">
        <p14:creationId xmlns:p14="http://schemas.microsoft.com/office/powerpoint/2010/main" val="279652899"/>
      </p:ext>
    </p:extLst>
  </p:cSld>
</p:sld>
</file>

<file path=ppt/slides/slide7.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9" name="Alignment makes simulation data usable">
            <a:extLst xmlns:a="http://schemas.openxmlformats.org/drawingml/2006/main">
              <a:ext uri="{FF2B5EF4-FFF2-40B4-BE49-F238E27FC236}">
                <a16:creationId xmlns:a16="http://schemas.microsoft.com/office/drawing/2014/main" id="{1C3F043E-17BF-4BB6-8D03-31941589197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Alignment makes simulation data usable</a:t>
            </a:r>
          </a:p>
        </p:txBody>
      </p:sp>
      <p:sp>
        <p:nvSpPr>
          <p:cNvPr id="2" name="07">
            <a:extLst xmlns:a="http://schemas.openxmlformats.org/drawingml/2006/main">
              <a:ext uri="{FF2B5EF4-FFF2-40B4-BE49-F238E27FC236}">
                <a16:creationId xmlns:a16="http://schemas.microsoft.com/office/drawing/2014/main" id="{2C6346D8-91C1-487C-89C4-053166FCD8D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07</a:t>
            </a:r>
          </a:p>
        </p:txBody>
      </p:sp>
      <p:sp>
        <p:nvSpPr>
          <p:cNvPr id="3" name="Geometry and control">
            <a:extLst xmlns:a="http://schemas.openxmlformats.org/drawingml/2006/main">
              <a:ext uri="{FF2B5EF4-FFF2-40B4-BE49-F238E27FC236}">
                <a16:creationId xmlns:a16="http://schemas.microsoft.com/office/drawing/2014/main" id="{6D869AC8-BB11-43B1-9EC0-A0A550958EB1}"/>
              </a:ext>
            </a:extLst>
          </p:cNvPr>
          <p:cNvSpPr>
            <a:spLocks xmlns:a="http://schemas.openxmlformats.org/drawingml/2006/main" noGrp="1"/>
          </p:cNvSpPr>
          <p:nvPr/>
        </p:nvSpPr>
        <p:spPr>
          <a:xfrm xmlns:a="http://schemas.openxmlformats.org/drawingml/2006/main">
            <a:off x="533400" y="147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Geometry and control</a:t>
            </a:r>
          </a:p>
        </p:txBody>
      </p:sp>
      <p:sp>
        <p:nvSpPr>
          <p:cNvPr id="4" name="Use a common coordinate system, joint orde">
            <a:extLst xmlns:a="http://schemas.openxmlformats.org/drawingml/2006/main">
              <a:ext uri="{FF2B5EF4-FFF2-40B4-BE49-F238E27FC236}">
                <a16:creationId xmlns:a16="http://schemas.microsoft.com/office/drawing/2014/main" id="{C03BCA0A-6AA2-4F72-9251-6D3634D8A445}"/>
              </a:ext>
            </a:extLst>
          </p:cNvPr>
          <p:cNvSpPr>
            <a:spLocks xmlns:a="http://schemas.openxmlformats.org/drawingml/2006/main" noGrp="1"/>
          </p:cNvSpPr>
          <p:nvPr/>
        </p:nvSpPr>
        <p:spPr>
          <a:xfrm xmlns:a="http://schemas.openxmlformats.org/drawingml/2006/main">
            <a:off x="533400" y="19335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Use a common coordinate system, joint order and units. Record the tray and base initial states for each source.</a:t>
            </a:r>
          </a:p>
        </p:txBody>
      </p:sp>
      <p:sp>
        <p:nvSpPr>
          <p:cNvPr id="5" name="Contact and support">
            <a:extLst xmlns:a="http://schemas.openxmlformats.org/drawingml/2006/main">
              <a:ext uri="{FF2B5EF4-FFF2-40B4-BE49-F238E27FC236}">
                <a16:creationId xmlns:a16="http://schemas.microsoft.com/office/drawing/2014/main" id="{E4EB2723-F7EF-4AA1-A8C1-FA8B09EC943F}"/>
              </a:ext>
            </a:extLst>
          </p:cNvPr>
          <p:cNvSpPr>
            <a:spLocks xmlns:a="http://schemas.openxmlformats.org/drawingml/2006/main" noGrp="1"/>
          </p:cNvSpPr>
          <p:nvPr/>
        </p:nvSpPr>
        <p:spPr>
          <a:xfrm xmlns:a="http://schemas.openxmlformats.org/drawingml/2006/main">
            <a:off x="533400" y="2952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Contact and support</a:t>
            </a:r>
          </a:p>
        </p:txBody>
      </p:sp>
      <p:sp>
        <p:nvSpPr>
          <p:cNvPr id="6" name="Keep physical collision and contact feedba">
            <a:extLst xmlns:a="http://schemas.openxmlformats.org/drawingml/2006/main">
              <a:ext uri="{FF2B5EF4-FFF2-40B4-BE49-F238E27FC236}">
                <a16:creationId xmlns:a16="http://schemas.microsoft.com/office/drawing/2014/main" id="{DB52EC8C-E2E2-4C01-A3A7-825D7DE750B6}"/>
              </a:ext>
            </a:extLst>
          </p:cNvPr>
          <p:cNvSpPr>
            <a:spLocks xmlns:a="http://schemas.openxmlformats.org/drawingml/2006/main" noGrp="1"/>
          </p:cNvSpPr>
          <p:nvPr/>
        </p:nvSpPr>
        <p:spPr>
          <a:xfrm xmlns:a="http://schemas.openxmlformats.org/drawingml/2006/main">
            <a:off x="533400" y="3409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Keep physical collision and contact feedback. Grasp opposite long edges and carry the actual Pick end state into Place.</a:t>
            </a:r>
          </a:p>
        </p:txBody>
      </p:sp>
      <p:sp>
        <p:nvSpPr>
          <p:cNvPr id="7" name="Vision and time">
            <a:extLst xmlns:a="http://schemas.openxmlformats.org/drawingml/2006/main">
              <a:ext uri="{FF2B5EF4-FFF2-40B4-BE49-F238E27FC236}">
                <a16:creationId xmlns:a16="http://schemas.microsoft.com/office/drawing/2014/main" id="{9B391E44-741B-4DB2-912B-F88B03AB9482}"/>
              </a:ext>
            </a:extLst>
          </p:cNvPr>
          <p:cNvSpPr>
            <a:spLocks xmlns:a="http://schemas.openxmlformats.org/drawingml/2006/main" noGrp="1"/>
          </p:cNvSpPr>
          <p:nvPr/>
        </p:nvSpPr>
        <p:spPr>
          <a:xfrm xmlns:a="http://schemas.openxmlformats.org/drawingml/2006/main">
            <a:off x="533400" y="442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Vision and time</a:t>
            </a:r>
          </a:p>
        </p:txBody>
      </p:sp>
      <p:sp>
        <p:nvSpPr>
          <p:cNvPr id="8" name="Keep native camera directions and original">
            <a:extLst xmlns:a="http://schemas.openxmlformats.org/drawingml/2006/main">
              <a:ext uri="{FF2B5EF4-FFF2-40B4-BE49-F238E27FC236}">
                <a16:creationId xmlns:a16="http://schemas.microsoft.com/office/drawing/2014/main" id="{0C28B346-D02F-45A3-82C3-5110A25A3682}"/>
              </a:ext>
            </a:extLst>
          </p:cNvPr>
          <p:cNvSpPr>
            <a:spLocks xmlns:a="http://schemas.openxmlformats.org/drawingml/2006/main" noGrp="1"/>
          </p:cNvSpPr>
          <p:nvPr/>
        </p:nvSpPr>
        <p:spPr>
          <a:xfrm xmlns:a="http://schemas.openxmlformats.org/drawingml/2006/main">
            <a:off x="533400" y="4886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Keep native camera directions and original-speed recordings. Each 20 Hz frame advances 25 physics substeps of 2 ms.</a:t>
            </a:r>
          </a:p>
        </p:txBody>
      </p:sp>
    </p:spTree>
    <p:extLst>
      <p:ext uri="{BB962C8B-B14F-4D97-AF65-F5344CB8AC3E}">
        <p14:creationId xmlns:p14="http://schemas.microsoft.com/office/powerpoint/2010/main" val="1716594339"/>
      </p:ext>
    </p:extLst>
  </p:cSld>
</p:sld>
</file>

<file path=ppt/slides/slide8.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Website: select and edit a scene">
            <a:extLst xmlns:a="http://schemas.openxmlformats.org/drawingml/2006/main">
              <a:ext uri="{FF2B5EF4-FFF2-40B4-BE49-F238E27FC236}">
                <a16:creationId xmlns:a16="http://schemas.microsoft.com/office/drawing/2014/main" id="{7DB178F4-52D1-4DC6-8A9C-7E3517A6C852}"/>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select and edit a scene</a:t>
            </a:r>
          </a:p>
        </p:txBody>
      </p:sp>
      <p:sp>
        <p:nvSpPr>
          <p:cNvPr id="2" name="08">
            <a:extLst xmlns:a="http://schemas.openxmlformats.org/drawingml/2006/main">
              <a:ext uri="{FF2B5EF4-FFF2-40B4-BE49-F238E27FC236}">
                <a16:creationId xmlns:a16="http://schemas.microsoft.com/office/drawing/2014/main" id="{2E46A7D8-4184-4C4B-BBD3-1ED60FC59690}"/>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A91E1E35-1081-4AD8-BCD4-3B971D105F3D}"/>
              </a:ext>
            </a:extLst>
          </p:cNvPr>
          <p:cNvPicPr>
            <a:picLocks xmlns:a="http://schemas.openxmlformats.org/drawingml/2006/main" noChangeAspect="1"/>
          </p:cNvPicPr>
          <p:nvPr/>
        </p:nvPicPr>
        <p:blipFill>
          <a:blip xmlns:r="http://schemas.openxmlformats.org/officeDocument/2006/relationships" xmlns:a="http://schemas.openxmlformats.org/drawingml/2006/main" r:embed="R40b5bc7c1bb74840"/>
          <a:stretch xmlns:a="http://schemas.openxmlformats.org/drawingml/2006/main"/>
        </p:blipFill>
        <p:spPr>
          <a:xfrm xmlns:a="http://schemas.openxmlformats.org/drawingml/2006/main">
            <a:off x="734253" y="1333500"/>
            <a:ext cx="3074918" cy="4714875"/>
          </a:xfrm>
          <a:prstGeom xmlns:a="http://schemas.openxmlformats.org/drawingml/2006/main" prst="rect">
            <a:avLst/>
          </a:prstGeom>
        </p:spPr>
      </p:pic>
      <p:sp>
        <p:nvSpPr>
          <p:cNvPr id="4" name="1. Select a room and object">
            <a:extLst xmlns:a="http://schemas.openxmlformats.org/drawingml/2006/main">
              <a:ext uri="{FF2B5EF4-FFF2-40B4-BE49-F238E27FC236}">
                <a16:creationId xmlns:a16="http://schemas.microsoft.com/office/drawing/2014/main" id="{DB4708F7-0E0B-4774-928E-15C5CC5AC6D8}"/>
              </a:ext>
            </a:extLst>
          </p:cNvPr>
          <p:cNvSpPr>
            <a:spLocks xmlns:a="http://schemas.openxmlformats.org/drawingml/2006/main" noGrp="1"/>
          </p:cNvSpPr>
          <p:nvPr/>
        </p:nvSpPr>
        <p:spPr>
          <a:xfrm xmlns:a="http://schemas.openxmlformats.org/drawingml/2006/main">
            <a:off x="4429125" y="14287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1. Select a room and object</a:t>
            </a:r>
          </a:p>
        </p:txBody>
      </p:sp>
      <p:sp>
        <p:nvSpPr>
          <p:cNvPr id="5" name="Choose room_000–031, then select the robot">
            <a:extLst xmlns:a="http://schemas.openxmlformats.org/drawingml/2006/main">
              <a:ext uri="{FF2B5EF4-FFF2-40B4-BE49-F238E27FC236}">
                <a16:creationId xmlns:a16="http://schemas.microsoft.com/office/drawing/2014/main" id="{2AB49237-FC72-474A-A63D-CF48B052F0E5}"/>
              </a:ext>
            </a:extLst>
          </p:cNvPr>
          <p:cNvSpPr>
            <a:spLocks xmlns:a="http://schemas.openxmlformats.org/drawingml/2006/main" noGrp="1"/>
          </p:cNvSpPr>
          <p:nvPr/>
        </p:nvSpPr>
        <p:spPr>
          <a:xfrm xmlns:a="http://schemas.openxmlformats.org/drawingml/2006/main">
            <a:off x="4429125" y="188595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Choose room_000–031, then select the robot or tray.</a:t>
            </a:r>
          </a:p>
        </p:txBody>
      </p:sp>
      <p:sp>
        <p:nvSpPr>
          <p:cNvPr id="6" name="2. Edit through dialogue or controls">
            <a:extLst xmlns:a="http://schemas.openxmlformats.org/drawingml/2006/main">
              <a:ext uri="{FF2B5EF4-FFF2-40B4-BE49-F238E27FC236}">
                <a16:creationId xmlns:a16="http://schemas.microsoft.com/office/drawing/2014/main" id="{B38A6EB2-FFD6-4DEF-9346-AE15243C02CF}"/>
              </a:ext>
            </a:extLst>
          </p:cNvPr>
          <p:cNvSpPr>
            <a:spLocks xmlns:a="http://schemas.openxmlformats.org/drawingml/2006/main" noGrp="1"/>
          </p:cNvSpPr>
          <p:nvPr/>
        </p:nvSpPr>
        <p:spPr>
          <a:xfrm xmlns:a="http://schemas.openxmlformats.org/drawingml/2006/main">
            <a:off x="4429125" y="285750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2. Edit through dialogue or controls</a:t>
            </a:r>
          </a:p>
        </p:txBody>
      </p:sp>
      <p:sp>
        <p:nvSpPr>
          <p:cNvPr id="7" name="For example: “Make the tray blue.” Check t">
            <a:extLst xmlns:a="http://schemas.openxmlformats.org/drawingml/2006/main">
              <a:ext uri="{FF2B5EF4-FFF2-40B4-BE49-F238E27FC236}">
                <a16:creationId xmlns:a16="http://schemas.microsoft.com/office/drawing/2014/main" id="{7F6E952D-029B-4887-98BE-A75D29DECB8D}"/>
              </a:ext>
            </a:extLst>
          </p:cNvPr>
          <p:cNvSpPr>
            <a:spLocks xmlns:a="http://schemas.openxmlformats.org/drawingml/2006/main" noGrp="1"/>
          </p:cNvSpPr>
          <p:nvPr/>
        </p:nvSpPr>
        <p:spPr>
          <a:xfrm xmlns:a="http://schemas.openxmlformats.org/drawingml/2006/main">
            <a:off x="4429125" y="331470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For example: “Make the tray blue.” Check the pose, color and edit scope in the preview.</a:t>
            </a:r>
          </a:p>
        </p:txBody>
      </p:sp>
      <p:sp>
        <p:nvSpPr>
          <p:cNvPr id="8" name="3. Save a version and submit">
            <a:extLst xmlns:a="http://schemas.openxmlformats.org/drawingml/2006/main">
              <a:ext uri="{FF2B5EF4-FFF2-40B4-BE49-F238E27FC236}">
                <a16:creationId xmlns:a16="http://schemas.microsoft.com/office/drawing/2014/main" id="{8F1E5CD7-E9F8-451A-9972-B88724410EE3}"/>
              </a:ext>
            </a:extLst>
          </p:cNvPr>
          <p:cNvSpPr>
            <a:spLocks xmlns:a="http://schemas.openxmlformats.org/drawingml/2006/main" noGrp="1"/>
          </p:cNvSpPr>
          <p:nvPr/>
        </p:nvSpPr>
        <p:spPr>
          <a:xfrm xmlns:a="http://schemas.openxmlformats.org/drawingml/2006/main">
            <a:off x="4429125" y="42862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3. Save a version and submit</a:t>
            </a:r>
          </a:p>
        </p:txBody>
      </p:sp>
      <p:sp>
        <p:nvSpPr>
          <p:cNvPr id="9" name="Synchronize the saved draft to the GPU. Na">
            <a:extLst xmlns:a="http://schemas.openxmlformats.org/drawingml/2006/main">
              <a:ext uri="{FF2B5EF4-FFF2-40B4-BE49-F238E27FC236}">
                <a16:creationId xmlns:a16="http://schemas.microsoft.com/office/drawing/2014/main" id="{A4E2BE92-BFF3-45DF-87DB-44A73010BF83}"/>
              </a:ext>
            </a:extLst>
          </p:cNvPr>
          <p:cNvSpPr>
            <a:spLocks xmlns:a="http://schemas.openxmlformats.org/drawingml/2006/main" noGrp="1"/>
          </p:cNvSpPr>
          <p:nvPr/>
        </p:nvSpPr>
        <p:spPr>
          <a:xfrm xmlns:a="http://schemas.openxmlformats.org/drawingml/2006/main">
            <a:off x="4429125" y="474345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Synchronize the saved draft to the GPU. Native adaptation and physical qualification precede data collection.</a:t>
            </a:r>
          </a:p>
        </p:txBody>
      </p:sp>
    </p:spTree>
    <p:extLst>
      <p:ext uri="{BB962C8B-B14F-4D97-AF65-F5344CB8AC3E}">
        <p14:creationId xmlns:p14="http://schemas.microsoft.com/office/powerpoint/2010/main" val="252745203"/>
      </p:ext>
    </p:extLst>
  </p:cSld>
</p:sld>
</file>

<file path=ppt/slides/slide9.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Website: train, evaluate and export result">
            <a:extLst xmlns:a="http://schemas.openxmlformats.org/drawingml/2006/main">
              <a:ext uri="{FF2B5EF4-FFF2-40B4-BE49-F238E27FC236}">
                <a16:creationId xmlns:a16="http://schemas.microsoft.com/office/drawing/2014/main" id="{C675DAD5-0A4C-4BAE-BC60-CD43E2D6A391}"/>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train, evaluate and export results</a:t>
            </a:r>
          </a:p>
        </p:txBody>
      </p:sp>
      <p:sp>
        <p:nvSpPr>
          <p:cNvPr id="2" name="09">
            <a:extLst xmlns:a="http://schemas.openxmlformats.org/drawingml/2006/main">
              <a:ext uri="{FF2B5EF4-FFF2-40B4-BE49-F238E27FC236}">
                <a16:creationId xmlns:a16="http://schemas.microsoft.com/office/drawing/2014/main" id="{691B0D81-243D-4062-B610-DE75081DD16B}"/>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09</a:t>
            </a:r>
          </a:p>
        </p:txBody>
      </p:sp>
      <p:sp>
        <p:nvSpPr>
          <p:cNvPr id="3" name="Configure training">
            <a:extLst xmlns:a="http://schemas.openxmlformats.org/drawingml/2006/main">
              <a:ext uri="{FF2B5EF4-FFF2-40B4-BE49-F238E27FC236}">
                <a16:creationId xmlns:a16="http://schemas.microsoft.com/office/drawing/2014/main" id="{700A98D8-341C-44C0-9EAF-B27F28FBBDC8}"/>
              </a:ext>
            </a:extLst>
          </p:cNvPr>
          <p:cNvSpPr>
            <a:spLocks xmlns:a="http://schemas.openxmlformats.org/drawingml/2006/main" noGrp="1"/>
          </p:cNvSpPr>
          <p:nvPr/>
        </p:nvSpPr>
        <p:spPr>
          <a:xfrm xmlns:a="http://schemas.openxmlformats.org/drawingml/2006/main">
            <a:off x="533400" y="14287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Configure training</a:t>
            </a:r>
          </a:p>
        </p:txBody>
      </p:sp>
      <p:sp>
        <p:nvSpPr>
          <p:cNvPr id="4" name="Choose registered data, real/sim sampling ">
            <a:extLst xmlns:a="http://schemas.openxmlformats.org/drawingml/2006/main">
              <a:ext uri="{FF2B5EF4-FFF2-40B4-BE49-F238E27FC236}">
                <a16:creationId xmlns:a16="http://schemas.microsoft.com/office/drawing/2014/main" id="{E2BC3753-1286-49B9-B008-FFB9B61E1EFF}"/>
              </a:ext>
            </a:extLst>
          </p:cNvPr>
          <p:cNvSpPr>
            <a:spLocks xmlns:a="http://schemas.openxmlformats.org/drawingml/2006/main" noGrp="1"/>
          </p:cNvSpPr>
          <p:nvPr/>
        </p:nvSpPr>
        <p:spPr>
          <a:xfrm xmlns:a="http://schemas.openxmlformats.org/drawingml/2006/main">
            <a:off x="533400" y="19526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579"/>
                </a:solidFill>
                <a:latin typeface="Arial"/>
                <a:ea typeface="Arial"/>
                <a:cs typeface="Arial"/>
              </a:defRPr>
            </a:defPPr>
          </a:lstStyle>
          <a:p xmlns:a="http://schemas.openxmlformats.org/drawingml/2006/main">
            <a:pPr>
              <a:defRPr sz="2025" b="0">
                <a:solidFill>
                  <a:srgbClr val="526579"/>
                </a:solidFill>
                <a:latin typeface="Arial"/>
                <a:ea typeface="Arial"/>
                <a:cs typeface="Arial"/>
              </a:defRPr>
            </a:pPr>
            <a:r>
              <a:rPr sz="2025" b="0">
                <a:solidFill>
                  <a:srgbClr val="526579"/>
                </a:solidFill>
                <a:latin typeface="Arial"/>
                <a:ea typeface="Arial"/>
                <a:cs typeface="Arial"/>
              </a:rPr>
              <a:t>Choose registered data, real/sim sampling ratio and update budget. Track updates, checkpoints and stage-specific ETA.</a:t>
            </a:r>
          </a:p>
        </p:txBody>
      </p:sp>
      <p:sp>
        <p:nvSpPr>
          <p:cNvPr id="5" name="Read and export MSE">
            <a:extLst xmlns:a="http://schemas.openxmlformats.org/drawingml/2006/main">
              <a:ext uri="{FF2B5EF4-FFF2-40B4-BE49-F238E27FC236}">
                <a16:creationId xmlns:a16="http://schemas.microsoft.com/office/drawing/2014/main" id="{DF144413-43D4-4292-AE1F-6D534F23F3C0}"/>
              </a:ext>
            </a:extLst>
          </p:cNvPr>
          <p:cNvSpPr>
            <a:spLocks xmlns:a="http://schemas.openxmlformats.org/drawingml/2006/main" noGrp="1"/>
          </p:cNvSpPr>
          <p:nvPr/>
        </p:nvSpPr>
        <p:spPr>
          <a:xfrm xmlns:a="http://schemas.openxmlformats.org/drawingml/2006/main">
            <a:off x="533400" y="35242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Read and export MSE</a:t>
            </a:r>
          </a:p>
        </p:txBody>
      </p:sp>
      <p:sp>
        <p:nvSpPr>
          <p:cNvPr id="6" name="Data &amp; training → Evaluation &amp; MSE → Real ">
            <a:extLst xmlns:a="http://schemas.openxmlformats.org/drawingml/2006/main">
              <a:ext uri="{FF2B5EF4-FFF2-40B4-BE49-F238E27FC236}">
                <a16:creationId xmlns:a16="http://schemas.microsoft.com/office/drawing/2014/main" id="{C7A4C9B8-64DC-4807-9A26-ED99BF921095}"/>
              </a:ext>
            </a:extLst>
          </p:cNvPr>
          <p:cNvSpPr>
            <a:spLocks xmlns:a="http://schemas.openxmlformats.org/drawingml/2006/main" noGrp="1"/>
          </p:cNvSpPr>
          <p:nvPr/>
        </p:nvSpPr>
        <p:spPr>
          <a:xfrm xmlns:a="http://schemas.openxmlformats.org/drawingml/2006/main">
            <a:off x="533400" y="4048125"/>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9"/>
                </a:solidFill>
                <a:latin typeface="Arial"/>
                <a:ea typeface="Arial"/>
                <a:cs typeface="Arial"/>
              </a:defRPr>
            </a:defPPr>
          </a:lstStyle>
          <a:p xmlns:a="http://schemas.openxmlformats.org/drawingml/2006/main">
            <a:pPr>
              <a:defRPr sz="1950" b="0">
                <a:solidFill>
                  <a:srgbClr val="526579"/>
                </a:solidFill>
                <a:latin typeface="Arial"/>
                <a:ea typeface="Arial"/>
                <a:cs typeface="Arial"/>
              </a:defRPr>
            </a:pPr>
            <a:r>
              <a:rPr sz="1950" b="0">
                <a:solidFill>
                  <a:srgbClr val="526579"/>
                </a:solidFill>
                <a:latin typeface="Arial"/>
                <a:ea typeface="Arial"/>
                <a:cs typeface="Arial"/>
              </a:rPr>
              <a:t>Data &amp; training → Evaluation &amp; MSE → Real TEST MSE.</a:t>
            </a:r>
          </a:p>
          <a:p xmlns:a="http://schemas.openxmlformats.org/drawingml/2006/main">
            <a:r>
              <a:t/>
            </a:r>
          </a:p>
          <a:p xmlns:a="http://schemas.openxmlformats.org/drawingml/2006/main">
            <a:pPr>
              <a:defRPr sz="1950" b="0">
                <a:solidFill>
                  <a:srgbClr val="526579"/>
                </a:solidFill>
                <a:latin typeface="Arial"/>
                <a:ea typeface="Arial"/>
                <a:cs typeface="Arial"/>
              </a:defRPr>
            </a:pPr>
            <a:r>
              <a:rPr sz="1950" b="0">
                <a:solidFill>
                  <a:srgbClr val="526579"/>
                </a:solidFill>
                <a:latin typeface="Arial"/>
                <a:ea typeface="Arial"/>
                <a:cs typeface="Arial"/>
              </a:rPr>
              <a:t>Use Figure to select joint bars or episode traces; download PNG, CSV or ZIP.</a:t>
            </a:r>
          </a:p>
        </p:txBody>
      </p:sp>
      <p:pic>
        <p:nvPicPr>
          <p:cNvPr id="7" name="">
            <a:extLst xmlns:a="http://schemas.openxmlformats.org/drawingml/2006/main">
              <a:ext uri="{FF2B5EF4-FFF2-40B4-BE49-F238E27FC236}">
                <a16:creationId xmlns:a16="http://schemas.microsoft.com/office/drawing/2014/main" id="{9AD3B018-0263-4538-A7A5-6969BA4A0946}"/>
              </a:ext>
            </a:extLst>
          </p:cNvPr>
          <p:cNvPicPr>
            <a:picLocks xmlns:a="http://schemas.openxmlformats.org/drawingml/2006/main" noChangeAspect="1"/>
          </p:cNvPicPr>
          <p:nvPr/>
        </p:nvPicPr>
        <p:blipFill>
          <a:blip xmlns:r="http://schemas.openxmlformats.org/officeDocument/2006/relationships" xmlns:a="http://schemas.openxmlformats.org/drawingml/2006/main" r:embed="R6185e33281704074"/>
          <a:stretch xmlns:a="http://schemas.openxmlformats.org/drawingml/2006/main"/>
        </p:blipFill>
        <p:spPr>
          <a:xfrm xmlns:a="http://schemas.openxmlformats.org/drawingml/2006/main">
            <a:off x="6191250" y="2213372"/>
            <a:ext cx="5467350" cy="2050256"/>
          </a:xfrm>
          <a:prstGeom xmlns:a="http://schemas.openxmlformats.org/drawingml/2006/main" prst="rect">
            <a:avLst/>
          </a:prstGeom>
        </p:spPr>
      </p:pic>
      <p:sp>
        <p:nvSpPr>
          <p:cNvPr id="8" name="Final-checkpoint automatic evaluation">
            <a:extLst xmlns:a="http://schemas.openxmlformats.org/drawingml/2006/main">
              <a:ext uri="{FF2B5EF4-FFF2-40B4-BE49-F238E27FC236}">
                <a16:creationId xmlns:a16="http://schemas.microsoft.com/office/drawing/2014/main" id="{1D608DCE-101B-43F7-8E73-45C3C2975336}"/>
              </a:ext>
            </a:extLst>
          </p:cNvPr>
          <p:cNvSpPr>
            <a:spLocks xmlns:a="http://schemas.openxmlformats.org/drawingml/2006/main" noGrp="1"/>
          </p:cNvSpPr>
          <p:nvPr/>
        </p:nvSpPr>
        <p:spPr>
          <a:xfrm xmlns:a="http://schemas.openxmlformats.org/drawingml/2006/main">
            <a:off x="6191250" y="5143500"/>
            <a:ext cx="5467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2667BA"/>
                </a:solidFill>
                <a:latin typeface="Arial"/>
                <a:ea typeface="Arial"/>
                <a:cs typeface="Arial"/>
              </a:defRPr>
            </a:defPPr>
          </a:lstStyle>
          <a:p xmlns:a="http://schemas.openxmlformats.org/drawingml/2006/main">
            <a:pPr>
              <a:defRPr sz="1950" b="1">
                <a:solidFill>
                  <a:srgbClr val="2667BA"/>
                </a:solidFill>
                <a:latin typeface="Arial"/>
                <a:ea typeface="Arial"/>
                <a:cs typeface="Arial"/>
              </a:defRPr>
            </a:pPr>
            <a:r>
              <a:rPr sz="1950" b="1">
                <a:solidFill>
                  <a:srgbClr val="2667BA"/>
                </a:solidFill>
                <a:latin typeface="Arial"/>
                <a:ea typeface="Arial"/>
                <a:cs typeface="Arial"/>
              </a:rPr>
              <a:t>Final-checkpoint automatic evaluation</a:t>
            </a:r>
          </a:p>
        </p:txBody>
      </p:sp>
      <p:sp>
        <p:nvSpPr>
          <p:cNvPr id="9" name="The latest 50/50 MSE and 32-room VLA jobs ">
            <a:extLst xmlns:a="http://schemas.openxmlformats.org/drawingml/2006/main">
              <a:ext uri="{FF2B5EF4-FFF2-40B4-BE49-F238E27FC236}">
                <a16:creationId xmlns:a16="http://schemas.microsoft.com/office/drawing/2014/main" id="{2BDF098D-F318-47AC-AFEB-B6DE40F580DB}"/>
              </a:ext>
            </a:extLst>
          </p:cNvPr>
          <p:cNvSpPr>
            <a:spLocks xmlns:a="http://schemas.openxmlformats.org/drawingml/2006/main" noGrp="1"/>
          </p:cNvSpPr>
          <p:nvPr/>
        </p:nvSpPr>
        <p:spPr>
          <a:xfrm xmlns:a="http://schemas.openxmlformats.org/drawingml/2006/main">
            <a:off x="6191250" y="5572125"/>
            <a:ext cx="5467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The latest 50/50 MSE and 32-room VLA jobs have finished. Their outcomes are reported separately.</a:t>
            </a:r>
          </a:p>
        </p:txBody>
      </p:sp>
    </p:spTree>
    <p:extLst>
      <p:ext uri="{BB962C8B-B14F-4D97-AF65-F5344CB8AC3E}">
        <p14:creationId xmlns:p14="http://schemas.microsoft.com/office/powerpoint/2010/main" val="1158509144"/>
      </p:ext>
    </p:extLst>
  </p:cSld>
</p:sld>
</file>

<file path=ppt/slides/slide10.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5" name="Website: run one policy and inspect its be">
            <a:extLst xmlns:a="http://schemas.openxmlformats.org/drawingml/2006/main">
              <a:ext uri="{FF2B5EF4-FFF2-40B4-BE49-F238E27FC236}">
                <a16:creationId xmlns:a16="http://schemas.microsoft.com/office/drawing/2014/main" id="{CB3AD0B6-836B-4E4C-A658-C813E95A2AD8}"/>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run one policy and inspect its behavior</a:t>
            </a:r>
          </a:p>
        </p:txBody>
      </p:sp>
      <p:sp>
        <p:nvSpPr>
          <p:cNvPr id="2" name="10">
            <a:extLst xmlns:a="http://schemas.openxmlformats.org/drawingml/2006/main">
              <a:ext uri="{FF2B5EF4-FFF2-40B4-BE49-F238E27FC236}">
                <a16:creationId xmlns:a16="http://schemas.microsoft.com/office/drawing/2014/main" id="{35B2EB6B-0C15-44C9-B297-AF0D31A01C83}"/>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A49BE065-CA5B-48E4-B074-EA291E989FBD}"/>
              </a:ext>
            </a:extLst>
          </p:cNvPr>
          <p:cNvPicPr>
            <a:picLocks xmlns:a="http://schemas.openxmlformats.org/drawingml/2006/main" noChangeAspect="1"/>
          </p:cNvPicPr>
          <p:nvPr/>
        </p:nvPicPr>
        <p:blipFill>
          <a:blip xmlns:r="http://schemas.openxmlformats.org/officeDocument/2006/relationships" xmlns:a="http://schemas.openxmlformats.org/drawingml/2006/main" r:embed="R4c643234a35b4a30"/>
          <a:srcRect xmlns:a="http://schemas.openxmlformats.org/drawingml/2006/main" l="27083" t="35584" r="5208" b="3377"/>
          <a:stretch xmlns:a="http://schemas.openxmlformats.org/drawingml/2006/main"/>
        </p:blipFill>
        <p:spPr>
          <a:xfrm xmlns:a="http://schemas.openxmlformats.org/drawingml/2006/main">
            <a:off x="533400" y="1428750"/>
            <a:ext cx="6572250" cy="2971800"/>
          </a:xfrm>
          <a:prstGeom xmlns:a="http://schemas.openxmlformats.org/drawingml/2006/main" prst="rect">
            <a:avLst/>
          </a:prstGeom>
        </p:spPr>
      </p:pic>
      <p:sp>
        <p:nvSpPr>
          <p:cNvPr id="4" name="Measured PhysX poses on the website geomet">
            <a:extLst xmlns:a="http://schemas.openxmlformats.org/drawingml/2006/main">
              <a:ext uri="{FF2B5EF4-FFF2-40B4-BE49-F238E27FC236}">
                <a16:creationId xmlns:a16="http://schemas.microsoft.com/office/drawing/2014/main" id="{88175804-4179-4C07-A00E-41CC241A0457}"/>
              </a:ext>
            </a:extLst>
          </p:cNvPr>
          <p:cNvSpPr>
            <a:spLocks xmlns:a="http://schemas.openxmlformats.org/drawingml/2006/main" noGrp="1"/>
          </p:cNvSpPr>
          <p:nvPr/>
        </p:nvSpPr>
        <p:spPr>
          <a:xfrm xmlns:a="http://schemas.openxmlformats.org/drawingml/2006/main">
            <a:off x="533400" y="45529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579"/>
                </a:solidFill>
                <a:latin typeface="Arial"/>
                <a:ea typeface="Arial"/>
                <a:cs typeface="Arial"/>
              </a:defRPr>
            </a:defPPr>
          </a:lstStyle>
          <a:p xmlns:a="http://schemas.openxmlformats.org/drawingml/2006/main">
            <a:pPr>
              <a:defRPr sz="1650" b="0">
                <a:solidFill>
                  <a:srgbClr val="526579"/>
                </a:solidFill>
                <a:latin typeface="Arial"/>
                <a:ea typeface="Arial"/>
                <a:cs typeface="Arial"/>
              </a:defRPr>
            </a:pPr>
            <a:r>
              <a:rPr sz="1650" b="0">
                <a:solidFill>
                  <a:srgbClr val="526579"/>
                </a:solidFill>
                <a:latin typeface="Arial"/>
                <a:ea typeface="Arial"/>
                <a:cs typeface="Arial"/>
              </a:rPr>
              <a:t>Measured PhysX poses on the website geometry</a:t>
            </a:r>
          </a:p>
        </p:txBody>
      </p:sp>
      <p:sp>
        <p:nvSpPr>
          <p:cNvPr id="5" name="Select">
            <a:extLst xmlns:a="http://schemas.openxmlformats.org/drawingml/2006/main">
              <a:ext uri="{FF2B5EF4-FFF2-40B4-BE49-F238E27FC236}">
                <a16:creationId xmlns:a16="http://schemas.microsoft.com/office/drawing/2014/main" id="{48F1EAEB-EA37-4B62-A909-890E1A636580}"/>
              </a:ext>
            </a:extLst>
          </p:cNvPr>
          <p:cNvSpPr>
            <a:spLocks xmlns:a="http://schemas.openxmlformats.org/drawingml/2006/main" noGrp="1"/>
          </p:cNvSpPr>
          <p:nvPr/>
        </p:nvSpPr>
        <p:spPr>
          <a:xfrm xmlns:a="http://schemas.openxmlformats.org/drawingml/2006/main">
            <a:off x="7524750" y="14287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Select</a:t>
            </a:r>
          </a:p>
        </p:txBody>
      </p:sp>
      <p:sp>
        <p:nvSpPr>
          <p:cNvPr id="6" name="Policy evaluation → room + checkpoint">
            <a:extLst xmlns:a="http://schemas.openxmlformats.org/drawingml/2006/main">
              <a:ext uri="{FF2B5EF4-FFF2-40B4-BE49-F238E27FC236}">
                <a16:creationId xmlns:a16="http://schemas.microsoft.com/office/drawing/2014/main" id="{74055EC4-20E3-4BEF-8E69-EB430BE41B59}"/>
              </a:ext>
            </a:extLst>
          </p:cNvPr>
          <p:cNvSpPr>
            <a:spLocks xmlns:a="http://schemas.openxmlformats.org/drawingml/2006/main" noGrp="1"/>
          </p:cNvSpPr>
          <p:nvPr/>
        </p:nvSpPr>
        <p:spPr>
          <a:xfrm xmlns:a="http://schemas.openxmlformats.org/drawingml/2006/main">
            <a:off x="7524750" y="180975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Policy evaluation → room + checkpoint</a:t>
            </a:r>
          </a:p>
        </p:txBody>
      </p:sp>
      <p:sp>
        <p:nvSpPr>
          <p:cNvPr id="7" name="Configure">
            <a:extLst xmlns:a="http://schemas.openxmlformats.org/drawingml/2006/main">
              <a:ext uri="{FF2B5EF4-FFF2-40B4-BE49-F238E27FC236}">
                <a16:creationId xmlns:a16="http://schemas.microsoft.com/office/drawing/2014/main" id="{26321103-A91B-4D9B-81CB-31976A078760}"/>
              </a:ext>
            </a:extLst>
          </p:cNvPr>
          <p:cNvSpPr>
            <a:spLocks xmlns:a="http://schemas.openxmlformats.org/drawingml/2006/main" noGrp="1"/>
          </p:cNvSpPr>
          <p:nvPr/>
        </p:nvSpPr>
        <p:spPr>
          <a:xfrm xmlns:a="http://schemas.openxmlformats.org/drawingml/2006/main">
            <a:off x="7524750" y="2476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Configure</a:t>
            </a:r>
          </a:p>
        </p:txBody>
      </p:sp>
      <p:sp>
        <p:nvSpPr>
          <p:cNvPr id="8" name="1–120 s simulation budget; action handling">
            <a:extLst xmlns:a="http://schemas.openxmlformats.org/drawingml/2006/main">
              <a:ext uri="{FF2B5EF4-FFF2-40B4-BE49-F238E27FC236}">
                <a16:creationId xmlns:a16="http://schemas.microsoft.com/office/drawing/2014/main" id="{7DA3F667-D904-47E5-B316-65E308332392}"/>
              </a:ext>
            </a:extLst>
          </p:cNvPr>
          <p:cNvSpPr>
            <a:spLocks xmlns:a="http://schemas.openxmlformats.org/drawingml/2006/main" noGrp="1"/>
          </p:cNvSpPr>
          <p:nvPr/>
        </p:nvSpPr>
        <p:spPr>
          <a:xfrm xmlns:a="http://schemas.openxmlformats.org/drawingml/2006/main">
            <a:off x="7524750" y="28575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1–120 s simulation budget; action handling</a:t>
            </a:r>
          </a:p>
        </p:txBody>
      </p:sp>
      <p:sp>
        <p:nvSpPr>
          <p:cNvPr id="9" name="Observe">
            <a:extLst xmlns:a="http://schemas.openxmlformats.org/drawingml/2006/main">
              <a:ext uri="{FF2B5EF4-FFF2-40B4-BE49-F238E27FC236}">
                <a16:creationId xmlns:a16="http://schemas.microsoft.com/office/drawing/2014/main" id="{55AE0537-1BF3-40B5-87B3-AC7E1BF6276B}"/>
              </a:ext>
            </a:extLst>
          </p:cNvPr>
          <p:cNvSpPr>
            <a:spLocks xmlns:a="http://schemas.openxmlformats.org/drawingml/2006/main" noGrp="1"/>
          </p:cNvSpPr>
          <p:nvPr/>
        </p:nvSpPr>
        <p:spPr>
          <a:xfrm xmlns:a="http://schemas.openxmlformats.org/drawingml/2006/main">
            <a:off x="7524750" y="35242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Observe</a:t>
            </a:r>
          </a:p>
        </p:txBody>
      </p:sp>
      <p:sp>
        <p:nvSpPr>
          <p:cNvPr id="10" name="Measured 3D, four cameras and model latenc">
            <a:extLst xmlns:a="http://schemas.openxmlformats.org/drawingml/2006/main">
              <a:ext uri="{FF2B5EF4-FFF2-40B4-BE49-F238E27FC236}">
                <a16:creationId xmlns:a16="http://schemas.microsoft.com/office/drawing/2014/main" id="{349AB9ED-B3FC-47FD-A101-34E95D5B9AFC}"/>
              </a:ext>
            </a:extLst>
          </p:cNvPr>
          <p:cNvSpPr>
            <a:spLocks xmlns:a="http://schemas.openxmlformats.org/drawingml/2006/main" noGrp="1"/>
          </p:cNvSpPr>
          <p:nvPr/>
        </p:nvSpPr>
        <p:spPr>
          <a:xfrm xmlns:a="http://schemas.openxmlformats.org/drawingml/2006/main">
            <a:off x="7524750" y="390525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Measured 3D, four cameras and model latency</a:t>
            </a:r>
          </a:p>
        </p:txBody>
      </p:sp>
      <p:sp>
        <p:nvSpPr>
          <p:cNvPr id="11" name="Inspect">
            <a:extLst xmlns:a="http://schemas.openxmlformats.org/drawingml/2006/main">
              <a:ext uri="{FF2B5EF4-FFF2-40B4-BE49-F238E27FC236}">
                <a16:creationId xmlns:a16="http://schemas.microsoft.com/office/drawing/2014/main" id="{49AD5133-B8F6-40CF-B268-EFB808F0E859}"/>
              </a:ext>
            </a:extLst>
          </p:cNvPr>
          <p:cNvSpPr>
            <a:spLocks xmlns:a="http://schemas.openxmlformats.org/drawingml/2006/main" noGrp="1"/>
          </p:cNvSpPr>
          <p:nvPr/>
        </p:nvSpPr>
        <p:spPr>
          <a:xfrm xmlns:a="http://schemas.openxmlformats.org/drawingml/2006/main">
            <a:off x="7524750" y="4572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Inspect</a:t>
            </a:r>
          </a:p>
        </p:txBody>
      </p:sp>
      <p:sp>
        <p:nvSpPr>
          <p:cNvPr id="12" name="Stop reason, executed frames and per-run f">
            <a:extLst xmlns:a="http://schemas.openxmlformats.org/drawingml/2006/main">
              <a:ext uri="{FF2B5EF4-FFF2-40B4-BE49-F238E27FC236}">
                <a16:creationId xmlns:a16="http://schemas.microsoft.com/office/drawing/2014/main" id="{8AFFC8BE-562C-4038-9312-AA76315B8EBD}"/>
              </a:ext>
            </a:extLst>
          </p:cNvPr>
          <p:cNvSpPr>
            <a:spLocks xmlns:a="http://schemas.openxmlformats.org/drawingml/2006/main" noGrp="1"/>
          </p:cNvSpPr>
          <p:nvPr/>
        </p:nvSpPr>
        <p:spPr>
          <a:xfrm xmlns:a="http://schemas.openxmlformats.org/drawingml/2006/main">
            <a:off x="7524750" y="49530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Stop reason, executed frames and per-run files</a:t>
            </a:r>
          </a:p>
        </p:txBody>
      </p:sp>
      <p:sp>
        <p:nvSpPr>
          <p:cNvPr id="13" name="Simulation time excludes inference waits. ">
            <a:extLst xmlns:a="http://schemas.openxmlformats.org/drawingml/2006/main">
              <a:ext uri="{FF2B5EF4-FFF2-40B4-BE49-F238E27FC236}">
                <a16:creationId xmlns:a16="http://schemas.microsoft.com/office/drawing/2014/main" id="{B0AFB677-05E4-49CC-8056-03B74BABF63A}"/>
              </a:ext>
            </a:extLst>
          </p:cNvPr>
          <p:cNvSpPr>
            <a:spLocks xmlns:a="http://schemas.openxmlformats.org/drawingml/2006/main" noGrp="1"/>
          </p:cNvSpPr>
          <p:nvPr/>
        </p:nvSpPr>
        <p:spPr>
          <a:xfrm xmlns:a="http://schemas.openxmlformats.org/drawingml/2006/main">
            <a:off x="533400" y="5286375"/>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Simulation time excludes inference waits. Wall time is reported independently.</a:t>
            </a:r>
          </a:p>
        </p:txBody>
      </p:sp>
      <p:sp>
        <p:nvSpPr>
          <p:cNvPr id="14" name="Latest workstation default: Robot limits. ">
            <a:extLst xmlns:a="http://schemas.openxmlformats.org/drawingml/2006/main">
              <a:ext uri="{FF2B5EF4-FFF2-40B4-BE49-F238E27FC236}">
                <a16:creationId xmlns:a16="http://schemas.microsoft.com/office/drawing/2014/main" id="{DE2CF0CF-9B5D-40E4-AF32-81B048A5EB39}"/>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Latest workstation default: Robot limits. Strict and limit-clipped modes remain explicit choices.</a:t>
            </a:r>
          </a:p>
        </p:txBody>
      </p:sp>
    </p:spTree>
    <p:extLst>
      <p:ext uri="{BB962C8B-B14F-4D97-AF65-F5344CB8AC3E}">
        <p14:creationId xmlns:p14="http://schemas.microsoft.com/office/powerpoint/2010/main" val="1980544631"/>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5F6F3"/>
        </a:solidFill>
      </p:bgPr>
    </p:bg>
    <p:spTree>
      <p:nvGrpSpPr>
        <p:cNvPr id="1" name=""/>
        <p:cNvGrpSpPr/>
        <p:nvPr/>
      </p:nvGrpSpPr>
      <p:grpSpPr>
        <a:xfrm/>
      </p:grpSpPr>
      <p:sp>
        <p:nvSpPr>
          <p:cNvPr id="5" name="Demo: scene editing and physical Pick / Pl">
            <a:extLst>
              <a:ext uri="{FF2B5EF4-FFF2-40B4-BE49-F238E27FC236}">
                <ns2:creationId id="{E24F888C-DBAA-45F5-AFC7-CEB0AC3C8F25}"/>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142334"/>
                </a:solidFill>
                <a:latin typeface="Arial"/>
                <a:ea typeface="Arial"/>
                <a:cs typeface="Arial"/>
              </a:defRPr>
            </a:defPPr>
          </a:lstStyle>
          <a:p>
            <a:pPr>
              <a:defRPr sz="3225" b="1">
                <a:solidFill>
                  <a:srgbClr val="142334"/>
                </a:solidFill>
                <a:latin typeface="Arial"/>
                <a:ea typeface="Arial"/>
                <a:cs typeface="Arial"/>
              </a:defRPr>
            </a:pPr>
            <a:r>
              <a:rPr sz="3225" b="1">
                <a:solidFill>
                  <a:srgbClr val="142334"/>
                </a:solidFill>
                <a:latin typeface="Arial"/>
                <a:ea typeface="Arial"/>
                <a:cs typeface="Arial"/>
              </a:rPr>
              <a:t>Demo: scene editing and physical Pick / Place</a:t>
            </a:r>
          </a:p>
        </p:txBody>
      </p:sp>
      <p:sp>
        <p:nvSpPr>
          <p:cNvPr id="2" name="11">
            <a:extLst>
              <a:ext uri="{FF2B5EF4-FFF2-40B4-BE49-F238E27FC236}">
                <ns2:creationId id="{733734D4-6982-4359-99B4-4BF79BBDF907}"/>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526579"/>
                </a:solidFill>
                <a:latin typeface="Arial"/>
                <a:ea typeface="Arial"/>
                <a:cs typeface="Arial"/>
              </a:defRPr>
            </a:defPPr>
          </a:lstStyle>
          <a:p>
            <a:pPr>
              <a:defRPr sz="1200" b="0">
                <a:solidFill>
                  <a:srgbClr val="526579"/>
                </a:solidFill>
                <a:latin typeface="Arial"/>
                <a:ea typeface="Arial"/>
                <a:cs typeface="Arial"/>
              </a:defRPr>
            </a:pPr>
            <a:r>
              <a:rPr sz="1200" b="0">
                <a:solidFill>
                  <a:srgbClr val="526579"/>
                </a:solidFill>
                <a:latin typeface="Arial"/>
                <a:ea typeface="Arial"/>
                <a:cs typeface="Arial"/>
              </a:rPr>
              <a:t>11</a:t>
            </a:r>
          </a:p>
        </p:txBody>
      </p:sp>
      <p:pic>
        <p:nvPicPr>
          <p:cNvPr id="3" name="demo_english.mp4" descr="VIDEO_POSTER_DEMO">
            <a:extLst>
              <a:ext uri="{FF2B5EF4-FFF2-40B4-BE49-F238E27FC236}">
                <ns2:creationId id="{FB088006-323C-41E2-B4F5-225065F8461E}"/>
              </a:ext>
            </a:extLst>
            <a:hlinkClick action="ppaction://media"/>
          </p:cNvPr>
          <p:cNvPicPr>
            <a:picLocks noChangeAspect="1"/>
          </p:cNvPicPr>
          <p:nvPr>
            <a:videoFile r:link="rIdPresentationVideo"/>
            <p:extLst>
              <p:ext uri="{DAA4B4D4-6D71-4841-9C94-3DE7FCFB9230}">
                <p14:media r:embed="rIdPresentationMedia"/>
              </p:ext>
            </p:extLst>
          </p:nvPr>
        </p:nvPicPr>
        <p:blipFill>
          <a:blip r:embed="Rfea93c2bf0634fd7"/>
          <a:stretch/>
        </p:blipFill>
        <p:spPr>
          <a:xfrm>
            <a:off x="1735667" y="1190625"/>
            <a:ext cx="8720667" cy="4905375"/>
          </a:xfrm>
          <a:prstGeom prst="rect">
            <a:avLst/>
          </a:prstGeom>
        </p:spPr>
      </p:pic>
      <p:sp>
        <p:nvSpPr>
          <p:cNvPr id="4" name="Click the video in Slide Show. English cap">
            <a:extLst>
              <a:ext uri="{FF2B5EF4-FFF2-40B4-BE49-F238E27FC236}">
                <ns2:creationId id="{F6879AE7-305C-4B0E-8A4B-54F51A344A65}"/>
              </a:ext>
            </a:extLst>
          </p:cNvPr>
          <p:cNvSpPr>
            <a:spLocks noGrp="1"/>
          </p:cNvSpPr>
          <p:nvPr/>
        </p:nvSpPr>
        <p:spPr>
          <a:xfrm>
            <a:off x="533400" y="6219825"/>
            <a:ext cx="10620375" cy="381000"/>
          </a:xfrm>
          <a:prstGeom prst="rect">
            <a:avLst/>
          </a:prstGeom>
          <a:noFill/>
          <a:ln w="0">
            <a:noFill/>
          </a:ln>
        </p:spPr>
        <p:txBody>
          <a:bodyPr wrap="square" lIns="0" tIns="0" rIns="0" bIns="0" anchor="t">
            <a:noAutofit/>
          </a:bodyPr>
          <a:lstStyle>
            <a:defPPr>
              <a:defRPr sz="1275" b="0">
                <a:solidFill>
                  <a:srgbClr val="526579"/>
                </a:solidFill>
                <a:latin typeface="Arial"/>
                <a:ea typeface="Arial"/>
                <a:cs typeface="Arial"/>
              </a:defRPr>
            </a:defPPr>
          </a:lstStyle>
          <a:p>
            <a:pPr>
              <a:defRPr sz="1275" b="0">
                <a:solidFill>
                  <a:srgbClr val="526579"/>
                </a:solidFill>
                <a:latin typeface="Arial"/>
                <a:ea typeface="Arial"/>
                <a:cs typeface="Arial"/>
              </a:defRPr>
            </a:pPr>
            <a:r>
              <a:rPr sz="1275" b="0">
                <a:solidFill>
                  <a:srgbClr val="526579"/>
                </a:solidFill>
                <a:latin typeface="Arial"/>
                <a:ea typeface="Arial"/>
                <a:cs typeface="Arial"/>
              </a:rPr>
              <a:t>Click the video in Slide Show. English captions identify scene previews and expert-controlled physics.</a:t>
            </a:r>
          </a:p>
        </p:txBody>
      </p:sp>
    </p:spTree>
    <p:extLst>
      <p:ext uri="{BB962C8B-B14F-4D97-AF65-F5344CB8AC3E}">
        <p14:creationId val="14230887"/>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21" name="32 rooms share one physics clock">
            <a:extLst xmlns:a="http://schemas.openxmlformats.org/drawingml/2006/main">
              <a:ext uri="{FF2B5EF4-FFF2-40B4-BE49-F238E27FC236}">
                <a16:creationId xmlns:a16="http://schemas.microsoft.com/office/drawing/2014/main" id="{19E41FC4-CB90-4CFB-AD31-DCC2D7EA6AF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32 rooms share one physics clock</a:t>
            </a:r>
          </a:p>
        </p:txBody>
      </p:sp>
      <p:sp>
        <p:nvSpPr>
          <p:cNvPr id="2" name="12">
            <a:extLst xmlns:a="http://schemas.openxmlformats.org/drawingml/2006/main">
              <a:ext uri="{FF2B5EF4-FFF2-40B4-BE49-F238E27FC236}">
                <a16:creationId xmlns:a16="http://schemas.microsoft.com/office/drawing/2014/main" id="{79226E0B-4AC4-46AB-AEF2-AAB7E0C18174}"/>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6EBD6B5-CA54-4E51-8BC1-2FA20503B02A}"/>
              </a:ext>
            </a:extLst>
          </p:cNvPr>
          <p:cNvSpPr>
            <a:spLocks xmlns:a="http://schemas.openxmlformats.org/drawingml/2006/main" noGrp="1"/>
          </p:cNvSpPr>
          <p:nvPr/>
        </p:nvSpPr>
        <p:spPr>
          <a:xfrm xmlns:a="http://schemas.openxmlformats.org/drawingml/2006/main">
            <a:off x="53340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Initialize">
            <a:extLst xmlns:a="http://schemas.openxmlformats.org/drawingml/2006/main">
              <a:ext uri="{FF2B5EF4-FFF2-40B4-BE49-F238E27FC236}">
                <a16:creationId xmlns:a16="http://schemas.microsoft.com/office/drawing/2014/main" id="{461CBC0F-F175-43A6-85B1-68E61C1A26C4}"/>
              </a:ext>
            </a:extLst>
          </p:cNvPr>
          <p:cNvSpPr>
            <a:spLocks xmlns:a="http://schemas.openxmlformats.org/drawingml/2006/main" noGrp="1"/>
          </p:cNvSpPr>
          <p:nvPr/>
        </p:nvSpPr>
        <p:spPr>
          <a:xfrm xmlns:a="http://schemas.openxmlformats.org/drawingml/2006/main">
            <a:off x="72390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Initialize</a:t>
            </a:r>
          </a:p>
        </p:txBody>
      </p:sp>
      <p:sp>
        <p:nvSpPr>
          <p:cNvPr id="5" name="Registered initial&#10;states and seeds">
            <a:extLst xmlns:a="http://schemas.openxmlformats.org/drawingml/2006/main">
              <a:ext uri="{FF2B5EF4-FFF2-40B4-BE49-F238E27FC236}">
                <a16:creationId xmlns:a16="http://schemas.microsoft.com/office/drawing/2014/main" id="{C8D21940-B512-4B81-BBF7-AA4143511237}"/>
              </a:ext>
            </a:extLst>
          </p:cNvPr>
          <p:cNvSpPr>
            <a:spLocks xmlns:a="http://schemas.openxmlformats.org/drawingml/2006/main" noGrp="1"/>
          </p:cNvSpPr>
          <p:nvPr/>
        </p:nvSpPr>
        <p:spPr>
          <a:xfrm xmlns:a="http://schemas.openxmlformats.org/drawingml/2006/main">
            <a:off x="72390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Registered initial</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states and seeds</a:t>
            </a:r>
          </a:p>
        </p:txBody>
      </p:sp>
      <p:sp>
        <p:nvSpPr>
          <p:cNvPr id="6" name="">
            <a:extLst xmlns:a="http://schemas.openxmlformats.org/drawingml/2006/main">
              <a:ext uri="{FF2B5EF4-FFF2-40B4-BE49-F238E27FC236}">
                <a16:creationId xmlns:a16="http://schemas.microsoft.com/office/drawing/2014/main" id="{689DD6BD-B93E-4264-A2D2-15A535F59795}"/>
              </a:ext>
            </a:extLst>
          </p:cNvPr>
          <p:cNvSpPr>
            <a:spLocks xmlns:a="http://schemas.openxmlformats.org/drawingml/2006/main" noGrp="1"/>
          </p:cNvSpPr>
          <p:nvPr/>
        </p:nvSpPr>
        <p:spPr>
          <a:xfrm xmlns:a="http://schemas.openxmlformats.org/drawingml/2006/main">
            <a:off x="309562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A504B3-9CE0-4455-BE29-A591C448F888}"/>
              </a:ext>
            </a:extLst>
          </p:cNvPr>
          <p:cNvSpPr>
            <a:spLocks xmlns:a="http://schemas.openxmlformats.org/drawingml/2006/main" noGrp="1"/>
          </p:cNvSpPr>
          <p:nvPr/>
        </p:nvSpPr>
        <p:spPr>
          <a:xfrm xmlns:a="http://schemas.openxmlformats.org/drawingml/2006/main">
            <a:off x="340995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Control">
            <a:extLst xmlns:a="http://schemas.openxmlformats.org/drawingml/2006/main">
              <a:ext uri="{FF2B5EF4-FFF2-40B4-BE49-F238E27FC236}">
                <a16:creationId xmlns:a16="http://schemas.microsoft.com/office/drawing/2014/main" id="{7B088A58-0532-4B66-8B4E-7B06D8D32600}"/>
              </a:ext>
            </a:extLst>
          </p:cNvPr>
          <p:cNvSpPr>
            <a:spLocks xmlns:a="http://schemas.openxmlformats.org/drawingml/2006/main" noGrp="1"/>
          </p:cNvSpPr>
          <p:nvPr/>
        </p:nvSpPr>
        <p:spPr>
          <a:xfrm xmlns:a="http://schemas.openxmlformats.org/drawingml/2006/main">
            <a:off x="360045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Control</a:t>
            </a:r>
          </a:p>
        </p:txBody>
      </p:sp>
      <p:sp>
        <p:nvSpPr>
          <p:cNvPr id="9" name="Independent targets&#10;for each room">
            <a:extLst xmlns:a="http://schemas.openxmlformats.org/drawingml/2006/main">
              <a:ext uri="{FF2B5EF4-FFF2-40B4-BE49-F238E27FC236}">
                <a16:creationId xmlns:a16="http://schemas.microsoft.com/office/drawing/2014/main" id="{146A2FF5-DFBF-466E-ABA2-8C4B7D265813}"/>
              </a:ext>
            </a:extLst>
          </p:cNvPr>
          <p:cNvSpPr>
            <a:spLocks xmlns:a="http://schemas.openxmlformats.org/drawingml/2006/main" noGrp="1"/>
          </p:cNvSpPr>
          <p:nvPr/>
        </p:nvSpPr>
        <p:spPr>
          <a:xfrm xmlns:a="http://schemas.openxmlformats.org/drawingml/2006/main">
            <a:off x="360045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Independent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for each room</a:t>
            </a:r>
          </a:p>
        </p:txBody>
      </p:sp>
      <p:sp>
        <p:nvSpPr>
          <p:cNvPr id="10" name="">
            <a:extLst xmlns:a="http://schemas.openxmlformats.org/drawingml/2006/main">
              <a:ext uri="{FF2B5EF4-FFF2-40B4-BE49-F238E27FC236}">
                <a16:creationId xmlns:a16="http://schemas.microsoft.com/office/drawing/2014/main" id="{B8488E44-82E2-442F-B8F8-FEA5B43F4F35}"/>
              </a:ext>
            </a:extLst>
          </p:cNvPr>
          <p:cNvSpPr>
            <a:spLocks xmlns:a="http://schemas.openxmlformats.org/drawingml/2006/main" noGrp="1"/>
          </p:cNvSpPr>
          <p:nvPr/>
        </p:nvSpPr>
        <p:spPr>
          <a:xfrm xmlns:a="http://schemas.openxmlformats.org/drawingml/2006/main">
            <a:off x="597217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FCBE143-8220-46DF-87F0-40D23E2D17AC}"/>
              </a:ext>
            </a:extLst>
          </p:cNvPr>
          <p:cNvSpPr>
            <a:spLocks xmlns:a="http://schemas.openxmlformats.org/drawingml/2006/main" noGrp="1"/>
          </p:cNvSpPr>
          <p:nvPr/>
        </p:nvSpPr>
        <p:spPr>
          <a:xfrm xmlns:a="http://schemas.openxmlformats.org/drawingml/2006/main">
            <a:off x="628650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Advance">
            <a:extLst xmlns:a="http://schemas.openxmlformats.org/drawingml/2006/main">
              <a:ext uri="{FF2B5EF4-FFF2-40B4-BE49-F238E27FC236}">
                <a16:creationId xmlns:a16="http://schemas.microsoft.com/office/drawing/2014/main" id="{ED32F952-9384-4734-8A1E-97310BFBD3E1}"/>
              </a:ext>
            </a:extLst>
          </p:cNvPr>
          <p:cNvSpPr>
            <a:spLocks xmlns:a="http://schemas.openxmlformats.org/drawingml/2006/main" noGrp="1"/>
          </p:cNvSpPr>
          <p:nvPr/>
        </p:nvSpPr>
        <p:spPr>
          <a:xfrm xmlns:a="http://schemas.openxmlformats.org/drawingml/2006/main">
            <a:off x="647700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Advance</a:t>
            </a:r>
          </a:p>
        </p:txBody>
      </p:sp>
      <p:sp>
        <p:nvSpPr>
          <p:cNvPr id="13" name="One engine runs&#10;25 shared substeps">
            <a:extLst xmlns:a="http://schemas.openxmlformats.org/drawingml/2006/main">
              <a:ext uri="{FF2B5EF4-FFF2-40B4-BE49-F238E27FC236}">
                <a16:creationId xmlns:a16="http://schemas.microsoft.com/office/drawing/2014/main" id="{27302309-A211-4B8D-8C5A-9B385DB2F325}"/>
              </a:ext>
            </a:extLst>
          </p:cNvPr>
          <p:cNvSpPr>
            <a:spLocks xmlns:a="http://schemas.openxmlformats.org/drawingml/2006/main" noGrp="1"/>
          </p:cNvSpPr>
          <p:nvPr/>
        </p:nvSpPr>
        <p:spPr>
          <a:xfrm xmlns:a="http://schemas.openxmlformats.org/drawingml/2006/main">
            <a:off x="647700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One engine runs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25 shared substeps</a:t>
            </a:r>
          </a:p>
        </p:txBody>
      </p:sp>
      <p:sp>
        <p:nvSpPr>
          <p:cNvPr id="14" name="">
            <a:extLst xmlns:a="http://schemas.openxmlformats.org/drawingml/2006/main">
              <a:ext uri="{FF2B5EF4-FFF2-40B4-BE49-F238E27FC236}">
                <a16:creationId xmlns:a16="http://schemas.microsoft.com/office/drawing/2014/main" id="{11293DAD-1A8A-4C70-8A9B-F3DFE1BCEA10}"/>
              </a:ext>
            </a:extLst>
          </p:cNvPr>
          <p:cNvSpPr>
            <a:spLocks xmlns:a="http://schemas.openxmlformats.org/drawingml/2006/main" noGrp="1"/>
          </p:cNvSpPr>
          <p:nvPr/>
        </p:nvSpPr>
        <p:spPr>
          <a:xfrm xmlns:a="http://schemas.openxmlformats.org/drawingml/2006/main">
            <a:off x="884872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958573-2C38-4434-B76B-CDE1F03E8AAF}"/>
              </a:ext>
            </a:extLst>
          </p:cNvPr>
          <p:cNvSpPr>
            <a:spLocks xmlns:a="http://schemas.openxmlformats.org/drawingml/2006/main" noGrp="1"/>
          </p:cNvSpPr>
          <p:nvPr/>
        </p:nvSpPr>
        <p:spPr>
          <a:xfrm xmlns:a="http://schemas.openxmlformats.org/drawingml/2006/main">
            <a:off x="916305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6" name="Qualify">
            <a:extLst xmlns:a="http://schemas.openxmlformats.org/drawingml/2006/main">
              <a:ext uri="{FF2B5EF4-FFF2-40B4-BE49-F238E27FC236}">
                <a16:creationId xmlns:a16="http://schemas.microsoft.com/office/drawing/2014/main" id="{9E58688A-56BE-4880-BE46-D5256782B2DF}"/>
              </a:ext>
            </a:extLst>
          </p:cNvPr>
          <p:cNvSpPr>
            <a:spLocks xmlns:a="http://schemas.openxmlformats.org/drawingml/2006/main" noGrp="1"/>
          </p:cNvSpPr>
          <p:nvPr/>
        </p:nvSpPr>
        <p:spPr>
          <a:xfrm xmlns:a="http://schemas.openxmlformats.org/drawingml/2006/main">
            <a:off x="935355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Qualify</a:t>
            </a:r>
          </a:p>
        </p:txBody>
      </p:sp>
      <p:sp>
        <p:nvSpPr>
          <p:cNvPr id="17" name="Close trajectories&#10;and media per room">
            <a:extLst xmlns:a="http://schemas.openxmlformats.org/drawingml/2006/main">
              <a:ext uri="{FF2B5EF4-FFF2-40B4-BE49-F238E27FC236}">
                <a16:creationId xmlns:a16="http://schemas.microsoft.com/office/drawing/2014/main" id="{91830CA2-8F62-41D6-913E-EAE87FD2EB9A}"/>
              </a:ext>
            </a:extLst>
          </p:cNvPr>
          <p:cNvSpPr>
            <a:spLocks xmlns:a="http://schemas.openxmlformats.org/drawingml/2006/main" noGrp="1"/>
          </p:cNvSpPr>
          <p:nvPr/>
        </p:nvSpPr>
        <p:spPr>
          <a:xfrm xmlns:a="http://schemas.openxmlformats.org/drawingml/2006/main">
            <a:off x="935355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Close trajectories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media per room</a:t>
            </a:r>
          </a:p>
        </p:txBody>
      </p:sp>
      <p:pic>
        <p:nvPicPr>
          <p:cNvPr id="18" name="">
            <a:extLst xmlns:a="http://schemas.openxmlformats.org/drawingml/2006/main">
              <a:ext uri="{FF2B5EF4-FFF2-40B4-BE49-F238E27FC236}">
                <a16:creationId xmlns:a16="http://schemas.microsoft.com/office/drawing/2014/main" id="{0DDA3D01-4D41-40EE-BEC3-589FC59B6B22}"/>
              </a:ext>
            </a:extLst>
          </p:cNvPr>
          <p:cNvPicPr>
            <a:picLocks xmlns:a="http://schemas.openxmlformats.org/drawingml/2006/main" noChangeAspect="1"/>
          </p:cNvPicPr>
          <p:nvPr/>
        </p:nvPicPr>
        <p:blipFill>
          <a:blip xmlns:r="http://schemas.openxmlformats.org/officeDocument/2006/relationships" xmlns:a="http://schemas.openxmlformats.org/drawingml/2006/main" r:embed="R32eac4b39cfc4ae5"/>
          <a:stretch xmlns:a="http://schemas.openxmlformats.org/drawingml/2006/main"/>
        </p:blipFill>
        <p:spPr>
          <a:xfrm xmlns:a="http://schemas.openxmlformats.org/drawingml/2006/main">
            <a:off x="1470025" y="3905250"/>
            <a:ext cx="3556000" cy="2000250"/>
          </a:xfrm>
          <a:prstGeom xmlns:a="http://schemas.openxmlformats.org/drawingml/2006/main" prst="rect">
            <a:avLst/>
          </a:prstGeom>
        </p:spPr>
      </p:pic>
      <p:sp>
        <p:nvSpPr>
          <p:cNvPr id="19" name="Preserve completion and failure evidence.&#10;">
            <a:extLst xmlns:a="http://schemas.openxmlformats.org/drawingml/2006/main">
              <a:ext uri="{FF2B5EF4-FFF2-40B4-BE49-F238E27FC236}">
                <a16:creationId xmlns:a16="http://schemas.microsoft.com/office/drawing/2014/main" id="{AE3E249A-F6B5-4039-8560-90A5A8D7C039}"/>
              </a:ext>
            </a:extLst>
          </p:cNvPr>
          <p:cNvSpPr>
            <a:spLocks xmlns:a="http://schemas.openxmlformats.org/drawingml/2006/main" noGrp="1"/>
          </p:cNvSpPr>
          <p:nvPr/>
        </p:nvSpPr>
        <p:spPr>
          <a:xfrm xmlns:a="http://schemas.openxmlformats.org/drawingml/2006/main">
            <a:off x="6477000" y="42672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34"/>
                </a:solidFill>
                <a:latin typeface="Arial"/>
                <a:ea typeface="Arial"/>
                <a:cs typeface="Arial"/>
              </a:defRPr>
            </a:defPPr>
          </a:lstStyle>
          <a:p xmlns:a="http://schemas.openxmlformats.org/drawingml/2006/main">
            <a:pPr>
              <a:defRPr sz="2250" b="0">
                <a:solidFill>
                  <a:srgbClr val="142334"/>
                </a:solidFill>
                <a:latin typeface="Arial"/>
                <a:ea typeface="Arial"/>
                <a:cs typeface="Arial"/>
              </a:defRPr>
            </a:pPr>
            <a:r>
              <a:rPr sz="2250" b="0">
                <a:solidFill>
                  <a:srgbClr val="142334"/>
                </a:solidFill>
                <a:latin typeface="Arial"/>
                <a:ea typeface="Arial"/>
                <a:cs typeface="Arial"/>
              </a:rPr>
              <a:t>Preserve completion and failure evidence.</a:t>
            </a:r>
          </a:p>
          <a:p xmlns:a="http://schemas.openxmlformats.org/drawingml/2006/main">
            <a:pPr>
              <a:defRPr sz="2250" b="0">
                <a:solidFill>
                  <a:srgbClr val="142334"/>
                </a:solidFill>
                <a:latin typeface="Arial"/>
                <a:ea typeface="Arial"/>
                <a:cs typeface="Arial"/>
              </a:defRPr>
            </a:pPr>
            <a:r>
              <a:rPr sz="2250" b="0">
                <a:solidFill>
                  <a:srgbClr val="142334"/>
                </a:solidFill>
                <a:latin typeface="Arial"/>
                <a:ea typeface="Arial"/>
                <a:cs typeface="Arial"/>
              </a:rPr>
              <a:t>Freeze only qualified complete sources.</a:t>
            </a:r>
          </a:p>
        </p:txBody>
      </p:sp>
      <p:sp>
        <p:nvSpPr>
          <p:cNvPr id="20" name="32 room instances do not equal 32 independ">
            <a:extLst xmlns:a="http://schemas.openxmlformats.org/drawingml/2006/main">
              <a:ext uri="{FF2B5EF4-FFF2-40B4-BE49-F238E27FC236}">
                <a16:creationId xmlns:a16="http://schemas.microsoft.com/office/drawing/2014/main" id="{6BBBB82B-7506-4953-A4C5-C0A78AEC0108}"/>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32 room instances do not equal 32 independent training/test scenes.</a:t>
            </a:r>
          </a:p>
        </p:txBody>
      </p:sp>
    </p:spTree>
    <p:extLst>
      <p:ext uri="{BB962C8B-B14F-4D97-AF65-F5344CB8AC3E}">
        <p14:creationId xmlns:p14="http://schemas.microsoft.com/office/powerpoint/2010/main" val="1064230290"/>
      </p:ext>
    </p:extLst>
  </p:cSld>
</p:sld>
</file>

<file path=ppt/slides/slide1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Qualification preserves the physical evide">
            <a:extLst xmlns:a="http://schemas.openxmlformats.org/drawingml/2006/main">
              <a:ext uri="{FF2B5EF4-FFF2-40B4-BE49-F238E27FC236}">
                <a16:creationId xmlns:a16="http://schemas.microsoft.com/office/drawing/2014/main" id="{620E6384-9291-4294-BE90-1F355F2438D2}"/>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Qualification preserves the physical evidence</a:t>
            </a:r>
          </a:p>
        </p:txBody>
      </p:sp>
      <p:sp>
        <p:nvSpPr>
          <p:cNvPr id="2" name="13">
            <a:extLst xmlns:a="http://schemas.openxmlformats.org/drawingml/2006/main">
              <a:ext uri="{FF2B5EF4-FFF2-40B4-BE49-F238E27FC236}">
                <a16:creationId xmlns:a16="http://schemas.microsoft.com/office/drawing/2014/main" id="{0FC92A9A-125A-4E8F-A2F5-D9DED6EB5DFB}"/>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3AEBF774-58AB-4611-9473-C6EB81B1DF76}"/>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381250"/>
                <a:gridCol w="8743950"/>
              </a:tblGrid>
              <a:tr h="682625">
                <a:tc>
                  <a:txBody>
                    <a:bodyPr lIns="114300" tIns="114300" rIns="114300" bIns="114300"/>
                    <a:lstStyle/>
                    <a:p>
                      <a:r>
                        <a:rPr sz="1725" b="1">
                          <a:solidFill>
                            <a:srgbClr val="142334"/>
                          </a:solidFill>
                          <a:latin typeface="Arial"/>
                          <a:ea typeface="Arial"/>
                          <a:cs typeface="Arial"/>
                        </a:rPr>
                        <a:t>Stage</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Evidence retained</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725" b="0">
                          <a:solidFill>
                            <a:srgbClr val="142334"/>
                          </a:solidFill>
                          <a:latin typeface="Arial"/>
                          <a:ea typeface="Arial"/>
                          <a:cs typeface="Arial"/>
                        </a:rPr>
                        <a:t>Pick</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Opposite-edge bilateral contact, lift and table clearance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Place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Continuous end state, low release and stable support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Timing and media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N actions, N+1 states, native video and actual exit status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Provenance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Parent-scene split, camera identity and frozen manifest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Failed attempts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Original logs and media remain outside training</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One complete Pick/Place source yields two ">
            <a:extLst xmlns:a="http://schemas.openxmlformats.org/drawingml/2006/main">
              <a:ext uri="{FF2B5EF4-FFF2-40B4-BE49-F238E27FC236}">
                <a16:creationId xmlns:a16="http://schemas.microsoft.com/office/drawing/2014/main" id="{70F06DF2-5775-4772-B518-43990DA46CBF}"/>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One complete Pick/Place source yields two action segments. Camera files are not additional sources.</a:t>
            </a:r>
          </a:p>
        </p:txBody>
      </p:sp>
    </p:spTree>
    <p:extLst>
      <p:ext uri="{BB962C8B-B14F-4D97-AF65-F5344CB8AC3E}">
        <p14:creationId xmlns:p14="http://schemas.microsoft.com/office/powerpoint/2010/main" val="1965095316"/>
      </p:ext>
    </p:extLst>
  </p:cSld>
</p:sld>
</file>

<file path=ppt/slides/slide1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Data inventory and split isolation">
            <a:extLst xmlns:a="http://schemas.openxmlformats.org/drawingml/2006/main">
              <a:ext uri="{FF2B5EF4-FFF2-40B4-BE49-F238E27FC236}">
                <a16:creationId xmlns:a16="http://schemas.microsoft.com/office/drawing/2014/main" id="{52F410C1-49A6-44A3-9233-AE4864CB274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Data inventory and split isolation</a:t>
            </a:r>
          </a:p>
        </p:txBody>
      </p:sp>
      <p:sp>
        <p:nvSpPr>
          <p:cNvPr id="2" name="14">
            <a:extLst xmlns:a="http://schemas.openxmlformats.org/drawingml/2006/main">
              <a:ext uri="{FF2B5EF4-FFF2-40B4-BE49-F238E27FC236}">
                <a16:creationId xmlns:a16="http://schemas.microsoft.com/office/drawing/2014/main" id="{2A54046A-5D5C-40F3-83BF-AB9D0F793D16}"/>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769AD20F-F268-435A-A7DF-3701DE9DDEBD}"/>
              </a:ext>
            </a:extLst>
          </p:cNvPr>
          <p:cNvGraphicFramePr/>
          <p:nvPr/>
        </p:nvGraphicFramePr>
        <p:xfrm>
          <a:off xmlns:a="http://schemas.openxmlformats.org/drawingml/2006/main" x="533400" y="1619250"/>
          <a:ext xmlns:a="http://schemas.openxmlformats.org/drawingml/2006/main" cx="11125200" cy="3286125"/>
        </p:xfrm>
        <a:graphic xmlns:a="http://schemas.openxmlformats.org/drawingml/2006/main">
          <a:graphicData uri="http://schemas.openxmlformats.org/drawingml/2006/table">
            <a:tbl>
              <a:tblPr/>
              <a:tblGrid>
                <a:gridCol w="2619375"/>
                <a:gridCol w="2095500"/>
                <a:gridCol w="1762125"/>
                <a:gridCol w="1762125"/>
                <a:gridCol w="2886075"/>
              </a:tblGrid>
              <a:tr h="657225">
                <a:tc>
                  <a:txBody>
                    <a:bodyPr lIns="114300" tIns="114300" rIns="114300" bIns="114300"/>
                    <a:lstStyle/>
                    <a:p>
                      <a:r>
                        <a:rPr sz="1650" b="1">
                          <a:solidFill>
                            <a:srgbClr val="142334"/>
                          </a:solidFill>
                          <a:latin typeface="Arial"/>
                          <a:ea typeface="Arial"/>
                          <a:cs typeface="Arial"/>
                        </a:rPr>
                        <a:t>Data domain</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Train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Val</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Test</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Role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57225">
                <a:tc>
                  <a:txBody>
                    <a:bodyPr lIns="114300" tIns="114300" rIns="114300" bIns="114300"/>
                    <a:lstStyle/>
                    <a:p>
                      <a:r>
                        <a:rPr sz="1650" b="0">
                          <a:solidFill>
                            <a:srgbClr val="142334"/>
                          </a:solidFill>
                          <a:latin typeface="Arial"/>
                          <a:ea typeface="Arial"/>
                          <a:cs typeface="Arial"/>
                        </a:rPr>
                        <a:t>Real demonstrations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102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13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19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Train + fixed evaluation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57225">
                <a:tc>
                  <a:txBody>
                    <a:bodyPr lIns="114300" tIns="114300" rIns="114300" bIns="114300"/>
                    <a:lstStyle/>
                    <a:p>
                      <a:r>
                        <a:rPr sz="1650" b="0">
                          <a:solidFill>
                            <a:srgbClr val="142334"/>
                          </a:solidFill>
                          <a:latin typeface="Arial"/>
                          <a:ea typeface="Arial"/>
                          <a:cs typeface="Arial"/>
                        </a:rPr>
                        <a:t>New Isaac data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300 full pairs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600 action segments</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57225">
                <a:tc>
                  <a:txBody>
                    <a:bodyPr lIns="114300" tIns="114300" rIns="114300" bIns="114300"/>
                    <a:lstStyle/>
                    <a:p>
                      <a:r>
                        <a:rPr sz="1650" b="0">
                          <a:solidFill>
                            <a:srgbClr val="142334"/>
                          </a:solidFill>
                          <a:latin typeface="Arial"/>
                          <a:ea typeface="Arial"/>
                          <a:cs typeface="Arial"/>
                        </a:rPr>
                        <a:t>Earlier narrow / wide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30 + 29 pairs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Separate selectable version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57225">
                <a:tc>
                  <a:txBody>
                    <a:bodyPr lIns="114300" tIns="114300" rIns="114300" bIns="114300"/>
                    <a:lstStyle/>
                    <a:p>
                      <a:r>
                        <a:rPr sz="1650" b="0">
                          <a:solidFill>
                            <a:srgbClr val="142334"/>
                          </a:solidFill>
                          <a:latin typeface="Arial"/>
                          <a:ea typeface="Arial"/>
                          <a:cs typeface="Arial"/>
                        </a:rPr>
                        <a:t>Additional production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13 full pairs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Outside the frozen 300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bl>
          </a:graphicData>
        </a:graphic>
      </p:graphicFrame>
      <p:sp>
        <p:nvSpPr>
          <p:cNvPr id="4" name="Fit normalization and sampling weights usi">
            <a:extLst xmlns:a="http://schemas.openxmlformats.org/drawingml/2006/main">
              <a:ext uri="{FF2B5EF4-FFF2-40B4-BE49-F238E27FC236}">
                <a16:creationId xmlns:a16="http://schemas.microsoft.com/office/drawing/2014/main" id="{01D52654-6E21-44C2-8466-4F84FF57351D}"/>
              </a:ext>
            </a:extLst>
          </p:cNvPr>
          <p:cNvSpPr>
            <a:spLocks xmlns:a="http://schemas.openxmlformats.org/drawingml/2006/main" noGrp="1"/>
          </p:cNvSpPr>
          <p:nvPr/>
        </p:nvSpPr>
        <p:spPr>
          <a:xfrm xmlns:a="http://schemas.openxmlformats.org/drawingml/2006/main">
            <a:off x="533400" y="533400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67BA"/>
                </a:solidFill>
                <a:latin typeface="Arial"/>
                <a:ea typeface="Arial"/>
                <a:cs typeface="Arial"/>
              </a:defRPr>
            </a:defPPr>
          </a:lstStyle>
          <a:p xmlns:a="http://schemas.openxmlformats.org/drawingml/2006/main">
            <a:pPr>
              <a:defRPr sz="2175" b="1">
                <a:solidFill>
                  <a:srgbClr val="2667BA"/>
                </a:solidFill>
                <a:latin typeface="Arial"/>
                <a:ea typeface="Arial"/>
                <a:cs typeface="Arial"/>
              </a:defRPr>
            </a:pPr>
            <a:r>
              <a:rPr sz="2175" b="1">
                <a:solidFill>
                  <a:srgbClr val="2667BA"/>
                </a:solidFill>
                <a:latin typeface="Arial"/>
                <a:ea typeface="Arial"/>
                <a:cs typeface="Arial"/>
              </a:rPr>
              <a:t>Fit normalization and sampling weights using training data only.</a:t>
            </a:r>
          </a:p>
        </p:txBody>
      </p:sp>
    </p:spTree>
    <p:extLst>
      <p:ext uri="{BB962C8B-B14F-4D97-AF65-F5344CB8AC3E}">
        <p14:creationId xmlns:p14="http://schemas.microsoft.com/office/powerpoint/2010/main" val="1727617624"/>
      </p:ext>
    </p:extLst>
  </p:cSld>
</p:sld>
</file>

<file path=ppt/slides/slide15.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Mixed training with duration-weighted BC">
            <a:extLst xmlns:a="http://schemas.openxmlformats.org/drawingml/2006/main">
              <a:ext uri="{FF2B5EF4-FFF2-40B4-BE49-F238E27FC236}">
                <a16:creationId xmlns:a16="http://schemas.microsoft.com/office/drawing/2014/main" id="{A89D364C-F260-4CB4-8047-69573B23F03C}"/>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Mixed training with duration-weighted BC</a:t>
            </a:r>
          </a:p>
        </p:txBody>
      </p:sp>
      <p:sp>
        <p:nvSpPr>
          <p:cNvPr id="2" name="15">
            <a:extLst xmlns:a="http://schemas.openxmlformats.org/drawingml/2006/main">
              <a:ext uri="{FF2B5EF4-FFF2-40B4-BE49-F238E27FC236}">
                <a16:creationId xmlns:a16="http://schemas.microsoft.com/office/drawing/2014/main" id="{8EB90E37-1D6F-4991-A410-57CC8F46088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15</a:t>
            </a:r>
          </a:p>
        </p:txBody>
      </p:sp>
      <p:sp>
        <p:nvSpPr>
          <p:cNvPr id="3" name="Domain sampling ratio p">
            <a:extLst xmlns:a="http://schemas.openxmlformats.org/drawingml/2006/main">
              <a:ext uri="{FF2B5EF4-FFF2-40B4-BE49-F238E27FC236}">
                <a16:creationId xmlns:a16="http://schemas.microsoft.com/office/drawing/2014/main" id="{6A143E79-7894-4503-8A24-6772016EE14E}"/>
              </a:ext>
            </a:extLst>
          </p:cNvPr>
          <p:cNvSpPr>
            <a:spLocks xmlns:a="http://schemas.openxmlformats.org/drawingml/2006/main" noGrp="1"/>
          </p:cNvSpPr>
          <p:nvPr/>
        </p:nvSpPr>
        <p:spPr>
          <a:xfrm xmlns:a="http://schemas.openxmlformats.org/drawingml/2006/main">
            <a:off x="53340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Domain sampling ratio p</a:t>
            </a:r>
          </a:p>
        </p:txBody>
      </p:sp>
      <p:sp>
        <p:nvSpPr>
          <p:cNvPr id="4" name="Sample real data with probability p and si">
            <a:extLst xmlns:a="http://schemas.openxmlformats.org/drawingml/2006/main">
              <a:ext uri="{FF2B5EF4-FFF2-40B4-BE49-F238E27FC236}">
                <a16:creationId xmlns:a16="http://schemas.microsoft.com/office/drawing/2014/main" id="{F5529B74-EA42-426F-8F02-B6F868B3AFF1}"/>
              </a:ext>
            </a:extLst>
          </p:cNvPr>
          <p:cNvSpPr>
            <a:spLocks xmlns:a="http://schemas.openxmlformats.org/drawingml/2006/main" noGrp="1"/>
          </p:cNvSpPr>
          <p:nvPr/>
        </p:nvSpPr>
        <p:spPr>
          <a:xfrm xmlns:a="http://schemas.openxmlformats.org/drawingml/2006/main">
            <a:off x="533400" y="1838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Sample real data with probability p and simulation with 1−p. A domain at 0% contributes neither samples nor normalization data.</a:t>
            </a:r>
          </a:p>
        </p:txBody>
      </p:sp>
      <p:sp>
        <p:nvSpPr>
          <p:cNvPr id="5" name="Action and source sampling">
            <a:extLst xmlns:a="http://schemas.openxmlformats.org/drawingml/2006/main">
              <a:ext uri="{FF2B5EF4-FFF2-40B4-BE49-F238E27FC236}">
                <a16:creationId xmlns:a16="http://schemas.microsoft.com/office/drawing/2014/main" id="{3C277C4C-5139-4FD6-9F76-53DBB34AC8CF}"/>
              </a:ext>
            </a:extLst>
          </p:cNvPr>
          <p:cNvSpPr>
            <a:spLocks xmlns:a="http://schemas.openxmlformats.org/drawingml/2006/main" noGrp="1"/>
          </p:cNvSpPr>
          <p:nvPr/>
        </p:nvSpPr>
        <p:spPr>
          <a:xfrm xmlns:a="http://schemas.openxmlformats.org/drawingml/2006/main">
            <a:off x="533400" y="2762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Action and source sampling</a:t>
            </a:r>
          </a:p>
        </p:txBody>
      </p:sp>
      <p:sp>
        <p:nvSpPr>
          <p:cNvPr id="6" name="Balance Pick and Place within each domain.">
            <a:extLst xmlns:a="http://schemas.openxmlformats.org/drawingml/2006/main">
              <a:ext uri="{FF2B5EF4-FFF2-40B4-BE49-F238E27FC236}">
                <a16:creationId xmlns:a16="http://schemas.microsoft.com/office/drawing/2014/main" id="{A92F07FE-7D86-44B6-8A1E-50CA9F45FD47}"/>
              </a:ext>
            </a:extLst>
          </p:cNvPr>
          <p:cNvSpPr>
            <a:spLocks xmlns:a="http://schemas.openxmlformats.org/drawingml/2006/main" noGrp="1"/>
          </p:cNvSpPr>
          <p:nvPr/>
        </p:nvSpPr>
        <p:spPr>
          <a:xfrm xmlns:a="http://schemas.openxmlformats.org/drawingml/2006/main">
            <a:off x="533400" y="32194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Balance Pick and Place within each domain. Weight sources by bounded inverse duration, then sample frames uniformly within a source.</a:t>
            </a:r>
          </a:p>
        </p:txBody>
      </p:sp>
      <p:sp>
        <p:nvSpPr>
          <p:cNvPr id="7" name="w = clip(median(T) / T, 0.5, 2.0)">
            <a:extLst xmlns:a="http://schemas.openxmlformats.org/drawingml/2006/main">
              <a:ext uri="{FF2B5EF4-FFF2-40B4-BE49-F238E27FC236}">
                <a16:creationId xmlns:a16="http://schemas.microsoft.com/office/drawing/2014/main" id="{00BA2E91-8641-46F5-AE60-356640A81E67}"/>
              </a:ext>
            </a:extLst>
          </p:cNvPr>
          <p:cNvSpPr>
            <a:spLocks xmlns:a="http://schemas.openxmlformats.org/drawingml/2006/main" noGrp="1"/>
          </p:cNvSpPr>
          <p:nvPr/>
        </p:nvSpPr>
        <p:spPr>
          <a:xfrm xmlns:a="http://schemas.openxmlformats.org/drawingml/2006/main">
            <a:off x="533400" y="44291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2667BA"/>
                </a:solidFill>
                <a:latin typeface="Arial"/>
                <a:ea typeface="Arial"/>
                <a:cs typeface="Arial"/>
              </a:defRPr>
            </a:defPPr>
          </a:lstStyle>
          <a:p xmlns:a="http://schemas.openxmlformats.org/drawingml/2006/main">
            <a:pPr>
              <a:defRPr sz="2925" b="1">
                <a:solidFill>
                  <a:srgbClr val="2667BA"/>
                </a:solidFill>
                <a:latin typeface="Arial"/>
                <a:ea typeface="Arial"/>
                <a:cs typeface="Arial"/>
              </a:defRPr>
            </a:pPr>
            <a:r>
              <a:rPr sz="2925" b="1">
                <a:solidFill>
                  <a:srgbClr val="2667BA"/>
                </a:solidFill>
                <a:latin typeface="Arial"/>
                <a:ea typeface="Arial"/>
                <a:cs typeface="Arial"/>
              </a:rPr>
              <a:t>w = clip(median(T) / T, 0.5, 2.0)</a:t>
            </a:r>
          </a:p>
        </p:txBody>
      </p:sp>
      <p:sp>
        <p:nvSpPr>
          <p:cNvPr id="8" name="π0.5 LoRA     Batch 8     Horizon 20     1">
            <a:extLst xmlns:a="http://schemas.openxmlformats.org/drawingml/2006/main">
              <a:ext uri="{FF2B5EF4-FFF2-40B4-BE49-F238E27FC236}">
                <a16:creationId xmlns:a16="http://schemas.microsoft.com/office/drawing/2014/main" id="{13C7899E-E60F-4719-8F7C-36D020126A0A}"/>
              </a:ext>
            </a:extLst>
          </p:cNvPr>
          <p:cNvSpPr>
            <a:spLocks xmlns:a="http://schemas.openxmlformats.org/drawingml/2006/main" noGrp="1"/>
          </p:cNvSpPr>
          <p:nvPr/>
        </p:nvSpPr>
        <p:spPr>
          <a:xfrm xmlns:a="http://schemas.openxmlformats.org/drawingml/2006/main">
            <a:off x="533400" y="5381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334"/>
                </a:solidFill>
                <a:latin typeface="Arial"/>
                <a:ea typeface="Arial"/>
                <a:cs typeface="Arial"/>
              </a:defRPr>
            </a:defPPr>
          </a:lstStyle>
          <a:p xmlns:a="http://schemas.openxmlformats.org/drawingml/2006/main">
            <a:pPr>
              <a:defRPr sz="2100" b="0">
                <a:solidFill>
                  <a:srgbClr val="142334"/>
                </a:solidFill>
                <a:latin typeface="Arial"/>
                <a:ea typeface="Arial"/>
                <a:cs typeface="Arial"/>
              </a:defRPr>
            </a:pPr>
            <a:r>
              <a:rPr sz="2100" b="0">
                <a:solidFill>
                  <a:srgbClr val="142334"/>
                </a:solidFill>
                <a:latin typeface="Arial"/>
                <a:ea typeface="Arial"/>
                <a:cs typeface="Arial"/>
              </a:rPr>
              <a:t>π0.5 LoRA     Batch 8     Horizon 20     10,000 updates</a:t>
            </a:r>
          </a:p>
        </p:txBody>
      </p:sp>
      <p:sp>
        <p:nvSpPr>
          <p:cNvPr id="9" name="Sampling weights change source probabiliti">
            <a:extLst xmlns:a="http://schemas.openxmlformats.org/drawingml/2006/main">
              <a:ext uri="{FF2B5EF4-FFF2-40B4-BE49-F238E27FC236}">
                <a16:creationId xmlns:a16="http://schemas.microsoft.com/office/drawing/2014/main" id="{ECC26AAF-7EA4-4DBC-AF2F-C7A799417B80}"/>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Sampling weights change source probabilities. Recorded physical trajectories retain their original timing.</a:t>
            </a:r>
          </a:p>
        </p:txBody>
      </p:sp>
    </p:spTree>
    <p:extLst>
      <p:ext uri="{BB962C8B-B14F-4D97-AF65-F5344CB8AC3E}">
        <p14:creationId xmlns:p14="http://schemas.microsoft.com/office/powerpoint/2010/main" val="1744661223"/>
      </p:ext>
    </p:extLst>
  </p:cSld>
</p:sld>
</file>

<file path=ppt/slides/slide1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5" name="Sim2Real validation uses three evidence le">
            <a:extLst xmlns:a="http://schemas.openxmlformats.org/drawingml/2006/main">
              <a:ext uri="{FF2B5EF4-FFF2-40B4-BE49-F238E27FC236}">
                <a16:creationId xmlns:a16="http://schemas.microsoft.com/office/drawing/2014/main" id="{BD873621-534E-4044-BC65-7B9EA7A56F7D}"/>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Sim2Real validation uses three evidence levels</a:t>
            </a:r>
          </a:p>
        </p:txBody>
      </p:sp>
      <p:sp>
        <p:nvSpPr>
          <p:cNvPr id="2" name="16">
            <a:extLst xmlns:a="http://schemas.openxmlformats.org/drawingml/2006/main">
              <a:ext uri="{FF2B5EF4-FFF2-40B4-BE49-F238E27FC236}">
                <a16:creationId xmlns:a16="http://schemas.microsoft.com/office/drawing/2014/main" id="{976EC4CF-CEB9-4E72-8431-F994126551AD}"/>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39BE366C-E499-434A-BF8F-FE2AA4867760}"/>
              </a:ext>
            </a:extLst>
          </p:cNvPr>
          <p:cNvSpPr>
            <a:spLocks xmlns:a="http://schemas.openxmlformats.org/drawingml/2006/main" noGrp="1"/>
          </p:cNvSpPr>
          <p:nvPr/>
        </p:nvSpPr>
        <p:spPr>
          <a:xfrm xmlns:a="http://schemas.openxmlformats.org/drawingml/2006/main">
            <a:off x="533400"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Offline real-data test">
            <a:extLst xmlns:a="http://schemas.openxmlformats.org/drawingml/2006/main">
              <a:ext uri="{FF2B5EF4-FFF2-40B4-BE49-F238E27FC236}">
                <a16:creationId xmlns:a16="http://schemas.microsoft.com/office/drawing/2014/main" id="{5864F515-B282-4B02-A111-17DFD061BC3C}"/>
              </a:ext>
            </a:extLst>
          </p:cNvPr>
          <p:cNvSpPr>
            <a:spLocks xmlns:a="http://schemas.openxmlformats.org/drawingml/2006/main" noGrp="1"/>
          </p:cNvSpPr>
          <p:nvPr/>
        </p:nvSpPr>
        <p:spPr>
          <a:xfrm xmlns:a="http://schemas.openxmlformats.org/drawingml/2006/main">
            <a:off x="723900"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Offline real-data test</a:t>
            </a:r>
          </a:p>
        </p:txBody>
      </p:sp>
      <p:sp>
        <p:nvSpPr>
          <p:cNvPr id="5" name="Recorded observations&#10;Per-joint / gripper ">
            <a:extLst xmlns:a="http://schemas.openxmlformats.org/drawingml/2006/main">
              <a:ext uri="{FF2B5EF4-FFF2-40B4-BE49-F238E27FC236}">
                <a16:creationId xmlns:a16="http://schemas.microsoft.com/office/drawing/2014/main" id="{F8D3A48B-778C-4885-9184-72CBB3D83332}"/>
              </a:ext>
            </a:extLst>
          </p:cNvPr>
          <p:cNvSpPr>
            <a:spLocks xmlns:a="http://schemas.openxmlformats.org/drawingml/2006/main" noGrp="1"/>
          </p:cNvSpPr>
          <p:nvPr/>
        </p:nvSpPr>
        <p:spPr>
          <a:xfrm xmlns:a="http://schemas.openxmlformats.org/drawingml/2006/main">
            <a:off x="723900"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Recorded observations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Per-joint / gripper MSE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Prediction error analysis</a:t>
            </a:r>
          </a:p>
        </p:txBody>
      </p:sp>
      <p:sp>
        <p:nvSpPr>
          <p:cNvPr id="6" name="">
            <a:extLst xmlns:a="http://schemas.openxmlformats.org/drawingml/2006/main">
              <a:ext uri="{FF2B5EF4-FFF2-40B4-BE49-F238E27FC236}">
                <a16:creationId xmlns:a16="http://schemas.microsoft.com/office/drawing/2014/main" id="{369E0887-52EF-4906-BAF4-2B470EAC0918}"/>
              </a:ext>
            </a:extLst>
          </p:cNvPr>
          <p:cNvSpPr>
            <a:spLocks xmlns:a="http://schemas.openxmlformats.org/drawingml/2006/main" noGrp="1"/>
          </p:cNvSpPr>
          <p:nvPr/>
        </p:nvSpPr>
        <p:spPr>
          <a:xfrm xmlns:a="http://schemas.openxmlformats.org/drawingml/2006/main">
            <a:off x="3981450" y="3000375"/>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6D89332-F31B-4D84-B9CC-EF7384F38830}"/>
              </a:ext>
            </a:extLst>
          </p:cNvPr>
          <p:cNvSpPr>
            <a:spLocks xmlns:a="http://schemas.openxmlformats.org/drawingml/2006/main" noGrp="1"/>
          </p:cNvSpPr>
          <p:nvPr/>
        </p:nvSpPr>
        <p:spPr>
          <a:xfrm xmlns:a="http://schemas.openxmlformats.org/drawingml/2006/main">
            <a:off x="4429125"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Isaac policy rollout">
            <a:extLst xmlns:a="http://schemas.openxmlformats.org/drawingml/2006/main">
              <a:ext uri="{FF2B5EF4-FFF2-40B4-BE49-F238E27FC236}">
                <a16:creationId xmlns:a16="http://schemas.microsoft.com/office/drawing/2014/main" id="{BE27443A-6422-40C2-BBDC-CC3962E53013}"/>
              </a:ext>
            </a:extLst>
          </p:cNvPr>
          <p:cNvSpPr>
            <a:spLocks xmlns:a="http://schemas.openxmlformats.org/drawingml/2006/main" noGrp="1"/>
          </p:cNvSpPr>
          <p:nvPr/>
        </p:nvSpPr>
        <p:spPr>
          <a:xfrm xmlns:a="http://schemas.openxmlformats.org/drawingml/2006/main">
            <a:off x="4619625"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Isaac policy rollout</a:t>
            </a:r>
          </a:p>
        </p:txBody>
      </p:sp>
      <p:sp>
        <p:nvSpPr>
          <p:cNvPr id="9" name="Model drives physics&#10;No teacher or IK fall">
            <a:extLst xmlns:a="http://schemas.openxmlformats.org/drawingml/2006/main">
              <a:ext uri="{FF2B5EF4-FFF2-40B4-BE49-F238E27FC236}">
                <a16:creationId xmlns:a16="http://schemas.microsoft.com/office/drawing/2014/main" id="{70CDFC1B-2EBC-4917-A083-0B7FABA55F8B}"/>
              </a:ext>
            </a:extLst>
          </p:cNvPr>
          <p:cNvSpPr>
            <a:spLocks xmlns:a="http://schemas.openxmlformats.org/drawingml/2006/main" noGrp="1"/>
          </p:cNvSpPr>
          <p:nvPr/>
        </p:nvSpPr>
        <p:spPr>
          <a:xfrm xmlns:a="http://schemas.openxmlformats.org/drawingml/2006/main">
            <a:off x="4619625"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Model drives physics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No teacher or IK fallback</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Independent task audit</a:t>
            </a:r>
          </a:p>
        </p:txBody>
      </p:sp>
      <p:sp>
        <p:nvSpPr>
          <p:cNvPr id="10" name="">
            <a:extLst xmlns:a="http://schemas.openxmlformats.org/drawingml/2006/main">
              <a:ext uri="{FF2B5EF4-FFF2-40B4-BE49-F238E27FC236}">
                <a16:creationId xmlns:a16="http://schemas.microsoft.com/office/drawing/2014/main" id="{7708E030-1176-4D85-9E53-AA49D04018EA}"/>
              </a:ext>
            </a:extLst>
          </p:cNvPr>
          <p:cNvSpPr>
            <a:spLocks xmlns:a="http://schemas.openxmlformats.org/drawingml/2006/main" noGrp="1"/>
          </p:cNvSpPr>
          <p:nvPr/>
        </p:nvSpPr>
        <p:spPr>
          <a:xfrm xmlns:a="http://schemas.openxmlformats.org/drawingml/2006/main">
            <a:off x="7877175" y="3000375"/>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C63E7BF-992B-4A36-91CB-943314F349CB}"/>
              </a:ext>
            </a:extLst>
          </p:cNvPr>
          <p:cNvSpPr>
            <a:spLocks xmlns:a="http://schemas.openxmlformats.org/drawingml/2006/main" noGrp="1"/>
          </p:cNvSpPr>
          <p:nvPr/>
        </p:nvSpPr>
        <p:spPr>
          <a:xfrm xmlns:a="http://schemas.openxmlformats.org/drawingml/2006/main">
            <a:off x="8324850"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Real-robot validation">
            <a:extLst xmlns:a="http://schemas.openxmlformats.org/drawingml/2006/main">
              <a:ext uri="{FF2B5EF4-FFF2-40B4-BE49-F238E27FC236}">
                <a16:creationId xmlns:a16="http://schemas.microsoft.com/office/drawing/2014/main" id="{0C117922-6253-483C-BC71-1824088AEEDB}"/>
              </a:ext>
            </a:extLst>
          </p:cNvPr>
          <p:cNvSpPr>
            <a:spLocks xmlns:a="http://schemas.openxmlformats.org/drawingml/2006/main" noGrp="1"/>
          </p:cNvSpPr>
          <p:nvPr/>
        </p:nvSpPr>
        <p:spPr>
          <a:xfrm xmlns:a="http://schemas.openxmlformats.org/drawingml/2006/main">
            <a:off x="8515350"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Real-robot validation</a:t>
            </a:r>
          </a:p>
        </p:txBody>
      </p:sp>
      <p:sp>
        <p:nvSpPr>
          <p:cNvPr id="13" name="Consistent interface&#10;Controlled deployment">
            <a:extLst xmlns:a="http://schemas.openxmlformats.org/drawingml/2006/main">
              <a:ext uri="{FF2B5EF4-FFF2-40B4-BE49-F238E27FC236}">
                <a16:creationId xmlns:a16="http://schemas.microsoft.com/office/drawing/2014/main" id="{0088AF1C-15DB-4C06-B5C9-DE6930AC4EA5}"/>
              </a:ext>
            </a:extLst>
          </p:cNvPr>
          <p:cNvSpPr>
            <a:spLocks xmlns:a="http://schemas.openxmlformats.org/drawingml/2006/main" noGrp="1"/>
          </p:cNvSpPr>
          <p:nvPr/>
        </p:nvSpPr>
        <p:spPr>
          <a:xfrm xmlns:a="http://schemas.openxmlformats.org/drawingml/2006/main">
            <a:off x="8515350"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Consistent interface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Controlled deployment</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Successes / attempts</a:t>
            </a:r>
          </a:p>
        </p:txBody>
      </p:sp>
      <p:sp>
        <p:nvSpPr>
          <p:cNvPr id="14" name="Prediction accuracy, closed-loop behavior ">
            <a:extLst xmlns:a="http://schemas.openxmlformats.org/drawingml/2006/main">
              <a:ext uri="{FF2B5EF4-FFF2-40B4-BE49-F238E27FC236}">
                <a16:creationId xmlns:a16="http://schemas.microsoft.com/office/drawing/2014/main" id="{D0C95A9E-599A-4F8A-A81B-81B42D84DCA2}"/>
              </a:ext>
            </a:extLst>
          </p:cNvPr>
          <p:cNvSpPr>
            <a:spLocks xmlns:a="http://schemas.openxmlformats.org/drawingml/2006/main" noGrp="1"/>
          </p:cNvSpPr>
          <p:nvPr/>
        </p:nvSpPr>
        <p:spPr>
          <a:xfrm xmlns:a="http://schemas.openxmlformats.org/drawingml/2006/main">
            <a:off x="533400" y="50958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667BA"/>
                </a:solidFill>
                <a:latin typeface="Arial"/>
                <a:ea typeface="Arial"/>
                <a:cs typeface="Arial"/>
              </a:defRPr>
            </a:defPPr>
          </a:lstStyle>
          <a:p xmlns:a="http://schemas.openxmlformats.org/drawingml/2006/main">
            <a:pPr>
              <a:defRPr sz="2250" b="1">
                <a:solidFill>
                  <a:srgbClr val="2667BA"/>
                </a:solidFill>
                <a:latin typeface="Arial"/>
                <a:ea typeface="Arial"/>
                <a:cs typeface="Arial"/>
              </a:defRPr>
            </a:pPr>
            <a:r>
              <a:rPr sz="2250" b="1">
                <a:solidFill>
                  <a:srgbClr val="2667BA"/>
                </a:solidFill>
                <a:latin typeface="Arial"/>
                <a:ea typeface="Arial"/>
                <a:cs typeface="Arial"/>
              </a:rPr>
              <a:t>Prediction accuracy, closed-loop behavior and real task outcomes answer different questions.</a:t>
            </a:r>
          </a:p>
        </p:txBody>
      </p:sp>
    </p:spTree>
    <p:extLst>
      <p:ext uri="{BB962C8B-B14F-4D97-AF65-F5344CB8AC3E}">
        <p14:creationId xmlns:p14="http://schemas.microsoft.com/office/powerpoint/2010/main" val="201333161"/>
      </p:ext>
    </p:extLst>
  </p:cSld>
</p:sld>
</file>

<file path=ppt/slides/slide17.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The workstation closes the camera-to-actio">
            <a:extLst xmlns:a="http://schemas.openxmlformats.org/drawingml/2006/main">
              <a:ext uri="{FF2B5EF4-FFF2-40B4-BE49-F238E27FC236}">
                <a16:creationId xmlns:a16="http://schemas.microsoft.com/office/drawing/2014/main" id="{78AF1DAC-B43D-48C6-A6A2-E45001028D61}"/>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The workstation closes the camera-to-action loop</a:t>
            </a:r>
          </a:p>
        </p:txBody>
      </p:sp>
      <p:sp>
        <p:nvSpPr>
          <p:cNvPr id="2" name="17">
            <a:extLst xmlns:a="http://schemas.openxmlformats.org/drawingml/2006/main">
              <a:ext uri="{FF2B5EF4-FFF2-40B4-BE49-F238E27FC236}">
                <a16:creationId xmlns:a16="http://schemas.microsoft.com/office/drawing/2014/main" id="{BE76D265-F1C4-48DE-B778-14C806EB176A}"/>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17</a:t>
            </a:r>
          </a:p>
        </p:txBody>
      </p:sp>
      <p:sp>
        <p:nvSpPr>
          <p:cNvPr id="3" name="Isaac observation">
            <a:extLst xmlns:a="http://schemas.openxmlformats.org/drawingml/2006/main">
              <a:ext uri="{FF2B5EF4-FFF2-40B4-BE49-F238E27FC236}">
                <a16:creationId xmlns:a16="http://schemas.microsoft.com/office/drawing/2014/main" id="{E80450E2-A4C1-4937-9444-3E5EA4C200BF}"/>
              </a:ext>
            </a:extLst>
          </p:cNvPr>
          <p:cNvSpPr>
            <a:spLocks xmlns:a="http://schemas.openxmlformats.org/drawingml/2006/main" noGrp="1"/>
          </p:cNvSpPr>
          <p:nvPr/>
        </p:nvSpPr>
        <p:spPr>
          <a:xfrm xmlns:a="http://schemas.openxmlformats.org/drawingml/2006/main">
            <a:off x="533400" y="16668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Isaac observation</a:t>
            </a:r>
          </a:p>
        </p:txBody>
      </p:sp>
      <p:sp>
        <p:nvSpPr>
          <p:cNvPr id="4" name="Head + wrist RGB&#10;Measured joint state">
            <a:extLst xmlns:a="http://schemas.openxmlformats.org/drawingml/2006/main">
              <a:ext uri="{FF2B5EF4-FFF2-40B4-BE49-F238E27FC236}">
                <a16:creationId xmlns:a16="http://schemas.microsoft.com/office/drawing/2014/main" id="{16676B68-11EA-4CD4-B23D-6DB7CB931D4D}"/>
              </a:ext>
            </a:extLst>
          </p:cNvPr>
          <p:cNvSpPr>
            <a:spLocks xmlns:a="http://schemas.openxmlformats.org/drawingml/2006/main" noGrp="1"/>
          </p:cNvSpPr>
          <p:nvPr/>
        </p:nvSpPr>
        <p:spPr>
          <a:xfrm xmlns:a="http://schemas.openxmlformats.org/drawingml/2006/main">
            <a:off x="533400" y="22479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Head + wrist RGB</a:t>
            </a:r>
          </a:p>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Measured joint state</a:t>
            </a:r>
          </a:p>
        </p:txBody>
      </p:sp>
      <p:sp>
        <p:nvSpPr>
          <p:cNvPr id="5" name="">
            <a:extLst xmlns:a="http://schemas.openxmlformats.org/drawingml/2006/main">
              <a:ext uri="{FF2B5EF4-FFF2-40B4-BE49-F238E27FC236}">
                <a16:creationId xmlns:a16="http://schemas.microsoft.com/office/drawing/2014/main" id="{8888BC05-2760-4435-8B50-CADF22245D46}"/>
              </a:ext>
            </a:extLst>
          </p:cNvPr>
          <p:cNvSpPr>
            <a:spLocks xmlns:a="http://schemas.openxmlformats.org/drawingml/2006/main" noGrp="1"/>
          </p:cNvSpPr>
          <p:nvPr/>
        </p:nvSpPr>
        <p:spPr>
          <a:xfrm xmlns:a="http://schemas.openxmlformats.org/drawingml/2006/main">
            <a:off x="3143250" y="2028825"/>
            <a:ext cx="1714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6" name="ROS 2 transport">
            <a:extLst xmlns:a="http://schemas.openxmlformats.org/drawingml/2006/main">
              <a:ext uri="{FF2B5EF4-FFF2-40B4-BE49-F238E27FC236}">
                <a16:creationId xmlns:a16="http://schemas.microsoft.com/office/drawing/2014/main" id="{2051CFA6-B36C-4FD5-95C4-B150E43A955A}"/>
              </a:ext>
            </a:extLst>
          </p:cNvPr>
          <p:cNvSpPr>
            <a:spLocks xmlns:a="http://schemas.openxmlformats.org/drawingml/2006/main" noGrp="1"/>
          </p:cNvSpPr>
          <p:nvPr/>
        </p:nvSpPr>
        <p:spPr>
          <a:xfrm xmlns:a="http://schemas.openxmlformats.org/drawingml/2006/main">
            <a:off x="3390900" y="16668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ROS 2 transport</a:t>
            </a:r>
          </a:p>
        </p:txBody>
      </p:sp>
      <p:sp>
        <p:nvSpPr>
          <p:cNvPr id="7" name="Request / room / model IDs&#10;Explicit units ">
            <a:extLst xmlns:a="http://schemas.openxmlformats.org/drawingml/2006/main">
              <a:ext uri="{FF2B5EF4-FFF2-40B4-BE49-F238E27FC236}">
                <a16:creationId xmlns:a16="http://schemas.microsoft.com/office/drawing/2014/main" id="{442CB212-672D-4EF6-89E9-15722A32B6B0}"/>
              </a:ext>
            </a:extLst>
          </p:cNvPr>
          <p:cNvSpPr>
            <a:spLocks xmlns:a="http://schemas.openxmlformats.org/drawingml/2006/main" noGrp="1"/>
          </p:cNvSpPr>
          <p:nvPr/>
        </p:nvSpPr>
        <p:spPr>
          <a:xfrm xmlns:a="http://schemas.openxmlformats.org/drawingml/2006/main">
            <a:off x="3390900" y="22479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Request / room / model IDs</a:t>
            </a:r>
          </a:p>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Explicit units and horizon</a:t>
            </a:r>
          </a:p>
        </p:txBody>
      </p:sp>
      <p:sp>
        <p:nvSpPr>
          <p:cNvPr id="8" name="">
            <a:extLst xmlns:a="http://schemas.openxmlformats.org/drawingml/2006/main">
              <a:ext uri="{FF2B5EF4-FFF2-40B4-BE49-F238E27FC236}">
                <a16:creationId xmlns:a16="http://schemas.microsoft.com/office/drawing/2014/main" id="{C7919AB1-7862-4501-AAA5-871C7D903F44}"/>
              </a:ext>
            </a:extLst>
          </p:cNvPr>
          <p:cNvSpPr>
            <a:spLocks xmlns:a="http://schemas.openxmlformats.org/drawingml/2006/main" noGrp="1"/>
          </p:cNvSpPr>
          <p:nvPr/>
        </p:nvSpPr>
        <p:spPr>
          <a:xfrm xmlns:a="http://schemas.openxmlformats.org/drawingml/2006/main">
            <a:off x="6000750" y="2028825"/>
            <a:ext cx="1714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9" name="Checkpoint service">
            <a:extLst xmlns:a="http://schemas.openxmlformats.org/drawingml/2006/main">
              <a:ext uri="{FF2B5EF4-FFF2-40B4-BE49-F238E27FC236}">
                <a16:creationId xmlns:a16="http://schemas.microsoft.com/office/drawing/2014/main" id="{9BA1C4E8-D6C4-447E-BB30-A788D6A10319}"/>
              </a:ext>
            </a:extLst>
          </p:cNvPr>
          <p:cNvSpPr>
            <a:spLocks xmlns:a="http://schemas.openxmlformats.org/drawingml/2006/main" noGrp="1"/>
          </p:cNvSpPr>
          <p:nvPr/>
        </p:nvSpPr>
        <p:spPr>
          <a:xfrm xmlns:a="http://schemas.openxmlformats.org/drawingml/2006/main">
            <a:off x="6248400" y="16668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Checkpoint service</a:t>
            </a:r>
          </a:p>
        </p:txBody>
      </p:sp>
      <p:sp>
        <p:nvSpPr>
          <p:cNvPr id="10" name="π0.5 action prediction&#10;Raw outputs preserv">
            <a:extLst xmlns:a="http://schemas.openxmlformats.org/drawingml/2006/main">
              <a:ext uri="{FF2B5EF4-FFF2-40B4-BE49-F238E27FC236}">
                <a16:creationId xmlns:a16="http://schemas.microsoft.com/office/drawing/2014/main" id="{D612F880-1E67-4787-99E9-EAF482529DA2}"/>
              </a:ext>
            </a:extLst>
          </p:cNvPr>
          <p:cNvSpPr>
            <a:spLocks xmlns:a="http://schemas.openxmlformats.org/drawingml/2006/main" noGrp="1"/>
          </p:cNvSpPr>
          <p:nvPr/>
        </p:nvSpPr>
        <p:spPr>
          <a:xfrm xmlns:a="http://schemas.openxmlformats.org/drawingml/2006/main">
            <a:off x="6248400" y="22479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π0.5 action prediction</a:t>
            </a:r>
          </a:p>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Raw outputs preserved</a:t>
            </a:r>
          </a:p>
        </p:txBody>
      </p:sp>
      <p:sp>
        <p:nvSpPr>
          <p:cNvPr id="11" name="">
            <a:extLst xmlns:a="http://schemas.openxmlformats.org/drawingml/2006/main">
              <a:ext uri="{FF2B5EF4-FFF2-40B4-BE49-F238E27FC236}">
                <a16:creationId xmlns:a16="http://schemas.microsoft.com/office/drawing/2014/main" id="{D25358D3-ABF2-446B-9894-8564F2E1E935}"/>
              </a:ext>
            </a:extLst>
          </p:cNvPr>
          <p:cNvSpPr>
            <a:spLocks xmlns:a="http://schemas.openxmlformats.org/drawingml/2006/main" noGrp="1"/>
          </p:cNvSpPr>
          <p:nvPr/>
        </p:nvSpPr>
        <p:spPr>
          <a:xfrm xmlns:a="http://schemas.openxmlformats.org/drawingml/2006/main">
            <a:off x="8858250" y="2028825"/>
            <a:ext cx="1714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2" name="Physical execution">
            <a:extLst xmlns:a="http://schemas.openxmlformats.org/drawingml/2006/main">
              <a:ext uri="{FF2B5EF4-FFF2-40B4-BE49-F238E27FC236}">
                <a16:creationId xmlns:a16="http://schemas.microsoft.com/office/drawing/2014/main" id="{ADB439CC-5A64-4454-A721-1EA9EC8267F1}"/>
              </a:ext>
            </a:extLst>
          </p:cNvPr>
          <p:cNvSpPr>
            <a:spLocks xmlns:a="http://schemas.openxmlformats.org/drawingml/2006/main" noGrp="1"/>
          </p:cNvSpPr>
          <p:nvPr/>
        </p:nvSpPr>
        <p:spPr>
          <a:xfrm xmlns:a="http://schemas.openxmlformats.org/drawingml/2006/main">
            <a:off x="9105900" y="16668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667BA"/>
                </a:solidFill>
                <a:latin typeface="Arial"/>
                <a:ea typeface="Arial"/>
                <a:cs typeface="Arial"/>
              </a:defRPr>
            </a:defPPr>
          </a:lstStyle>
          <a:p xmlns:a="http://schemas.openxmlformats.org/drawingml/2006/main">
            <a:pPr>
              <a:defRPr sz="2025" b="1">
                <a:solidFill>
                  <a:srgbClr val="2667BA"/>
                </a:solidFill>
                <a:latin typeface="Arial"/>
                <a:ea typeface="Arial"/>
                <a:cs typeface="Arial"/>
              </a:defRPr>
            </a:pPr>
            <a:r>
              <a:rPr sz="2025" b="1">
                <a:solidFill>
                  <a:srgbClr val="2667BA"/>
                </a:solidFill>
                <a:latin typeface="Arial"/>
                <a:ea typeface="Arial"/>
                <a:cs typeface="Arial"/>
              </a:rPr>
              <a:t>Physical execution</a:t>
            </a:r>
          </a:p>
        </p:txBody>
      </p:sp>
      <p:sp>
        <p:nvSpPr>
          <p:cNvPr id="13" name="Declared action handling&#10;25 substeps per f">
            <a:extLst xmlns:a="http://schemas.openxmlformats.org/drawingml/2006/main">
              <a:ext uri="{FF2B5EF4-FFF2-40B4-BE49-F238E27FC236}">
                <a16:creationId xmlns:a16="http://schemas.microsoft.com/office/drawing/2014/main" id="{0CEAACC1-4EC6-46A7-B540-EBA882F506C2}"/>
              </a:ext>
            </a:extLst>
          </p:cNvPr>
          <p:cNvSpPr>
            <a:spLocks xmlns:a="http://schemas.openxmlformats.org/drawingml/2006/main" noGrp="1"/>
          </p:cNvSpPr>
          <p:nvPr/>
        </p:nvSpPr>
        <p:spPr>
          <a:xfrm xmlns:a="http://schemas.openxmlformats.org/drawingml/2006/main">
            <a:off x="9105900" y="22479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579"/>
                </a:solidFill>
                <a:latin typeface="Arial"/>
                <a:ea typeface="Arial"/>
                <a:cs typeface="Arial"/>
              </a:defRPr>
            </a:defPPr>
          </a:lstStyle>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Declared action handling</a:t>
            </a:r>
          </a:p>
          <a:p xmlns:a="http://schemas.openxmlformats.org/drawingml/2006/main">
            <a:pPr>
              <a:defRPr sz="1800" b="0">
                <a:solidFill>
                  <a:srgbClr val="526579"/>
                </a:solidFill>
                <a:latin typeface="Arial"/>
                <a:ea typeface="Arial"/>
                <a:cs typeface="Arial"/>
              </a:defRPr>
            </a:pPr>
            <a:r>
              <a:rPr sz="1800" b="0">
                <a:solidFill>
                  <a:srgbClr val="526579"/>
                </a:solidFill>
                <a:latin typeface="Arial"/>
                <a:ea typeface="Arial"/>
                <a:cs typeface="Arial"/>
              </a:rPr>
              <a:t>25 substeps per frame</a:t>
            </a:r>
          </a:p>
        </p:txBody>
      </p:sp>
      <p:sp>
        <p:nvSpPr>
          <p:cNvPr id="14" name="Model readiness">
            <a:extLst xmlns:a="http://schemas.openxmlformats.org/drawingml/2006/main">
              <a:ext uri="{FF2B5EF4-FFF2-40B4-BE49-F238E27FC236}">
                <a16:creationId xmlns:a16="http://schemas.microsoft.com/office/drawing/2014/main" id="{A9619979-C14F-4E31-A8AC-0F236F0C3F11}"/>
              </a:ext>
            </a:extLst>
          </p:cNvPr>
          <p:cNvSpPr>
            <a:spLocks xmlns:a="http://schemas.openxmlformats.org/drawingml/2006/main" noGrp="1"/>
          </p:cNvSpPr>
          <p:nvPr/>
        </p:nvSpPr>
        <p:spPr>
          <a:xfrm xmlns:a="http://schemas.openxmlformats.org/drawingml/2006/main">
            <a:off x="533400" y="34766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Model readiness</a:t>
            </a:r>
          </a:p>
        </p:txBody>
      </p:sp>
      <p:graphicFrame>
        <p:nvGraphicFramePr>
          <p:cNvPr id="15" name="">
            <a:extLst xmlns:a="http://schemas.openxmlformats.org/drawingml/2006/main">
              <a:ext uri="{FF2B5EF4-FFF2-40B4-BE49-F238E27FC236}">
                <a16:creationId xmlns:a16="http://schemas.microsoft.com/office/drawing/2014/main" id="{B320784B-1FF7-4FCF-84E5-B55AF67B0E78}"/>
              </a:ext>
            </a:extLst>
          </p:cNvPr>
          <p:cNvGraphicFramePr/>
          <p:nvPr/>
        </p:nvGraphicFramePr>
        <p:xfrm>
          <a:off xmlns:a="http://schemas.openxmlformats.org/drawingml/2006/main" x="533400" y="4019550"/>
          <a:ext xmlns:a="http://schemas.openxmlformats.org/drawingml/2006/main" cx="11125200" cy="2047875"/>
        </p:xfrm>
        <a:graphic xmlns:a="http://schemas.openxmlformats.org/drawingml/2006/main">
          <a:graphicData uri="http://schemas.openxmlformats.org/drawingml/2006/table">
            <a:tbl>
              <a:tblPr/>
              <a:tblGrid>
                <a:gridCol w="1905000"/>
                <a:gridCol w="4238625"/>
                <a:gridCol w="4981575"/>
              </a:tblGrid>
              <a:tr h="511969">
                <a:tc>
                  <a:txBody>
                    <a:bodyPr lIns="114300" tIns="114300" rIns="114300" bIns="114300"/>
                    <a:lstStyle/>
                    <a:p>
                      <a:r>
                        <a:rPr sz="1500" b="1">
                          <a:solidFill>
                            <a:srgbClr val="142334"/>
                          </a:solidFill>
                          <a:latin typeface="Arial"/>
                          <a:ea typeface="Arial"/>
                          <a:cs typeface="Arial"/>
                        </a:rPr>
                        <a:t>Model</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500" b="1">
                          <a:solidFill>
                            <a:srgbClr val="142334"/>
                          </a:solidFill>
                          <a:latin typeface="Arial"/>
                          <a:ea typeface="Arial"/>
                          <a:cs typeface="Arial"/>
                        </a:rPr>
                        <a:t>Measured state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500" b="1">
                          <a:solidFill>
                            <a:srgbClr val="142334"/>
                          </a:solidFill>
                          <a:latin typeface="Arial"/>
                          <a:ea typeface="Arial"/>
                          <a:cs typeface="Arial"/>
                        </a:rPr>
                        <a:t>Remaining limitation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511969">
                <a:tc>
                  <a:txBody>
                    <a:bodyPr lIns="114300" tIns="114300" rIns="114300" bIns="114300"/>
                    <a:lstStyle/>
                    <a:p>
                      <a:r>
                        <a:rPr sz="1500" b="0">
                          <a:solidFill>
                            <a:srgbClr val="142334"/>
                          </a:solidFill>
                          <a:latin typeface="Arial"/>
                          <a:ea typeface="Arial"/>
                          <a:cs typeface="Arial"/>
                        </a:rPr>
                        <a:t>π0.5</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500" b="0">
                          <a:solidFill>
                            <a:srgbClr val="142334"/>
                          </a:solidFill>
                          <a:latin typeface="Arial"/>
                          <a:ea typeface="Arial"/>
                          <a:cs typeface="Arial"/>
                        </a:rPr>
                        <a:t>Loaded; native closed-loop actions executed</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500" b="0">
                          <a:solidFill>
                            <a:srgbClr val="142334"/>
                          </a:solidFill>
                          <a:latin typeface="Arial"/>
                          <a:ea typeface="Arial"/>
                          <a:cs typeface="Arial"/>
                        </a:rPr>
                        <a:t>Strict joint-limit failures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511969">
                <a:tc>
                  <a:txBody>
                    <a:bodyPr lIns="114300" tIns="114300" rIns="114300" bIns="114300"/>
                    <a:lstStyle/>
                    <a:p>
                      <a:r>
                        <a:rPr sz="1500" b="0">
                          <a:solidFill>
                            <a:srgbClr val="142334"/>
                          </a:solidFill>
                          <a:latin typeface="Arial"/>
                          <a:ea typeface="Arial"/>
                          <a:cs typeface="Arial"/>
                        </a:rPr>
                        <a:t>Galaxea G0.5</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500" b="0">
                          <a:solidFill>
                            <a:srgbClr val="142334"/>
                          </a:solidFill>
                          <a:latin typeface="Arial"/>
                          <a:ea typeface="Arial"/>
                          <a:cs typeface="Arial"/>
                        </a:rPr>
                        <a:t>Weights loaded; image-based inference observed</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500" b="0">
                          <a:solidFill>
                            <a:srgbClr val="142334"/>
                          </a:solidFill>
                          <a:latin typeface="Arial"/>
                          <a:ea typeface="Arial"/>
                          <a:cs typeface="Arial"/>
                        </a:rPr>
                        <a:t>Missing gripper outputs; 30/20 Hz mismatch</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511969">
                <a:tc>
                  <a:txBody>
                    <a:bodyPr lIns="114300" tIns="114300" rIns="114300" bIns="114300"/>
                    <a:lstStyle/>
                    <a:p>
                      <a:r>
                        <a:rPr sz="1500" b="0">
                          <a:solidFill>
                            <a:srgbClr val="142334"/>
                          </a:solidFill>
                          <a:latin typeface="Arial"/>
                          <a:ea typeface="Arial"/>
                          <a:cs typeface="Arial"/>
                        </a:rPr>
                        <a:t>GR00T</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500" b="0">
                          <a:solidFill>
                            <a:srgbClr val="142334"/>
                          </a:solidFill>
                          <a:latin typeface="Arial"/>
                          <a:ea typeface="Arial"/>
                          <a:cs typeface="Arial"/>
                        </a:rPr>
                        <a:t>Joint-space adapter contract available</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500" b="0">
                          <a:solidFill>
                            <a:srgbClr val="142334"/>
                          </a:solidFill>
                          <a:latin typeface="Arial"/>
                          <a:ea typeface="Arial"/>
                          <a:cs typeface="Arial"/>
                        </a:rPr>
                        <a:t>Compatible weights not supplied</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16" name="Robot-limited diagnostics preserve raw out">
            <a:extLst xmlns:a="http://schemas.openxmlformats.org/drawingml/2006/main">
              <a:ext uri="{FF2B5EF4-FFF2-40B4-BE49-F238E27FC236}">
                <a16:creationId xmlns:a16="http://schemas.microsoft.com/office/drawing/2014/main" id="{4FF09028-A2ED-489B-8D41-5406AC2C9E22}"/>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Robot-limited diagnostics preserve raw outputs and are excluded from pure-model success rates.</a:t>
            </a:r>
          </a:p>
        </p:txBody>
      </p:sp>
    </p:spTree>
    <p:extLst>
      <p:ext uri="{BB962C8B-B14F-4D97-AF65-F5344CB8AC3E}">
        <p14:creationId xmlns:p14="http://schemas.microsoft.com/office/powerpoint/2010/main" val="1158096340"/>
      </p:ext>
    </p:extLst>
  </p:cSld>
</p:sld>
</file>

<file path=ppt/slides/slide18.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A common MSE evaluation protocol">
            <a:extLst xmlns:a="http://schemas.openxmlformats.org/drawingml/2006/main">
              <a:ext uri="{FF2B5EF4-FFF2-40B4-BE49-F238E27FC236}">
                <a16:creationId xmlns:a16="http://schemas.microsoft.com/office/drawing/2014/main" id="{906FE085-01F9-4943-A48E-2A5011E1C8B9}"/>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A common MSE evaluation protocol</a:t>
            </a:r>
          </a:p>
        </p:txBody>
      </p:sp>
      <p:sp>
        <p:nvSpPr>
          <p:cNvPr id="2" name="18">
            <a:extLst xmlns:a="http://schemas.openxmlformats.org/drawingml/2006/main">
              <a:ext uri="{FF2B5EF4-FFF2-40B4-BE49-F238E27FC236}">
                <a16:creationId xmlns:a16="http://schemas.microsoft.com/office/drawing/2014/main" id="{784FFF7A-8CAB-410B-953C-61AADEC8C34A}"/>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18</a:t>
            </a:r>
          </a:p>
        </p:txBody>
      </p:sp>
      <p:graphicFrame>
        <p:nvGraphicFramePr>
          <p:cNvPr id="3" name="">
            <a:extLst xmlns:a="http://schemas.openxmlformats.org/drawingml/2006/main">
              <a:ext uri="{FF2B5EF4-FFF2-40B4-BE49-F238E27FC236}">
                <a16:creationId xmlns:a16="http://schemas.microsoft.com/office/drawing/2014/main" id="{9E05E351-442D-40EA-ADB2-19FC83A42BD2}"/>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857500"/>
                <a:gridCol w="8267700"/>
              </a:tblGrid>
              <a:tr h="682625">
                <a:tc>
                  <a:txBody>
                    <a:bodyPr lIns="114300" tIns="114300" rIns="114300" bIns="114300"/>
                    <a:lstStyle/>
                    <a:p>
                      <a:r>
                        <a:rPr sz="1725" b="1">
                          <a:solidFill>
                            <a:srgbClr val="142334"/>
                          </a:solidFill>
                          <a:latin typeface="Arial"/>
                          <a:ea typeface="Arial"/>
                          <a:cs typeface="Arial"/>
                        </a:rPr>
                        <a:t>Dimension</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Common evaluation setting</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725" b="0">
                          <a:solidFill>
                            <a:srgbClr val="142334"/>
                          </a:solidFill>
                          <a:latin typeface="Arial"/>
                          <a:ea typeface="Arial"/>
                          <a:cs typeface="Arial"/>
                        </a:rPr>
                        <a:t>Real test set</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19 episodes: 11 Pick and 8 Place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Observation / prediction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All 3,653 frames, 20 Hz, horizon 20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Valid targets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69,450 window timesteps, excluding tail padding</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Noise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Frame seed = 42000 + global frame index</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Metrics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14 joints in rad², 2 grippers in mm², base excluded</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Overlapping windows are not independent sa">
            <a:extLst xmlns:a="http://schemas.openxmlformats.org/drawingml/2006/main">
              <a:ext uri="{FF2B5EF4-FFF2-40B4-BE49-F238E27FC236}">
                <a16:creationId xmlns:a16="http://schemas.microsoft.com/office/drawing/2014/main" id="{38E4125B-A8FF-4A74-9416-2AF38BF8FF9D}"/>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Overlapping windows are not independent samples. Offline MSE does not measure task success.</a:t>
            </a:r>
          </a:p>
        </p:txBody>
      </p:sp>
    </p:spTree>
    <p:extLst>
      <p:ext uri="{BB962C8B-B14F-4D97-AF65-F5344CB8AC3E}">
        <p14:creationId xmlns:p14="http://schemas.microsoft.com/office/powerpoint/2010/main" val="1421630266"/>
      </p:ext>
    </p:extLst>
  </p:cSld>
</p:sld>
</file>

<file path=ppt/slides/slide19.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Left arm: error for every joint">
            <a:extLst xmlns:a="http://schemas.openxmlformats.org/drawingml/2006/main">
              <a:ext uri="{FF2B5EF4-FFF2-40B4-BE49-F238E27FC236}">
                <a16:creationId xmlns:a16="http://schemas.microsoft.com/office/drawing/2014/main" id="{14B6C000-6173-43AA-B4EC-F631EB173C4F}"/>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Left arm: error for every joint</a:t>
            </a:r>
          </a:p>
        </p:txBody>
      </p:sp>
      <p:sp>
        <p:nvSpPr>
          <p:cNvPr id="2" name="19">
            <a:extLst xmlns:a="http://schemas.openxmlformats.org/drawingml/2006/main">
              <a:ext uri="{FF2B5EF4-FFF2-40B4-BE49-F238E27FC236}">
                <a16:creationId xmlns:a16="http://schemas.microsoft.com/office/drawing/2014/main" id="{1A18B873-1243-4061-A6A2-885082D06690}"/>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19</a:t>
            </a:r>
          </a:p>
        </p:txBody>
      </p:sp>
      <p:graphicFrame>
        <p:nvGraphicFramePr>
          <p:cNvPr id="3" name="Chart">
            <a:extLst xmlns:a="http://schemas.openxmlformats.org/drawingml/2006/main">
              <a:ext uri="{FF2B5EF4-FFF2-40B4-BE49-F238E27FC236}">
                <a16:creationId xmlns:a16="http://schemas.microsoft.com/office/drawing/2014/main" id="{1EC6FE0D-E46F-4557-8824-2C99D2C0E441}"/>
              </a:ext>
            </a:extLst>
          </p:cNvPr>
          <p:cNvGraphicFramePr/>
          <p:nvPr/>
        </p:nvGraphicFramePr>
        <p:xfrm>
          <a:off xmlns:a="http://schemas.openxmlformats.org/drawingml/2006/main" x="533400" y="1619250"/>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18e1259d96d949ae"/>
          </a:graphicData>
        </a:graphic>
      </p:graphicFrame>
      <p:sp>
        <p:nvSpPr>
          <p:cNvPr id="4" name="Frozen three-model comparison. All use 10,">
            <a:extLst xmlns:a="http://schemas.openxmlformats.org/drawingml/2006/main">
              <a:ext uri="{FF2B5EF4-FFF2-40B4-BE49-F238E27FC236}">
                <a16:creationId xmlns:a16="http://schemas.microsoft.com/office/drawing/2014/main" id="{294A32D9-442A-4C22-9616-F843697217C8}"/>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Frozen three-model comparison. All use 10,000 updates; initialization and simulation recipes differ.</a:t>
            </a:r>
          </a:p>
        </p:txBody>
      </p:sp>
    </p:spTree>
    <p:extLst>
      <p:ext uri="{BB962C8B-B14F-4D97-AF65-F5344CB8AC3E}">
        <p14:creationId xmlns:p14="http://schemas.microsoft.com/office/powerpoint/2010/main" val="1800937460"/>
      </p:ext>
    </p:extLst>
  </p:cSld>
</p:sld>
</file>

<file path=ppt/slides/slide20.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Right arm: error for every joint">
            <a:extLst xmlns:a="http://schemas.openxmlformats.org/drawingml/2006/main">
              <a:ext uri="{FF2B5EF4-FFF2-40B4-BE49-F238E27FC236}">
                <a16:creationId xmlns:a16="http://schemas.microsoft.com/office/drawing/2014/main" id="{17F1BE4B-8B5C-4D6B-B35A-AAC432F41DE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Right arm: error for every joint</a:t>
            </a:r>
          </a:p>
        </p:txBody>
      </p:sp>
      <p:sp>
        <p:nvSpPr>
          <p:cNvPr id="2" name="20">
            <a:extLst xmlns:a="http://schemas.openxmlformats.org/drawingml/2006/main">
              <a:ext uri="{FF2B5EF4-FFF2-40B4-BE49-F238E27FC236}">
                <a16:creationId xmlns:a16="http://schemas.microsoft.com/office/drawing/2014/main" id="{8CC245DB-7221-4640-9DD7-94BF56090C77}"/>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20</a:t>
            </a:r>
          </a:p>
        </p:txBody>
      </p:sp>
      <p:graphicFrame>
        <p:nvGraphicFramePr>
          <p:cNvPr id="3" name="Chart">
            <a:extLst xmlns:a="http://schemas.openxmlformats.org/drawingml/2006/main">
              <a:ext uri="{FF2B5EF4-FFF2-40B4-BE49-F238E27FC236}">
                <a16:creationId xmlns:a16="http://schemas.microsoft.com/office/drawing/2014/main" id="{BDB46E72-DB30-4598-B07C-E5D36EA8B744}"/>
              </a:ext>
            </a:extLst>
          </p:cNvPr>
          <p:cNvGraphicFramePr/>
          <p:nvPr/>
        </p:nvGraphicFramePr>
        <p:xfrm>
          <a:off xmlns:a="http://schemas.openxmlformats.org/drawingml/2006/main" x="533400" y="1619250"/>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cae923563ba24c75"/>
          </a:graphicData>
        </a:graphic>
      </p:graphicFrame>
      <p:sp>
        <p:nvSpPr>
          <p:cNvPr id="4" name="Frozen three-model comparison. Joint-level">
            <a:extLst xmlns:a="http://schemas.openxmlformats.org/drawingml/2006/main">
              <a:ext uri="{FF2B5EF4-FFF2-40B4-BE49-F238E27FC236}">
                <a16:creationId xmlns:a16="http://schemas.microsoft.com/office/drawing/2014/main" id="{C0A6726F-4F0B-4024-B82B-300BEDDCEEA1}"/>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Frozen three-model comparison. Joint-level tradeoffs remain visible; lower is better.</a:t>
            </a:r>
          </a:p>
        </p:txBody>
      </p:sp>
    </p:spTree>
    <p:extLst>
      <p:ext uri="{BB962C8B-B14F-4D97-AF65-F5344CB8AC3E}">
        <p14:creationId xmlns:p14="http://schemas.microsoft.com/office/powerpoint/2010/main" val="432765772"/>
      </p:ext>
    </p:extLst>
  </p:cSld>
</p:sld>
</file>

<file path=ppt/slides/slide21.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2" name="Gripper error and aggregate joint MSE">
            <a:extLst xmlns:a="http://schemas.openxmlformats.org/drawingml/2006/main">
              <a:ext uri="{FF2B5EF4-FFF2-40B4-BE49-F238E27FC236}">
                <a16:creationId xmlns:a16="http://schemas.microsoft.com/office/drawing/2014/main" id="{AEF3D24E-A528-4583-9210-74A47628733E}"/>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Gripper error and aggregate joint MSE</a:t>
            </a:r>
          </a:p>
        </p:txBody>
      </p:sp>
      <p:sp>
        <p:nvSpPr>
          <p:cNvPr id="2" name="21">
            <a:extLst xmlns:a="http://schemas.openxmlformats.org/drawingml/2006/main">
              <a:ext uri="{FF2B5EF4-FFF2-40B4-BE49-F238E27FC236}">
                <a16:creationId xmlns:a16="http://schemas.microsoft.com/office/drawing/2014/main" id="{6EB4738C-DD96-4D9C-A89E-978BD9105054}"/>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21</a:t>
            </a:r>
          </a:p>
        </p:txBody>
      </p:sp>
      <p:graphicFrame>
        <p:nvGraphicFramePr>
          <p:cNvPr id="3" name="Chart">
            <a:extLst xmlns:a="http://schemas.openxmlformats.org/drawingml/2006/main">
              <a:ext uri="{FF2B5EF4-FFF2-40B4-BE49-F238E27FC236}">
                <a16:creationId xmlns:a16="http://schemas.microsoft.com/office/drawing/2014/main" id="{F68DA403-EA44-41BF-B7AC-B17144BE1667}"/>
              </a:ext>
            </a:extLst>
          </p:cNvPr>
          <p:cNvGraphicFramePr/>
          <p:nvPr/>
        </p:nvGraphicFramePr>
        <p:xfrm>
          <a:off xmlns:a="http://schemas.openxmlformats.org/drawingml/2006/main" x="533400" y="1571625"/>
          <a:ext xmlns:a="http://schemas.openxmlformats.org/drawingml/2006/main" cx="6572250" cy="4000500"/>
        </p:xfrm>
        <a:graphic xmlns:a="http://schemas.openxmlformats.org/drawingml/2006/main">
          <a:graphicData uri="http://schemas.openxmlformats.org/drawingml/2006/chart">
            <c:chart xmlns:r="http://schemas.openxmlformats.org/officeDocument/2006/relationships" xmlns:c="http://schemas.openxmlformats.org/drawingml/2006/chart" r:id="Re891fb0a6fa74ee0"/>
          </a:graphicData>
        </a:graphic>
      </p:graphicFrame>
      <p:sp>
        <p:nvSpPr>
          <p:cNvPr id="4" name="Mean across 14 joints">
            <a:extLst xmlns:a="http://schemas.openxmlformats.org/drawingml/2006/main">
              <a:ext uri="{FF2B5EF4-FFF2-40B4-BE49-F238E27FC236}">
                <a16:creationId xmlns:a16="http://schemas.microsoft.com/office/drawing/2014/main" id="{54354E13-4468-40AF-99B5-5972784A5F2B}"/>
              </a:ext>
            </a:extLst>
          </p:cNvPr>
          <p:cNvSpPr>
            <a:spLocks xmlns:a="http://schemas.openxmlformats.org/drawingml/2006/main" noGrp="1"/>
          </p:cNvSpPr>
          <p:nvPr/>
        </p:nvSpPr>
        <p:spPr>
          <a:xfrm xmlns:a="http://schemas.openxmlformats.org/drawingml/2006/main">
            <a:off x="7620000" y="176212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Mean across 14 joints</a:t>
            </a:r>
          </a:p>
        </p:txBody>
      </p:sp>
      <p:sp>
        <p:nvSpPr>
          <p:cNvPr id="5" name="Real 100%">
            <a:extLst xmlns:a="http://schemas.openxmlformats.org/drawingml/2006/main">
              <a:ext uri="{FF2B5EF4-FFF2-40B4-BE49-F238E27FC236}">
                <a16:creationId xmlns:a16="http://schemas.microsoft.com/office/drawing/2014/main" id="{06C389D9-6C42-465C-A241-E3D758C439DC}"/>
              </a:ext>
            </a:extLst>
          </p:cNvPr>
          <p:cNvSpPr>
            <a:spLocks xmlns:a="http://schemas.openxmlformats.org/drawingml/2006/main" noGrp="1"/>
          </p:cNvSpPr>
          <p:nvPr/>
        </p:nvSpPr>
        <p:spPr>
          <a:xfrm xmlns:a="http://schemas.openxmlformats.org/drawingml/2006/main">
            <a:off x="7620000" y="252412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2667BA"/>
                </a:solidFill>
                <a:latin typeface="Arial"/>
                <a:ea typeface="Arial"/>
                <a:cs typeface="Arial"/>
              </a:defRPr>
            </a:defPPr>
          </a:lstStyle>
          <a:p xmlns:a="http://schemas.openxmlformats.org/drawingml/2006/main">
            <a:pPr>
              <a:defRPr sz="1725" b="1">
                <a:solidFill>
                  <a:srgbClr val="2667BA"/>
                </a:solidFill>
                <a:latin typeface="Arial"/>
                <a:ea typeface="Arial"/>
                <a:cs typeface="Arial"/>
              </a:defRPr>
            </a:pPr>
            <a:r>
              <a:rPr sz="1725" b="1">
                <a:solidFill>
                  <a:srgbClr val="2667BA"/>
                </a:solidFill>
                <a:latin typeface="Arial"/>
                <a:ea typeface="Arial"/>
                <a:cs typeface="Arial"/>
              </a:rPr>
              <a:t>Real 100%</a:t>
            </a:r>
          </a:p>
        </p:txBody>
      </p:sp>
      <p:sp>
        <p:nvSpPr>
          <p:cNvPr id="6" name="0.006769 rad²">
            <a:extLst xmlns:a="http://schemas.openxmlformats.org/drawingml/2006/main">
              <a:ext uri="{FF2B5EF4-FFF2-40B4-BE49-F238E27FC236}">
                <a16:creationId xmlns:a16="http://schemas.microsoft.com/office/drawing/2014/main" id="{CFCD140E-9316-415D-8507-4F8DACC58476}"/>
              </a:ext>
            </a:extLst>
          </p:cNvPr>
          <p:cNvSpPr>
            <a:spLocks xmlns:a="http://schemas.openxmlformats.org/drawingml/2006/main" noGrp="1"/>
          </p:cNvSpPr>
          <p:nvPr/>
        </p:nvSpPr>
        <p:spPr>
          <a:xfrm xmlns:a="http://schemas.openxmlformats.org/drawingml/2006/main">
            <a:off x="7620000" y="28765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0.006769 rad²</a:t>
            </a:r>
          </a:p>
        </p:txBody>
      </p:sp>
      <p:sp>
        <p:nvSpPr>
          <p:cNvPr id="7" name="Real 90% / Sim 10%">
            <a:extLst xmlns:a="http://schemas.openxmlformats.org/drawingml/2006/main">
              <a:ext uri="{FF2B5EF4-FFF2-40B4-BE49-F238E27FC236}">
                <a16:creationId xmlns:a16="http://schemas.microsoft.com/office/drawing/2014/main" id="{D4C2240C-56BE-4C38-847D-FF88513FDFD2}"/>
              </a:ext>
            </a:extLst>
          </p:cNvPr>
          <p:cNvSpPr>
            <a:spLocks xmlns:a="http://schemas.openxmlformats.org/drawingml/2006/main" noGrp="1"/>
          </p:cNvSpPr>
          <p:nvPr/>
        </p:nvSpPr>
        <p:spPr>
          <a:xfrm xmlns:a="http://schemas.openxmlformats.org/drawingml/2006/main">
            <a:off x="7620000" y="3429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879"/>
                </a:solidFill>
                <a:latin typeface="Arial"/>
                <a:ea typeface="Arial"/>
                <a:cs typeface="Arial"/>
              </a:defRPr>
            </a:defPPr>
          </a:lstStyle>
          <a:p xmlns:a="http://schemas.openxmlformats.org/drawingml/2006/main">
            <a:pPr>
              <a:defRPr sz="1725" b="1">
                <a:solidFill>
                  <a:srgbClr val="008879"/>
                </a:solidFill>
                <a:latin typeface="Arial"/>
                <a:ea typeface="Arial"/>
                <a:cs typeface="Arial"/>
              </a:defRPr>
            </a:pPr>
            <a:r>
              <a:rPr sz="1725" b="1">
                <a:solidFill>
                  <a:srgbClr val="008879"/>
                </a:solidFill>
                <a:latin typeface="Arial"/>
                <a:ea typeface="Arial"/>
                <a:cs typeface="Arial"/>
              </a:rPr>
              <a:t>Real 90% / Sim 10%</a:t>
            </a:r>
          </a:p>
        </p:txBody>
      </p:sp>
      <p:sp>
        <p:nvSpPr>
          <p:cNvPr id="8" name="0.006496 rad²">
            <a:extLst xmlns:a="http://schemas.openxmlformats.org/drawingml/2006/main">
              <a:ext uri="{FF2B5EF4-FFF2-40B4-BE49-F238E27FC236}">
                <a16:creationId xmlns:a16="http://schemas.microsoft.com/office/drawing/2014/main" id="{DD7E7DE3-CB93-4E13-9473-9C52ACD12344}"/>
              </a:ext>
            </a:extLst>
          </p:cNvPr>
          <p:cNvSpPr>
            <a:spLocks xmlns:a="http://schemas.openxmlformats.org/drawingml/2006/main" noGrp="1"/>
          </p:cNvSpPr>
          <p:nvPr/>
        </p:nvSpPr>
        <p:spPr>
          <a:xfrm xmlns:a="http://schemas.openxmlformats.org/drawingml/2006/main">
            <a:off x="7620000" y="37814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0.006496 rad²</a:t>
            </a:r>
          </a:p>
        </p:txBody>
      </p:sp>
      <p:sp>
        <p:nvSpPr>
          <p:cNvPr id="9" name="Real 50% / Sim 50%">
            <a:extLst xmlns:a="http://schemas.openxmlformats.org/drawingml/2006/main">
              <a:ext uri="{FF2B5EF4-FFF2-40B4-BE49-F238E27FC236}">
                <a16:creationId xmlns:a16="http://schemas.microsoft.com/office/drawing/2014/main" id="{749483E1-409F-4C14-A45D-6A9759F21AA2}"/>
              </a:ext>
            </a:extLst>
          </p:cNvPr>
          <p:cNvSpPr>
            <a:spLocks xmlns:a="http://schemas.openxmlformats.org/drawingml/2006/main" noGrp="1"/>
          </p:cNvSpPr>
          <p:nvPr/>
        </p:nvSpPr>
        <p:spPr>
          <a:xfrm xmlns:a="http://schemas.openxmlformats.org/drawingml/2006/main">
            <a:off x="762000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8882E"/>
                </a:solidFill>
                <a:latin typeface="Arial"/>
                <a:ea typeface="Arial"/>
                <a:cs typeface="Arial"/>
              </a:defRPr>
            </a:defPPr>
          </a:lstStyle>
          <a:p xmlns:a="http://schemas.openxmlformats.org/drawingml/2006/main">
            <a:pPr>
              <a:defRPr sz="1725" b="1">
                <a:solidFill>
                  <a:srgbClr val="D8882E"/>
                </a:solidFill>
                <a:latin typeface="Arial"/>
                <a:ea typeface="Arial"/>
                <a:cs typeface="Arial"/>
              </a:defRPr>
            </a:pPr>
            <a:r>
              <a:rPr sz="1725" b="1">
                <a:solidFill>
                  <a:srgbClr val="D8882E"/>
                </a:solidFill>
                <a:latin typeface="Arial"/>
                <a:ea typeface="Arial"/>
                <a:cs typeface="Arial"/>
              </a:rPr>
              <a:t>Real 50% / Sim 50%</a:t>
            </a:r>
          </a:p>
        </p:txBody>
      </p:sp>
      <p:sp>
        <p:nvSpPr>
          <p:cNvPr id="10" name="0.007230 rad²">
            <a:extLst xmlns:a="http://schemas.openxmlformats.org/drawingml/2006/main">
              <a:ext uri="{FF2B5EF4-FFF2-40B4-BE49-F238E27FC236}">
                <a16:creationId xmlns:a16="http://schemas.microsoft.com/office/drawing/2014/main" id="{E73DA417-6C27-4655-A07D-5EE1115CD5A7}"/>
              </a:ext>
            </a:extLst>
          </p:cNvPr>
          <p:cNvSpPr>
            <a:spLocks xmlns:a="http://schemas.openxmlformats.org/drawingml/2006/main" noGrp="1"/>
          </p:cNvSpPr>
          <p:nvPr/>
        </p:nvSpPr>
        <p:spPr>
          <a:xfrm xmlns:a="http://schemas.openxmlformats.org/drawingml/2006/main">
            <a:off x="7620000" y="4686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0.007230 rad²</a:t>
            </a:r>
          </a:p>
        </p:txBody>
      </p:sp>
      <p:sp>
        <p:nvSpPr>
          <p:cNvPr id="11" name="Frozen comparison from the earlier report.">
            <a:extLst xmlns:a="http://schemas.openxmlformats.org/drawingml/2006/main">
              <a:ext uri="{FF2B5EF4-FFF2-40B4-BE49-F238E27FC236}">
                <a16:creationId xmlns:a16="http://schemas.microsoft.com/office/drawing/2014/main" id="{E1C7FF97-681A-4491-9F60-E9A37B75322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Frozen comparison from the earlier report. The next slide shows the new paired baseline separately.</a:t>
            </a:r>
          </a:p>
        </p:txBody>
      </p:sp>
    </p:spTree>
    <p:extLst>
      <p:ext uri="{BB962C8B-B14F-4D97-AF65-F5344CB8AC3E}">
        <p14:creationId xmlns:p14="http://schemas.microsoft.com/office/powerpoint/2010/main" val="696362677"/>
      </p:ext>
    </p:extLst>
  </p:cSld>
</p:sld>
</file>

<file path=ppt/slides/slide2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8" name="Simulation helps some metrics, not every o">
            <a:extLst xmlns:a="http://schemas.openxmlformats.org/drawingml/2006/main">
              <a:ext uri="{FF2B5EF4-FFF2-40B4-BE49-F238E27FC236}">
                <a16:creationId xmlns:a16="http://schemas.microsoft.com/office/drawing/2014/main" id="{3A911651-BEB1-407B-AC76-728EE45D99A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Simulation helps some metrics, not every outcome</a:t>
            </a:r>
          </a:p>
        </p:txBody>
      </p:sp>
      <p:sp>
        <p:nvSpPr>
          <p:cNvPr id="2" name="22">
            <a:extLst xmlns:a="http://schemas.openxmlformats.org/drawingml/2006/main">
              <a:ext uri="{FF2B5EF4-FFF2-40B4-BE49-F238E27FC236}">
                <a16:creationId xmlns:a16="http://schemas.microsoft.com/office/drawing/2014/main" id="{FEE6D63A-2532-4003-B123-3D1DBDD0296F}"/>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22</a:t>
            </a:r>
          </a:p>
        </p:txBody>
      </p:sp>
      <p:sp>
        <p:nvSpPr>
          <p:cNvPr id="3" name="Earlier paired result: 90% real / 10% simu">
            <a:extLst xmlns:a="http://schemas.openxmlformats.org/drawingml/2006/main">
              <a:ext uri="{FF2B5EF4-FFF2-40B4-BE49-F238E27FC236}">
                <a16:creationId xmlns:a16="http://schemas.microsoft.com/office/drawing/2014/main" id="{3A40D1AF-9760-4F12-A502-9E30EB8539B2}"/>
              </a:ext>
            </a:extLst>
          </p:cNvPr>
          <p:cNvSpPr>
            <a:spLocks xmlns:a="http://schemas.openxmlformats.org/drawingml/2006/main" noGrp="1"/>
          </p:cNvSpPr>
          <p:nvPr/>
        </p:nvSpPr>
        <p:spPr>
          <a:xfrm xmlns:a="http://schemas.openxmlformats.org/drawingml/2006/main">
            <a:off x="533400" y="138112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Earlier paired result: 90% real / 10% simulation</a:t>
            </a:r>
          </a:p>
        </p:txBody>
      </p:sp>
      <p:sp>
        <p:nvSpPr>
          <p:cNvPr id="4" name="Joint MSE −4.04%   ·   Gripper MSE −7.86% ">
            <a:extLst xmlns:a="http://schemas.openxmlformats.org/drawingml/2006/main">
              <a:ext uri="{FF2B5EF4-FFF2-40B4-BE49-F238E27FC236}">
                <a16:creationId xmlns:a16="http://schemas.microsoft.com/office/drawing/2014/main" id="{5018D33A-B434-430B-8544-BC49D79CAE08}"/>
              </a:ext>
            </a:extLst>
          </p:cNvPr>
          <p:cNvSpPr>
            <a:spLocks xmlns:a="http://schemas.openxmlformats.org/drawingml/2006/main" noGrp="1"/>
          </p:cNvSpPr>
          <p:nvPr/>
        </p:nvSpPr>
        <p:spPr>
          <a:xfrm xmlns:a="http://schemas.openxmlformats.org/drawingml/2006/main">
            <a:off x="533400" y="192405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879"/>
                </a:solidFill>
                <a:latin typeface="Arial"/>
                <a:ea typeface="Arial"/>
                <a:cs typeface="Arial"/>
              </a:defRPr>
            </a:defPPr>
          </a:lstStyle>
          <a:p xmlns:a="http://schemas.openxmlformats.org/drawingml/2006/main">
            <a:pPr>
              <a:defRPr sz="2325" b="1">
                <a:solidFill>
                  <a:srgbClr val="008879"/>
                </a:solidFill>
                <a:latin typeface="Arial"/>
                <a:ea typeface="Arial"/>
                <a:cs typeface="Arial"/>
              </a:defRPr>
            </a:pPr>
            <a:r>
              <a:rPr sz="2325" b="1">
                <a:solidFill>
                  <a:srgbClr val="008879"/>
                </a:solidFill>
                <a:latin typeface="Arial"/>
                <a:ea typeface="Arial"/>
                <a:cs typeface="Arial"/>
              </a:rPr>
              <a:t>Joint MSE −4.04%   ·   Gripper MSE −7.86%   ·   9 / 14 arm joints improve</a:t>
            </a:r>
          </a:p>
        </p:txBody>
      </p:sp>
      <p:sp>
        <p:nvSpPr>
          <p:cNvPr id="5" name="Latest paired result: 50% real / 50% simul">
            <a:extLst xmlns:a="http://schemas.openxmlformats.org/drawingml/2006/main">
              <a:ext uri="{FF2B5EF4-FFF2-40B4-BE49-F238E27FC236}">
                <a16:creationId xmlns:a16="http://schemas.microsoft.com/office/drawing/2014/main" id="{57BDAC50-016B-4E18-92CB-E43286961819}"/>
              </a:ext>
            </a:extLst>
          </p:cNvPr>
          <p:cNvSpPr>
            <a:spLocks xmlns:a="http://schemas.openxmlformats.org/drawingml/2006/main" noGrp="1"/>
          </p:cNvSpPr>
          <p:nvPr/>
        </p:nvSpPr>
        <p:spPr>
          <a:xfrm xmlns:a="http://schemas.openxmlformats.org/drawingml/2006/main">
            <a:off x="533400" y="285750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Latest paired result: 50% real / 50% simulation</a:t>
            </a:r>
          </a:p>
        </p:txBody>
      </p:sp>
      <p:graphicFrame>
        <p:nvGraphicFramePr>
          <p:cNvPr id="6" name="">
            <a:extLst xmlns:a="http://schemas.openxmlformats.org/drawingml/2006/main">
              <a:ext uri="{FF2B5EF4-FFF2-40B4-BE49-F238E27FC236}">
                <a16:creationId xmlns:a16="http://schemas.microsoft.com/office/drawing/2014/main" id="{D873A670-44E2-406A-A26B-1B2384FA62A3}"/>
              </a:ext>
            </a:extLst>
          </p:cNvPr>
          <p:cNvGraphicFramePr/>
          <p:nvPr/>
        </p:nvGraphicFramePr>
        <p:xfrm>
          <a:off xmlns:a="http://schemas.openxmlformats.org/drawingml/2006/main" x="533400" y="3486150"/>
          <a:ext xmlns:a="http://schemas.openxmlformats.org/drawingml/2006/main" cx="11125200" cy="2133600"/>
        </p:xfrm>
        <a:graphic xmlns:a="http://schemas.openxmlformats.org/drawingml/2006/main">
          <a:graphicData uri="http://schemas.openxmlformats.org/drawingml/2006/table">
            <a:tbl>
              <a:tblPr/>
              <a:tblGrid>
                <a:gridCol w="5334000"/>
                <a:gridCol w="2895600"/>
                <a:gridCol w="2895600"/>
              </a:tblGrid>
              <a:tr h="533400">
                <a:tc>
                  <a:txBody>
                    <a:bodyPr lIns="114300" tIns="114300" rIns="114300" bIns="114300"/>
                    <a:lstStyle/>
                    <a:p>
                      <a:r>
                        <a:rPr sz="1800" b="1">
                          <a:solidFill>
                            <a:srgbClr val="142334"/>
                          </a:solidFill>
                          <a:latin typeface="Arial"/>
                          <a:ea typeface="Arial"/>
                          <a:cs typeface="Arial"/>
                        </a:rPr>
                        <a:t>Model · 10,000 updates</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800" b="1">
                          <a:solidFill>
                            <a:srgbClr val="142334"/>
                          </a:solidFill>
                          <a:latin typeface="Arial"/>
                          <a:ea typeface="Arial"/>
                          <a:cs typeface="Arial"/>
                        </a:rPr>
                        <a:t>Joint MSE (rad²)</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800" b="1">
                          <a:solidFill>
                            <a:srgbClr val="142334"/>
                          </a:solidFill>
                          <a:latin typeface="Arial"/>
                          <a:ea typeface="Arial"/>
                          <a:cs typeface="Arial"/>
                        </a:rPr>
                        <a:t>Gripper MSE (mm²)</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533400">
                <a:tc>
                  <a:txBody>
                    <a:bodyPr lIns="114300" tIns="114300" rIns="114300" bIns="114300"/>
                    <a:lstStyle/>
                    <a:p>
                      <a:r>
                        <a:rPr sz="1800" b="0">
                          <a:solidFill>
                            <a:srgbClr val="142334"/>
                          </a:solidFill>
                          <a:latin typeface="Arial"/>
                          <a:ea typeface="Arial"/>
                          <a:cs typeface="Arial"/>
                        </a:rPr>
                        <a:t>Real 100%</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800" b="0">
                          <a:solidFill>
                            <a:srgbClr val="142334"/>
                          </a:solidFill>
                          <a:latin typeface="Arial"/>
                          <a:ea typeface="Arial"/>
                          <a:cs typeface="Arial"/>
                        </a:rPr>
                        <a:t>0.006772</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800" b="0">
                          <a:solidFill>
                            <a:srgbClr val="142334"/>
                          </a:solidFill>
                          <a:latin typeface="Arial"/>
                          <a:ea typeface="Arial"/>
                          <a:cs typeface="Arial"/>
                        </a:rPr>
                        <a:t>405.98</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533400">
                <a:tc>
                  <a:txBody>
                    <a:bodyPr lIns="114300" tIns="114300" rIns="114300" bIns="114300"/>
                    <a:lstStyle/>
                    <a:p>
                      <a:r>
                        <a:rPr sz="1800" b="0">
                          <a:solidFill>
                            <a:srgbClr val="142334"/>
                          </a:solidFill>
                          <a:latin typeface="Arial"/>
                          <a:ea typeface="Arial"/>
                          <a:cs typeface="Arial"/>
                        </a:rPr>
                        <a:t>Real 50% / Sim 50%</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800" b="0">
                          <a:solidFill>
                            <a:srgbClr val="142334"/>
                          </a:solidFill>
                          <a:latin typeface="Arial"/>
                          <a:ea typeface="Arial"/>
                          <a:cs typeface="Arial"/>
                        </a:rPr>
                        <a:t>0.007230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800" b="0">
                          <a:solidFill>
                            <a:srgbClr val="142334"/>
                          </a:solidFill>
                          <a:latin typeface="Arial"/>
                          <a:ea typeface="Arial"/>
                          <a:cs typeface="Arial"/>
                        </a:rPr>
                        <a:t>356.80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533400">
                <a:tc>
                  <a:txBody>
                    <a:bodyPr lIns="114300" tIns="114300" rIns="114300" bIns="114300"/>
                    <a:lstStyle/>
                    <a:p>
                      <a:r>
                        <a:rPr sz="1800" b="0">
                          <a:solidFill>
                            <a:srgbClr val="142334"/>
                          </a:solidFill>
                          <a:latin typeface="Arial"/>
                          <a:ea typeface="Arial"/>
                          <a:cs typeface="Arial"/>
                        </a:rPr>
                        <a:t>Change vs paired baseline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800" b="0">
                          <a:solidFill>
                            <a:srgbClr val="142334"/>
                          </a:solidFill>
                          <a:latin typeface="Arial"/>
                          <a:ea typeface="Arial"/>
                          <a:cs typeface="Arial"/>
                        </a:rPr>
                        <a:t>+6.77%</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800" b="0">
                          <a:solidFill>
                            <a:srgbClr val="142334"/>
                          </a:solidFill>
                          <a:latin typeface="Arial"/>
                          <a:ea typeface="Arial"/>
                          <a:cs typeface="Arial"/>
                        </a:rPr>
                        <a:t>−12.11%</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7" name="Different initializations and data recipes">
            <a:extLst xmlns:a="http://schemas.openxmlformats.org/drawingml/2006/main">
              <a:ext uri="{FF2B5EF4-FFF2-40B4-BE49-F238E27FC236}">
                <a16:creationId xmlns:a16="http://schemas.microsoft.com/office/drawing/2014/main" id="{AC49E3E6-BE9B-43E1-862A-A9A84646393A}"/>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Different initializations and data recipes prevent causal attribution to ratio alone. MSE is not task success.</a:t>
            </a:r>
          </a:p>
        </p:txBody>
      </p:sp>
    </p:spTree>
    <p:extLst>
      <p:ext uri="{BB962C8B-B14F-4D97-AF65-F5344CB8AC3E}">
        <p14:creationId xmlns:p14="http://schemas.microsoft.com/office/powerpoint/2010/main" val="193519479"/>
      </p:ext>
    </p:extLst>
  </p:cSld>
</p:sld>
</file>

<file path=ppt/slides/slide2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Strict closed-loop evaluation exposes join">
            <a:extLst xmlns:a="http://schemas.openxmlformats.org/drawingml/2006/main">
              <a:ext uri="{FF2B5EF4-FFF2-40B4-BE49-F238E27FC236}">
                <a16:creationId xmlns:a16="http://schemas.microsoft.com/office/drawing/2014/main" id="{D21EBBB0-3F59-460B-A1BE-F95392E74A3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Strict closed-loop evaluation exposes joint-limit failures</a:t>
            </a:r>
          </a:p>
        </p:txBody>
      </p:sp>
      <p:sp>
        <p:nvSpPr>
          <p:cNvPr id="2" name="23">
            <a:extLst xmlns:a="http://schemas.openxmlformats.org/drawingml/2006/main">
              <a:ext uri="{FF2B5EF4-FFF2-40B4-BE49-F238E27FC236}">
                <a16:creationId xmlns:a16="http://schemas.microsoft.com/office/drawing/2014/main" id="{ED03DBA2-3D99-4A22-AF33-FD24CA70226E}"/>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23</a:t>
            </a:r>
          </a:p>
        </p:txBody>
      </p:sp>
      <p:sp>
        <p:nvSpPr>
          <p:cNvPr id="3" name="0 / 32">
            <a:extLst xmlns:a="http://schemas.openxmlformats.org/drawingml/2006/main">
              <a:ext uri="{FF2B5EF4-FFF2-40B4-BE49-F238E27FC236}">
                <a16:creationId xmlns:a16="http://schemas.microsoft.com/office/drawing/2014/main" id="{3234AC54-F935-4216-B7C4-794632245ECD}"/>
              </a:ext>
            </a:extLst>
          </p:cNvPr>
          <p:cNvSpPr>
            <a:spLocks xmlns:a="http://schemas.openxmlformats.org/drawingml/2006/main" noGrp="1"/>
          </p:cNvSpPr>
          <p:nvPr/>
        </p:nvSpPr>
        <p:spPr>
          <a:xfrm xmlns:a="http://schemas.openxmlformats.org/drawingml/2006/main">
            <a:off x="533400" y="15240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D8882E"/>
                </a:solidFill>
                <a:latin typeface="Arial"/>
                <a:ea typeface="Arial"/>
                <a:cs typeface="Arial"/>
              </a:defRPr>
            </a:defPPr>
          </a:lstStyle>
          <a:p xmlns:a="http://schemas.openxmlformats.org/drawingml/2006/main">
            <a:pPr>
              <a:defRPr sz="6900" b="1">
                <a:solidFill>
                  <a:srgbClr val="D8882E"/>
                </a:solidFill>
                <a:latin typeface="Arial"/>
                <a:ea typeface="Arial"/>
                <a:cs typeface="Arial"/>
              </a:defRPr>
            </a:pPr>
            <a:r>
              <a:rPr sz="6900" b="1">
                <a:solidFill>
                  <a:srgbClr val="D8882E"/>
                </a:solidFill>
                <a:latin typeface="Arial"/>
                <a:ea typeface="Arial"/>
                <a:cs typeface="Arial"/>
              </a:rPr>
              <a:t>0 / 32</a:t>
            </a:r>
          </a:p>
        </p:txBody>
      </p:sp>
      <p:sp>
        <p:nvSpPr>
          <p:cNvPr id="4" name="qualified Pick / Place pairs">
            <a:extLst xmlns:a="http://schemas.openxmlformats.org/drawingml/2006/main">
              <a:ext uri="{FF2B5EF4-FFF2-40B4-BE49-F238E27FC236}">
                <a16:creationId xmlns:a16="http://schemas.microsoft.com/office/drawing/2014/main" id="{85DAB2C1-869F-4B38-BE9C-2902B12F709B}"/>
              </a:ext>
            </a:extLst>
          </p:cNvPr>
          <p:cNvSpPr>
            <a:spLocks xmlns:a="http://schemas.openxmlformats.org/drawingml/2006/main" noGrp="1"/>
          </p:cNvSpPr>
          <p:nvPr/>
        </p:nvSpPr>
        <p:spPr>
          <a:xfrm xmlns:a="http://schemas.openxmlformats.org/drawingml/2006/main">
            <a:off x="533400" y="2762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qualified Pick / Place pairs</a:t>
            </a:r>
          </a:p>
        </p:txBody>
      </p:sp>
      <p:sp>
        <p:nvSpPr>
          <p:cNvPr id="5" name="32 model failures&#10;0 infrastructure failure">
            <a:extLst xmlns:a="http://schemas.openxmlformats.org/drawingml/2006/main">
              <a:ext uri="{FF2B5EF4-FFF2-40B4-BE49-F238E27FC236}">
                <a16:creationId xmlns:a16="http://schemas.microsoft.com/office/drawing/2014/main" id="{EB086919-6529-43E6-8661-51A73BAA9F3D}"/>
              </a:ext>
            </a:extLst>
          </p:cNvPr>
          <p:cNvSpPr>
            <a:spLocks xmlns:a="http://schemas.openxmlformats.org/drawingml/2006/main" noGrp="1"/>
          </p:cNvSpPr>
          <p:nvPr/>
        </p:nvSpPr>
        <p:spPr>
          <a:xfrm xmlns:a="http://schemas.openxmlformats.org/drawingml/2006/main">
            <a:off x="533400" y="361950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579"/>
                </a:solidFill>
                <a:latin typeface="Arial"/>
                <a:ea typeface="Arial"/>
                <a:cs typeface="Arial"/>
              </a:defRPr>
            </a:defPPr>
          </a:lstStyle>
          <a:p xmlns:a="http://schemas.openxmlformats.org/drawingml/2006/main">
            <a:pPr>
              <a:defRPr sz="2100" b="0">
                <a:solidFill>
                  <a:srgbClr val="526579"/>
                </a:solidFill>
                <a:latin typeface="Arial"/>
                <a:ea typeface="Arial"/>
                <a:cs typeface="Arial"/>
              </a:defRPr>
            </a:pPr>
            <a:r>
              <a:rPr sz="2100" b="0">
                <a:solidFill>
                  <a:srgbClr val="526579"/>
                </a:solidFill>
                <a:latin typeface="Arial"/>
                <a:ea typeface="Arial"/>
                <a:cs typeface="Arial"/>
              </a:rPr>
              <a:t>32 model failures</a:t>
            </a:r>
          </a:p>
          <a:p xmlns:a="http://schemas.openxmlformats.org/drawingml/2006/main">
            <a:pPr>
              <a:defRPr sz="2100" b="0">
                <a:solidFill>
                  <a:srgbClr val="526579"/>
                </a:solidFill>
                <a:latin typeface="Arial"/>
                <a:ea typeface="Arial"/>
                <a:cs typeface="Arial"/>
              </a:defRPr>
            </a:pPr>
            <a:r>
              <a:rPr sz="2100" b="0">
                <a:solidFill>
                  <a:srgbClr val="526579"/>
                </a:solidFill>
                <a:latin typeface="Arial"/>
                <a:ea typeface="Arial"/>
                <a:cs typeface="Arial"/>
              </a:rPr>
              <a:t>0 infrastructure failures</a:t>
            </a:r>
          </a:p>
          <a:p xmlns:a="http://schemas.openxmlformats.org/drawingml/2006/main">
            <a:pPr>
              <a:defRPr sz="2100" b="0">
                <a:solidFill>
                  <a:srgbClr val="526579"/>
                </a:solidFill>
                <a:latin typeface="Arial"/>
                <a:ea typeface="Arial"/>
                <a:cs typeface="Arial"/>
              </a:defRPr>
            </a:pPr>
            <a:r>
              <a:rPr sz="2100" b="0">
                <a:solidFill>
                  <a:srgbClr val="526579"/>
                </a:solidFill>
                <a:latin typeface="Arial"/>
                <a:ea typeface="Arial"/>
                <a:cs typeface="Arial"/>
              </a:rPr>
              <a:t>100% evaluation coverage</a:t>
            </a:r>
          </a:p>
        </p:txBody>
      </p:sp>
      <p:sp>
        <p:nvSpPr>
          <p:cNvPr id="6" name="All runs stopped at the joint-range guard">
            <a:extLst xmlns:a="http://schemas.openxmlformats.org/drawingml/2006/main">
              <a:ext uri="{FF2B5EF4-FFF2-40B4-BE49-F238E27FC236}">
                <a16:creationId xmlns:a16="http://schemas.microsoft.com/office/drawing/2014/main" id="{5E7FA990-E378-4B28-9FAA-6B5EBE333B37}"/>
              </a:ext>
            </a:extLst>
          </p:cNvPr>
          <p:cNvSpPr>
            <a:spLocks xmlns:a="http://schemas.openxmlformats.org/drawingml/2006/main" noGrp="1"/>
          </p:cNvSpPr>
          <p:nvPr/>
        </p:nvSpPr>
        <p:spPr>
          <a:xfrm xmlns:a="http://schemas.openxmlformats.org/drawingml/2006/main">
            <a:off x="6191250" y="1524000"/>
            <a:ext cx="5467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2334"/>
                </a:solidFill>
                <a:latin typeface="Arial"/>
                <a:ea typeface="Arial"/>
                <a:cs typeface="Arial"/>
              </a:defRPr>
            </a:defPPr>
          </a:lstStyle>
          <a:p xmlns:a="http://schemas.openxmlformats.org/drawingml/2006/main">
            <a:pPr>
              <a:defRPr sz="2475" b="1">
                <a:solidFill>
                  <a:srgbClr val="142334"/>
                </a:solidFill>
                <a:latin typeface="Arial"/>
                <a:ea typeface="Arial"/>
                <a:cs typeface="Arial"/>
              </a:defRPr>
            </a:pPr>
            <a:r>
              <a:rPr sz="2475" b="1">
                <a:solidFill>
                  <a:srgbClr val="142334"/>
                </a:solidFill>
                <a:latin typeface="Arial"/>
                <a:ea typeface="Arial"/>
                <a:cs typeface="Arial"/>
              </a:rPr>
              <a:t>All runs stopped at the joint-range guard</a:t>
            </a:r>
          </a:p>
        </p:txBody>
      </p:sp>
      <p:sp>
        <p:nvSpPr>
          <p:cNvPr id="7" name="Left arm joint 4: 29 rooms&#10;Right arm joint">
            <a:extLst xmlns:a="http://schemas.openxmlformats.org/drawingml/2006/main">
              <a:ext uri="{FF2B5EF4-FFF2-40B4-BE49-F238E27FC236}">
                <a16:creationId xmlns:a16="http://schemas.microsoft.com/office/drawing/2014/main" id="{DDE5F8BE-DA50-48C9-BBA9-14A58CF9E3B1}"/>
              </a:ext>
            </a:extLst>
          </p:cNvPr>
          <p:cNvSpPr>
            <a:spLocks xmlns:a="http://schemas.openxmlformats.org/drawingml/2006/main" noGrp="1"/>
          </p:cNvSpPr>
          <p:nvPr/>
        </p:nvSpPr>
        <p:spPr>
          <a:xfrm xmlns:a="http://schemas.openxmlformats.org/drawingml/2006/main">
            <a:off x="6191250" y="2667000"/>
            <a:ext cx="5467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579"/>
                </a:solidFill>
                <a:latin typeface="Arial"/>
                <a:ea typeface="Arial"/>
                <a:cs typeface="Arial"/>
              </a:defRPr>
            </a:defPPr>
          </a:lstStyle>
          <a:p xmlns:a="http://schemas.openxmlformats.org/drawingml/2006/main">
            <a:pPr>
              <a:defRPr sz="2250" b="0">
                <a:solidFill>
                  <a:srgbClr val="526579"/>
                </a:solidFill>
                <a:latin typeface="Arial"/>
                <a:ea typeface="Arial"/>
                <a:cs typeface="Arial"/>
              </a:defRPr>
            </a:pPr>
            <a:r>
              <a:rPr sz="2250" b="0">
                <a:solidFill>
                  <a:srgbClr val="526579"/>
                </a:solidFill>
                <a:latin typeface="Arial"/>
                <a:ea typeface="Arial"/>
                <a:cs typeface="Arial"/>
              </a:rPr>
              <a:t>Left arm joint 4: 29 rooms</a:t>
            </a:r>
          </a:p>
          <a:p xmlns:a="http://schemas.openxmlformats.org/drawingml/2006/main">
            <a:pPr>
              <a:defRPr sz="2250" b="0">
                <a:solidFill>
                  <a:srgbClr val="526579"/>
                </a:solidFill>
                <a:latin typeface="Arial"/>
                <a:ea typeface="Arial"/>
                <a:cs typeface="Arial"/>
              </a:defRPr>
            </a:pPr>
            <a:r>
              <a:rPr sz="2250" b="0">
                <a:solidFill>
                  <a:srgbClr val="526579"/>
                </a:solidFill>
                <a:latin typeface="Arial"/>
                <a:ea typeface="Arial"/>
                <a:cs typeface="Arial"/>
              </a:rPr>
              <a:t>Right arm joint 4: 3 rooms</a:t>
            </a:r>
          </a:p>
        </p:txBody>
      </p:sp>
      <p:sp>
        <p:nvSpPr>
          <p:cNvPr id="8" name="Protected diagnostics now make continued b">
            <a:extLst xmlns:a="http://schemas.openxmlformats.org/drawingml/2006/main">
              <a:ext uri="{FF2B5EF4-FFF2-40B4-BE49-F238E27FC236}">
                <a16:creationId xmlns:a16="http://schemas.microsoft.com/office/drawing/2014/main" id="{65E51A66-862F-40DD-93F9-166500F6C976}"/>
              </a:ext>
            </a:extLst>
          </p:cNvPr>
          <p:cNvSpPr>
            <a:spLocks xmlns:a="http://schemas.openxmlformats.org/drawingml/2006/main" noGrp="1"/>
          </p:cNvSpPr>
          <p:nvPr/>
        </p:nvSpPr>
        <p:spPr>
          <a:xfrm xmlns:a="http://schemas.openxmlformats.org/drawingml/2006/main">
            <a:off x="6191250" y="4238625"/>
            <a:ext cx="5467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667BA"/>
                </a:solidFill>
                <a:latin typeface="Arial"/>
                <a:ea typeface="Arial"/>
                <a:cs typeface="Arial"/>
              </a:defRPr>
            </a:defPPr>
          </a:lstStyle>
          <a:p xmlns:a="http://schemas.openxmlformats.org/drawingml/2006/main">
            <a:pPr>
              <a:defRPr sz="2100" b="1">
                <a:solidFill>
                  <a:srgbClr val="2667BA"/>
                </a:solidFill>
                <a:latin typeface="Arial"/>
                <a:ea typeface="Arial"/>
                <a:cs typeface="Arial"/>
              </a:defRPr>
            </a:pPr>
            <a:r>
              <a:rPr sz="2100" b="1">
                <a:solidFill>
                  <a:srgbClr val="2667BA"/>
                </a:solidFill>
                <a:latin typeface="Arial"/>
                <a:ea typeface="Arial"/>
                <a:cs typeface="Arial"/>
              </a:rPr>
              <a:t>Protected diagnostics now make continued behavior observable, but do not repair the model or establish strict-policy success.</a:t>
            </a:r>
          </a:p>
        </p:txBody>
      </p:sp>
      <p:sp>
        <p:nvSpPr>
          <p:cNvPr id="9" name="Scope: registered training-scene rooms. Ex">
            <a:extLst xmlns:a="http://schemas.openxmlformats.org/drawingml/2006/main">
              <a:ext uri="{FF2B5EF4-FFF2-40B4-BE49-F238E27FC236}">
                <a16:creationId xmlns:a16="http://schemas.microsoft.com/office/drawing/2014/main" id="{6FDEF5E2-940C-4675-A614-18F5F4E1C81B}"/>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Scope: registered training-scene rooms. Explicit clipping or robot limits are excluded from this success score.</a:t>
            </a:r>
          </a:p>
        </p:txBody>
      </p:sp>
    </p:spTree>
    <p:extLst>
      <p:ext uri="{BB962C8B-B14F-4D97-AF65-F5344CB8AC3E}">
        <p14:creationId xmlns:p14="http://schemas.microsoft.com/office/powerpoint/2010/main" val="959849270"/>
      </p:ext>
    </p:extLst>
  </p:cSld>
</p:sld>
</file>

<file path=ppt/slides/slide2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9" name="Runtime optimization cuts rollout time by ">
            <a:extLst xmlns:a="http://schemas.openxmlformats.org/drawingml/2006/main">
              <a:ext uri="{FF2B5EF4-FFF2-40B4-BE49-F238E27FC236}">
                <a16:creationId xmlns:a16="http://schemas.microsoft.com/office/drawing/2014/main" id="{430BB914-675A-4879-A1B6-AF84E0F7CDE9}"/>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Runtime optimization cuts rollout time by 3.34×</a:t>
            </a:r>
          </a:p>
        </p:txBody>
      </p:sp>
      <p:sp>
        <p:nvSpPr>
          <p:cNvPr id="2" name="24">
            <a:extLst xmlns:a="http://schemas.openxmlformats.org/drawingml/2006/main">
              <a:ext uri="{FF2B5EF4-FFF2-40B4-BE49-F238E27FC236}">
                <a16:creationId xmlns:a16="http://schemas.microsoft.com/office/drawing/2014/main" id="{39907A64-A4F7-4C47-A44D-1275D0656C06}"/>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24</a:t>
            </a:r>
          </a:p>
        </p:txBody>
      </p:sp>
      <p:graphicFrame>
        <p:nvGraphicFramePr>
          <p:cNvPr id="3" name="Chart">
            <a:extLst xmlns:a="http://schemas.openxmlformats.org/drawingml/2006/main">
              <a:ext uri="{FF2B5EF4-FFF2-40B4-BE49-F238E27FC236}">
                <a16:creationId xmlns:a16="http://schemas.microsoft.com/office/drawing/2014/main" id="{B534EEA4-8BAA-41BC-8205-4F574F85B5FB}"/>
              </a:ext>
            </a:extLst>
          </p:cNvPr>
          <p:cNvGraphicFramePr/>
          <p:nvPr/>
        </p:nvGraphicFramePr>
        <p:xfrm>
          <a:off xmlns:a="http://schemas.openxmlformats.org/drawingml/2006/main" x="533400" y="15240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4f55edfb3f4345f7"/>
          </a:graphicData>
        </a:graphic>
      </p:graphicFrame>
      <p:sp>
        <p:nvSpPr>
          <p:cNvPr id="4" name="15.87 s → 4.74 s">
            <a:extLst xmlns:a="http://schemas.openxmlformats.org/drawingml/2006/main">
              <a:ext uri="{FF2B5EF4-FFF2-40B4-BE49-F238E27FC236}">
                <a16:creationId xmlns:a16="http://schemas.microsoft.com/office/drawing/2014/main" id="{C8BF8358-36AE-4A65-8E18-356A09D26D8E}"/>
              </a:ext>
            </a:extLst>
          </p:cNvPr>
          <p:cNvSpPr>
            <a:spLocks xmlns:a="http://schemas.openxmlformats.org/drawingml/2006/main" noGrp="1"/>
          </p:cNvSpPr>
          <p:nvPr/>
        </p:nvSpPr>
        <p:spPr>
          <a:xfrm xmlns:a="http://schemas.openxmlformats.org/drawingml/2006/main">
            <a:off x="8239125" y="18097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08879"/>
                </a:solidFill>
                <a:latin typeface="Arial"/>
                <a:ea typeface="Arial"/>
                <a:cs typeface="Arial"/>
              </a:defRPr>
            </a:defPPr>
          </a:lstStyle>
          <a:p xmlns:a="http://schemas.openxmlformats.org/drawingml/2006/main">
            <a:pPr>
              <a:defRPr sz="2850" b="1">
                <a:solidFill>
                  <a:srgbClr val="008879"/>
                </a:solidFill>
                <a:latin typeface="Arial"/>
                <a:ea typeface="Arial"/>
                <a:cs typeface="Arial"/>
              </a:defRPr>
            </a:pPr>
            <a:r>
              <a:rPr sz="2850" b="1">
                <a:solidFill>
                  <a:srgbClr val="008879"/>
                </a:solidFill>
                <a:latin typeface="Arial"/>
                <a:ea typeface="Arial"/>
                <a:cs typeface="Arial"/>
              </a:rPr>
              <a:t>15.87 s → 4.74 s</a:t>
            </a:r>
          </a:p>
        </p:txBody>
      </p:sp>
      <p:sp>
        <p:nvSpPr>
          <p:cNvPr id="5" name="2 simulated seconds&#10;40 action frames&#10;1,000">
            <a:extLst xmlns:a="http://schemas.openxmlformats.org/drawingml/2006/main">
              <a:ext uri="{FF2B5EF4-FFF2-40B4-BE49-F238E27FC236}">
                <a16:creationId xmlns:a16="http://schemas.microsoft.com/office/drawing/2014/main" id="{A3607099-81B4-41EB-9044-B67BD096F443}"/>
              </a:ext>
            </a:extLst>
          </p:cNvPr>
          <p:cNvSpPr>
            <a:spLocks xmlns:a="http://schemas.openxmlformats.org/drawingml/2006/main" noGrp="1"/>
          </p:cNvSpPr>
          <p:nvPr/>
        </p:nvSpPr>
        <p:spPr>
          <a:xfrm xmlns:a="http://schemas.openxmlformats.org/drawingml/2006/main">
            <a:off x="8239125" y="2809875"/>
            <a:ext cx="3429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579"/>
                </a:solidFill>
                <a:latin typeface="Arial"/>
                <a:ea typeface="Arial"/>
                <a:cs typeface="Arial"/>
              </a:defRPr>
            </a:defPPr>
          </a:lstStyle>
          <a:p xmlns:a="http://schemas.openxmlformats.org/drawingml/2006/main">
            <a:pPr>
              <a:defRPr sz="2025" b="0">
                <a:solidFill>
                  <a:srgbClr val="526579"/>
                </a:solidFill>
                <a:latin typeface="Arial"/>
                <a:ea typeface="Arial"/>
                <a:cs typeface="Arial"/>
              </a:defRPr>
            </a:pPr>
            <a:r>
              <a:rPr sz="2025" b="0">
                <a:solidFill>
                  <a:srgbClr val="526579"/>
                </a:solidFill>
                <a:latin typeface="Arial"/>
                <a:ea typeface="Arial"/>
                <a:cs typeface="Arial"/>
              </a:rPr>
              <a:t>2 simulated seconds</a:t>
            </a:r>
          </a:p>
          <a:p xmlns:a="http://schemas.openxmlformats.org/drawingml/2006/main">
            <a:pPr>
              <a:defRPr sz="2025" b="0">
                <a:solidFill>
                  <a:srgbClr val="526579"/>
                </a:solidFill>
                <a:latin typeface="Arial"/>
                <a:ea typeface="Arial"/>
                <a:cs typeface="Arial"/>
              </a:defRPr>
            </a:pPr>
            <a:r>
              <a:rPr sz="2025" b="0">
                <a:solidFill>
                  <a:srgbClr val="526579"/>
                </a:solidFill>
                <a:latin typeface="Arial"/>
                <a:ea typeface="Arial"/>
                <a:cs typeface="Arial"/>
              </a:rPr>
              <a:t>40 action frames</a:t>
            </a:r>
          </a:p>
          <a:p xmlns:a="http://schemas.openxmlformats.org/drawingml/2006/main">
            <a:pPr>
              <a:defRPr sz="2025" b="0">
                <a:solidFill>
                  <a:srgbClr val="526579"/>
                </a:solidFill>
                <a:latin typeface="Arial"/>
                <a:ea typeface="Arial"/>
                <a:cs typeface="Arial"/>
              </a:defRPr>
            </a:pPr>
            <a:r>
              <a:rPr sz="2025" b="0">
                <a:solidFill>
                  <a:srgbClr val="526579"/>
                </a:solidFill>
                <a:latin typeface="Arial"/>
                <a:ea typeface="Arial"/>
                <a:cs typeface="Arial"/>
              </a:rPr>
              <a:t>1,000 physics substeps</a:t>
            </a:r>
          </a:p>
        </p:txBody>
      </p:sp>
      <p:sp>
        <p:nvSpPr>
          <p:cNvPr id="6" name="0.126× → 0.422×">
            <a:extLst xmlns:a="http://schemas.openxmlformats.org/drawingml/2006/main">
              <a:ext uri="{FF2B5EF4-FFF2-40B4-BE49-F238E27FC236}">
                <a16:creationId xmlns:a16="http://schemas.microsoft.com/office/drawing/2014/main" id="{29F45607-6E1A-4887-886D-AF3AEDEEAEF7}"/>
              </a:ext>
            </a:extLst>
          </p:cNvPr>
          <p:cNvSpPr>
            <a:spLocks xmlns:a="http://schemas.openxmlformats.org/drawingml/2006/main" noGrp="1"/>
          </p:cNvSpPr>
          <p:nvPr/>
        </p:nvSpPr>
        <p:spPr>
          <a:xfrm xmlns:a="http://schemas.openxmlformats.org/drawingml/2006/main">
            <a:off x="8239125" y="43815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2334"/>
                </a:solidFill>
                <a:latin typeface="Arial"/>
                <a:ea typeface="Arial"/>
                <a:cs typeface="Arial"/>
              </a:defRPr>
            </a:defPPr>
          </a:lstStyle>
          <a:p xmlns:a="http://schemas.openxmlformats.org/drawingml/2006/main">
            <a:pPr>
              <a:defRPr sz="2475" b="1">
                <a:solidFill>
                  <a:srgbClr val="142334"/>
                </a:solidFill>
                <a:latin typeface="Arial"/>
                <a:ea typeface="Arial"/>
                <a:cs typeface="Arial"/>
              </a:defRPr>
            </a:pPr>
            <a:r>
              <a:rPr sz="2475" b="1">
                <a:solidFill>
                  <a:srgbClr val="142334"/>
                </a:solidFill>
                <a:latin typeface="Arial"/>
                <a:ea typeface="Arial"/>
                <a:cs typeface="Arial"/>
              </a:rPr>
              <a:t>0.126× → 0.422×</a:t>
            </a:r>
          </a:p>
        </p:txBody>
      </p:sp>
      <p:sp>
        <p:nvSpPr>
          <p:cNvPr id="7" name="Real-time factor remains below 1.0×.">
            <a:extLst xmlns:a="http://schemas.openxmlformats.org/drawingml/2006/main">
              <a:ext uri="{FF2B5EF4-FFF2-40B4-BE49-F238E27FC236}">
                <a16:creationId xmlns:a16="http://schemas.microsoft.com/office/drawing/2014/main" id="{7E01E1EC-CE86-4907-828A-E324EDDF34A1}"/>
              </a:ext>
            </a:extLst>
          </p:cNvPr>
          <p:cNvSpPr>
            <a:spLocks xmlns:a="http://schemas.openxmlformats.org/drawingml/2006/main" noGrp="1"/>
          </p:cNvSpPr>
          <p:nvPr/>
        </p:nvSpPr>
        <p:spPr>
          <a:xfrm xmlns:a="http://schemas.openxmlformats.org/drawingml/2006/main">
            <a:off x="8239125" y="500062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Real-time factor remains below 1.0×.</a:t>
            </a:r>
          </a:p>
        </p:txBody>
      </p:sp>
      <p:sp>
        <p:nvSpPr>
          <p:cNvPr id="8" name="Single short paired benchmark with robot l">
            <a:extLst xmlns:a="http://schemas.openxmlformats.org/drawingml/2006/main">
              <a:ext uri="{FF2B5EF4-FFF2-40B4-BE49-F238E27FC236}">
                <a16:creationId xmlns:a16="http://schemas.microsoft.com/office/drawing/2014/main" id="{5454BA25-104D-419E-8DF5-BC4C5FF7A15B}"/>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Single short paired benchmark with robot limits enabled. Both runs ended at the duration limit.</a:t>
            </a:r>
          </a:p>
        </p:txBody>
      </p:sp>
    </p:spTree>
    <p:extLst>
      <p:ext uri="{BB962C8B-B14F-4D97-AF65-F5344CB8AC3E}">
        <p14:creationId xmlns:p14="http://schemas.microsoft.com/office/powerpoint/2010/main" val="951424019"/>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5F6F3"/>
        </a:solidFill>
      </p:bgPr>
    </p:bg>
    <p:spTree>
      <p:nvGrpSpPr>
        <p:cNvPr id="1" name=""/>
        <p:cNvGrpSpPr/>
        <p:nvPr/>
      </p:nvGrpSpPr>
      <p:grpSpPr>
        <a:xfrm/>
      </p:grpSpPr>
      <p:sp>
        <p:nvSpPr>
          <p:cNvPr id="5" name="Watch the measured runtime difference">
            <a:extLst>
              <a:ext uri="{FF2B5EF4-FFF2-40B4-BE49-F238E27FC236}">
                <ns2:creationId id="{6F14174F-F793-4C22-B81F-283E56E3DFB7}"/>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142334"/>
                </a:solidFill>
                <a:latin typeface="Arial"/>
                <a:ea typeface="Arial"/>
                <a:cs typeface="Arial"/>
              </a:defRPr>
            </a:defPPr>
          </a:lstStyle>
          <a:p>
            <a:pPr>
              <a:defRPr sz="3225" b="1">
                <a:solidFill>
                  <a:srgbClr val="142334"/>
                </a:solidFill>
                <a:latin typeface="Arial"/>
                <a:ea typeface="Arial"/>
                <a:cs typeface="Arial"/>
              </a:defRPr>
            </a:pPr>
            <a:r>
              <a:rPr sz="3225" b="1">
                <a:solidFill>
                  <a:srgbClr val="142334"/>
                </a:solidFill>
                <a:latin typeface="Arial"/>
                <a:ea typeface="Arial"/>
                <a:cs typeface="Arial"/>
              </a:rPr>
              <a:t>Watch the measured runtime difference</a:t>
            </a:r>
          </a:p>
        </p:txBody>
      </p:sp>
      <p:sp>
        <p:nvSpPr>
          <p:cNvPr id="2" name="25">
            <a:extLst>
              <a:ext uri="{FF2B5EF4-FFF2-40B4-BE49-F238E27FC236}">
                <ns2:creationId id="{0BA8861A-251D-4E25-BDDB-023C229E6AF3}"/>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526579"/>
                </a:solidFill>
                <a:latin typeface="Arial"/>
                <a:ea typeface="Arial"/>
                <a:cs typeface="Arial"/>
              </a:defRPr>
            </a:defPPr>
          </a:lstStyle>
          <a:p>
            <a:pPr>
              <a:defRPr sz="1200" b="0">
                <a:solidFill>
                  <a:srgbClr val="526579"/>
                </a:solidFill>
                <a:latin typeface="Arial"/>
                <a:ea typeface="Arial"/>
                <a:cs typeface="Arial"/>
              </a:defRPr>
            </a:pPr>
            <a:r>
              <a:rPr sz="1200" b="0">
                <a:solidFill>
                  <a:srgbClr val="526579"/>
                </a:solidFill>
                <a:latin typeface="Arial"/>
                <a:ea typeface="Arial"/>
                <a:cs typeface="Arial"/>
              </a:rPr>
              <a:t>25</a:t>
            </a:r>
          </a:p>
        </p:txBody>
      </p:sp>
      <p:pic>
        <p:nvPicPr>
          <p:cNvPr id="3" name="runtime_comparison_english.mp4" descr="VIDEO_POSTER_RUNTIME">
            <a:extLst>
              <a:ext uri="{FF2B5EF4-FFF2-40B4-BE49-F238E27FC236}">
                <ns2:creationId id="{D37B084F-166C-4183-970D-12B2FDBFBB15}"/>
              </a:ext>
            </a:extLst>
            <a:hlinkClick action="ppaction://media"/>
          </p:cNvPr>
          <p:cNvPicPr>
            <a:picLocks noChangeAspect="1"/>
          </p:cNvPicPr>
          <p:nvPr>
            <a:videoFile r:link="rIdPresentationVideo"/>
            <p:extLst>
              <p:ext uri="{DAA4B4D4-6D71-4841-9C94-3DE7FCFB9230}">
                <p14:media r:embed="rIdPresentationMedia"/>
              </p:ext>
            </p:extLst>
          </p:nvPr>
        </p:nvPicPr>
        <p:blipFill>
          <a:blip r:embed="Rdab517501c1240b0"/>
          <a:stretch/>
        </p:blipFill>
        <p:spPr>
          <a:xfrm>
            <a:off x="1735667" y="1190625"/>
            <a:ext cx="8720667" cy="4905375"/>
          </a:xfrm>
          <a:prstGeom prst="rect">
            <a:avLst/>
          </a:prstGeom>
        </p:spPr>
      </p:pic>
      <p:sp>
        <p:nvSpPr>
          <p:cNvPr id="4" name="Actual wall time is preserved. After the o">
            <a:extLst>
              <a:ext uri="{FF2B5EF4-FFF2-40B4-BE49-F238E27FC236}">
                <ns2:creationId id="{A00240F7-14FF-4029-8585-F2E59CDE0C75}"/>
              </a:ext>
            </a:extLst>
          </p:cNvPr>
          <p:cNvSpPr>
            <a:spLocks noGrp="1"/>
          </p:cNvSpPr>
          <p:nvPr/>
        </p:nvSpPr>
        <p:spPr>
          <a:xfrm>
            <a:off x="533400" y="6219825"/>
            <a:ext cx="10620375" cy="381000"/>
          </a:xfrm>
          <a:prstGeom prst="rect">
            <a:avLst/>
          </a:prstGeom>
          <a:noFill/>
          <a:ln w="0">
            <a:noFill/>
          </a:ln>
        </p:spPr>
        <p:txBody>
          <a:bodyPr wrap="square" lIns="0" tIns="0" rIns="0" bIns="0" anchor="t">
            <a:noAutofit/>
          </a:bodyPr>
          <a:lstStyle>
            <a:defPPr>
              <a:defRPr sz="1275" b="0">
                <a:solidFill>
                  <a:srgbClr val="526579"/>
                </a:solidFill>
                <a:latin typeface="Arial"/>
                <a:ea typeface="Arial"/>
                <a:cs typeface="Arial"/>
              </a:defRPr>
            </a:defPPr>
          </a:lstStyle>
          <a:p>
            <a:pPr>
              <a:defRPr sz="1275" b="0">
                <a:solidFill>
                  <a:srgbClr val="526579"/>
                </a:solidFill>
                <a:latin typeface="Arial"/>
                <a:ea typeface="Arial"/>
                <a:cs typeface="Arial"/>
              </a:defRPr>
            </a:pPr>
            <a:r>
              <a:rPr sz="1275" b="0">
                <a:solidFill>
                  <a:srgbClr val="526579"/>
                </a:solidFill>
                <a:latin typeface="Arial"/>
                <a:ea typeface="Arial"/>
                <a:cs typeface="Arial"/>
              </a:rPr>
              <a:t>Actual wall time is preserved. After the optimized run ends, its final frame is explicitly held.</a:t>
            </a:r>
          </a:p>
        </p:txBody>
      </p:sp>
    </p:spTree>
    <p:extLst>
      <p:ext uri="{BB962C8B-B14F-4D97-AF65-F5344CB8AC3E}">
        <p14:creationId val="2138850557"/>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2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What is delivered, and what must improve n">
            <a:extLst xmlns:a="http://schemas.openxmlformats.org/drawingml/2006/main">
              <a:ext uri="{FF2B5EF4-FFF2-40B4-BE49-F238E27FC236}">
                <a16:creationId xmlns:a16="http://schemas.microsoft.com/office/drawing/2014/main" id="{0D8A8425-BDFC-425C-9D3B-CFADB1060D2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What is delivered, and what must improve next</a:t>
            </a:r>
          </a:p>
        </p:txBody>
      </p:sp>
      <p:sp>
        <p:nvSpPr>
          <p:cNvPr id="2" name="26">
            <a:extLst xmlns:a="http://schemas.openxmlformats.org/drawingml/2006/main">
              <a:ext uri="{FF2B5EF4-FFF2-40B4-BE49-F238E27FC236}">
                <a16:creationId xmlns:a16="http://schemas.microsoft.com/office/drawing/2014/main" id="{E049F389-D73D-4A72-B0CD-1F0AD27E2FDC}"/>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26</a:t>
            </a:r>
          </a:p>
        </p:txBody>
      </p:sp>
      <p:graphicFrame>
        <p:nvGraphicFramePr>
          <p:cNvPr id="3" name="">
            <a:extLst xmlns:a="http://schemas.openxmlformats.org/drawingml/2006/main">
              <a:ext uri="{FF2B5EF4-FFF2-40B4-BE49-F238E27FC236}">
                <a16:creationId xmlns:a16="http://schemas.microsoft.com/office/drawing/2014/main" id="{40BB36E2-02EF-4BA7-8644-FEC63E7B4BB6}"/>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381250"/>
                <a:gridCol w="4476750"/>
                <a:gridCol w="4267200"/>
              </a:tblGrid>
              <a:tr h="682625">
                <a:tc>
                  <a:txBody>
                    <a:bodyPr lIns="114300" tIns="114300" rIns="114300" bIns="114300"/>
                    <a:lstStyle/>
                    <a:p>
                      <a:r>
                        <a:rPr sz="1650" b="1">
                          <a:solidFill>
                            <a:srgbClr val="142334"/>
                          </a:solidFill>
                          <a:latin typeface="Arial"/>
                          <a:ea typeface="Arial"/>
                          <a:cs typeface="Arial"/>
                        </a:rPr>
                        <a:t>Area</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Delivered evidence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Next validation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650" b="0">
                          <a:solidFill>
                            <a:srgbClr val="142334"/>
                          </a:solidFill>
                          <a:latin typeface="Arial"/>
                          <a:ea typeface="Arial"/>
                          <a:cs typeface="Arial"/>
                        </a:rPr>
                        <a:t>Scene and data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Lab editing; 313 qualified / 300 frozen pairs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Hold out independent parent scenes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650" b="0">
                          <a:solidFill>
                            <a:srgbClr val="142334"/>
                          </a:solidFill>
                          <a:latin typeface="Arial"/>
                          <a:ea typeface="Arial"/>
                          <a:cs typeface="Arial"/>
                        </a:rPr>
                        <a:t>Training and evaluation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10k model; paired MSE; 32-room strict VLA</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Match initialization for ratio ablations</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650" b="0">
                          <a:solidFill>
                            <a:srgbClr val="142334"/>
                          </a:solidFill>
                          <a:latin typeface="Arial"/>
                          <a:ea typeface="Arial"/>
                          <a:cs typeface="Arial"/>
                        </a:rPr>
                        <a:t>Policy execution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Measured 3D / cameras; explicit robot limits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Resolve joint-range and gripper contracts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650" b="0">
                          <a:solidFill>
                            <a:srgbClr val="142334"/>
                          </a:solidFill>
                          <a:latin typeface="Arial"/>
                          <a:ea typeface="Arial"/>
                          <a:cs typeface="Arial"/>
                        </a:rPr>
                        <a:t>Runtime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3.34× faster in a 2 s paired diagnostic</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Sustain ≥1× and test longer rollouts</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650" b="0">
                          <a:solidFill>
                            <a:srgbClr val="142334"/>
                          </a:solidFill>
                          <a:latin typeface="Arial"/>
                          <a:ea typeface="Arial"/>
                          <a:cs typeface="Arial"/>
                        </a:rPr>
                        <a:t>Real-robot transfer</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User video: real10/sim90,10k updates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Bind exact checkpoint; count attempts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Engineering workflow is demonstrated. Gene">
            <a:extLst xmlns:a="http://schemas.openxmlformats.org/drawingml/2006/main">
              <a:ext uri="{FF2B5EF4-FFF2-40B4-BE49-F238E27FC236}">
                <a16:creationId xmlns:a16="http://schemas.microsoft.com/office/drawing/2014/main" id="{8B8107A7-D1CD-4906-B64A-82D4C0CD24F8}"/>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Engineering workflow is demonstrated. General task success and causal simulation-data gains remain open.</a:t>
            </a:r>
          </a:p>
        </p:txBody>
      </p:sp>
    </p:spTree>
    <p:extLst>
      <p:ext uri="{BB962C8B-B14F-4D97-AF65-F5344CB8AC3E}">
        <p14:creationId xmlns:p14="http://schemas.microsoft.com/office/powerpoint/2010/main" val="1390116137"/>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111F30"/>
        </a:solidFill>
      </p:bgPr>
    </p:bg>
    <p:spTree>
      <p:nvGrpSpPr>
        <p:cNvPr id="1" name=""/>
        <p:cNvGrpSpPr/>
        <p:nvPr/>
      </p:nvGrpSpPr>
      <p:grpSpPr>
        <a:xfrm/>
      </p:grpSpPr>
      <p:sp>
        <p:nvSpPr>
          <p:cNvPr id="5" name="Real-robot demonstration">
            <a:extLst>
              <a:ext uri="{FF2B5EF4-FFF2-40B4-BE49-F238E27FC236}">
                <ns2:creationId id="{852A6660-5AFC-42FE-8F5B-1714AEC19F8B}"/>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FFFFFF"/>
                </a:solidFill>
                <a:latin typeface="Arial"/>
                <a:ea typeface="Arial"/>
                <a:cs typeface="Arial"/>
              </a:defRPr>
            </a:defPPr>
          </a:lstStyle>
          <a:p>
            <a:pPr>
              <a:defRPr sz="3225" b="1">
                <a:solidFill>
                  <a:srgbClr val="FFFFFF"/>
                </a:solidFill>
                <a:latin typeface="Arial"/>
                <a:ea typeface="Arial"/>
                <a:cs typeface="Arial"/>
              </a:defRPr>
            </a:pPr>
            <a:r>
              <a:rPr sz="3225" b="1">
                <a:solidFill>
                  <a:srgbClr val="FFFFFF"/>
                </a:solidFill>
                <a:latin typeface="Arial"/>
                <a:ea typeface="Arial"/>
                <a:cs typeface="Arial"/>
              </a:rPr>
              <a:t>Real-robot demonstration</a:t>
            </a:r>
          </a:p>
        </p:txBody>
      </p:sp>
      <p:sp>
        <p:nvSpPr>
          <p:cNvPr id="2" name="27">
            <a:extLst>
              <a:ext uri="{FF2B5EF4-FFF2-40B4-BE49-F238E27FC236}">
                <ns2:creationId id="{536C8AB2-AF22-4F20-952A-147344F71C1E}"/>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B4C3D3"/>
                </a:solidFill>
                <a:latin typeface="Arial"/>
                <a:ea typeface="Arial"/>
                <a:cs typeface="Arial"/>
              </a:defRPr>
            </a:defPPr>
          </a:lstStyle>
          <a:p>
            <a:pPr>
              <a:defRPr sz="1200" b="0">
                <a:solidFill>
                  <a:srgbClr val="B4C3D3"/>
                </a:solidFill>
                <a:latin typeface="Arial"/>
                <a:ea typeface="Arial"/>
                <a:cs typeface="Arial"/>
              </a:defRPr>
            </a:pPr>
            <a:r>
              <a:rPr sz="1200" b="0">
                <a:solidFill>
                  <a:srgbClr val="B4C3D3"/>
                </a:solidFill>
                <a:latin typeface="Arial"/>
                <a:ea typeface="Arial"/>
                <a:cs typeface="Arial"/>
              </a:rPr>
              <a:t>27</a:t>
            </a:r>
          </a:p>
        </p:txBody>
      </p:sp>
      <p:pic>
        <p:nvPicPr>
          <p:cNvPr id="3" name="real_robot_english.mp4" descr="VIDEO_POSTER_REAL">
            <a:extLst>
              <a:ext uri="{FF2B5EF4-FFF2-40B4-BE49-F238E27FC236}">
                <ns2:creationId id="{2F55A678-509A-4AAD-AD0F-1449C6B335C2}"/>
              </a:ext>
            </a:extLst>
            <a:hlinkClick action="ppaction://media"/>
          </p:cNvPr>
          <p:cNvPicPr>
            <a:picLocks noChangeAspect="1"/>
          </p:cNvPicPr>
          <p:nvPr>
            <a:videoFile r:link="rIdPresentationVideo"/>
            <p:extLst>
              <p:ext uri="{DAA4B4D4-6D71-4841-9C94-3DE7FCFB9230}">
                <p14:media r:embed="rIdPresentationMedia"/>
              </p:ext>
            </p:extLst>
          </p:nvPr>
        </p:nvPicPr>
        <p:blipFill>
          <a:blip r:embed="R0c6b714d288f465b"/>
          <a:stretch/>
        </p:blipFill>
        <p:spPr>
          <a:xfrm>
            <a:off x="1735667" y="1190625"/>
            <a:ext cx="8720667" cy="4905375"/>
          </a:xfrm>
          <a:prstGeom prst="rect">
            <a:avLst/>
          </a:prstGeom>
        </p:spPr>
      </p:pic>
      <p:sp>
        <p:nvSpPr>
          <p:cNvPr id="4" name="Original speed. User-reported recipe: 10% ">
            <a:extLst>
              <a:ext uri="{FF2B5EF4-FFF2-40B4-BE49-F238E27FC236}">
                <ns2:creationId id="{E32D8789-E604-4C0B-AB48-D69A2BD735EE}"/>
              </a:ext>
            </a:extLst>
          </p:cNvPr>
          <p:cNvSpPr>
            <a:spLocks noGrp="1"/>
          </p:cNvSpPr>
          <p:nvPr/>
        </p:nvSpPr>
        <p:spPr>
          <a:xfrm>
            <a:off x="533400" y="6219825"/>
            <a:ext cx="10620375" cy="400050"/>
          </a:xfrm>
          <a:prstGeom prst="rect">
            <a:avLst/>
          </a:prstGeom>
          <a:noFill/>
          <a:ln w="0">
            <a:noFill/>
          </a:ln>
        </p:spPr>
        <p:txBody>
          <a:bodyPr wrap="square" lIns="0" tIns="0" rIns="0" bIns="0" anchor="t">
            <a:noAutofit/>
          </a:bodyPr>
          <a:lstStyle>
            <a:defPPr>
              <a:defRPr sz="1275" b="0">
                <a:solidFill>
                  <a:srgbClr val="B3C5D9"/>
                </a:solidFill>
                <a:latin typeface="Arial"/>
                <a:ea typeface="Arial"/>
                <a:cs typeface="Arial"/>
              </a:defRPr>
            </a:defPPr>
          </a:lstStyle>
          <a:p>
            <a:pPr>
              <a:defRPr sz="1275" b="0">
                <a:solidFill>
                  <a:srgbClr val="B3C5D9"/>
                </a:solidFill>
                <a:latin typeface="Arial"/>
                <a:ea typeface="Arial"/>
                <a:cs typeface="Arial"/>
              </a:defRPr>
            </a:pPr>
            <a:r>
              <a:rPr sz="1275" b="0">
                <a:solidFill>
                  <a:srgbClr val="B3C5D9"/>
                </a:solidFill>
                <a:latin typeface="Arial"/>
                <a:ea typeface="Arial"/>
                <a:cs typeface="Arial"/>
              </a:rPr>
              <a:t>Original speed. User-reported recipe: 10% real + 90% simulation, 10,000 updates.</a:t>
            </a:r>
          </a:p>
        </p:txBody>
      </p:sp>
    </p:spTree>
    <p:extLst>
      <p:ext uri="{BB962C8B-B14F-4D97-AF65-F5344CB8AC3E}">
        <p14:creationId val="2085149090"/>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2026-10-19T10:35:56.2250000Z</dcterms:created>
  <dcterms:modified xsi:type="dcterms:W3CDTF">2026-10-19T10:35:56.2250000Z</dcterms:modified>
</coreProperties>
</file>