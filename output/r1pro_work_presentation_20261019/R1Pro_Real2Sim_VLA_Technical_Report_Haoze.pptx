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mp4" ContentType="video/mp4"/>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c63eafed1be42f6" /><Relationship Type="http://schemas.openxmlformats.org/officeDocument/2006/relationships/extended-properties" Target="/docProps/app.xml" Id="Rd80816dc7eda4848" /><Relationship Type="http://schemas.openxmlformats.org/officeDocument/2006/relationships/officeDocument" Target="/ppt/presentation.xml" Id="R4425faed62b24705" /></Relationships>
</file>

<file path=ppt/presentation.xml><?xml version="1.0" encoding="utf-8"?>
<p:presentation xmlns:p="http://schemas.openxmlformats.org/presentationml/2006/main">
  <p:sldMasterIdLst>
    <p:sldMasterId xmlns:r="http://schemas.openxmlformats.org/officeDocument/2006/relationships" id="2147483648" r:id="R62431a81f17f4774"/>
  </p:sldMasterIdLst>
  <p:notesMasterIdLst>
    <p:notesMasterId xmlns:r="http://schemas.openxmlformats.org/officeDocument/2006/relationships" r:id="R55f615c187874c0e"/>
  </p:notesMasterIdLst>
  <p:sldIdLst>
    <p:sldId xmlns:r="http://schemas.openxmlformats.org/officeDocument/2006/relationships" id="256" r:id="R28aa42270de44102"/>
    <p:sldId xmlns:r="http://schemas.openxmlformats.org/officeDocument/2006/relationships" id="257" r:id="R988078f60e6840c8"/>
    <p:sldId xmlns:r="http://schemas.openxmlformats.org/officeDocument/2006/relationships" id="258" r:id="Rfed0d702500c4567"/>
    <p:sldId xmlns:r="http://schemas.openxmlformats.org/officeDocument/2006/relationships" id="259" r:id="R32f843d7bdde4c81"/>
    <p:sldId xmlns:r="http://schemas.openxmlformats.org/officeDocument/2006/relationships" id="260" r:id="R1d1336ec7ee843ae"/>
    <p:sldId xmlns:r="http://schemas.openxmlformats.org/officeDocument/2006/relationships" id="261" r:id="Rdf9642c0dc294a6e"/>
    <p:sldId xmlns:r="http://schemas.openxmlformats.org/officeDocument/2006/relationships" id="262" r:id="R3953947171284a42"/>
    <p:sldId xmlns:r="http://schemas.openxmlformats.org/officeDocument/2006/relationships" id="263" r:id="Rb65fda64b596493f"/>
    <p:sldId xmlns:r="http://schemas.openxmlformats.org/officeDocument/2006/relationships" id="264" r:id="R237ebb2c493b4398"/>
    <p:sldId xmlns:r="http://schemas.openxmlformats.org/officeDocument/2006/relationships" id="265" r:id="R1f8ac83096d94383"/>
    <p:sldId xmlns:r="http://schemas.openxmlformats.org/officeDocument/2006/relationships" id="266" r:id="R98f94ad8099e439f"/>
    <p:sldId xmlns:r="http://schemas.openxmlformats.org/officeDocument/2006/relationships" id="267" r:id="Redfe2605d6864611"/>
    <p:sldId xmlns:r="http://schemas.openxmlformats.org/officeDocument/2006/relationships" id="268" r:id="Raf92a91afa574006"/>
    <p:sldId xmlns:r="http://schemas.openxmlformats.org/officeDocument/2006/relationships" id="269" r:id="R68df8c45f9824a29"/>
    <p:sldId xmlns:r="http://schemas.openxmlformats.org/officeDocument/2006/relationships" id="270" r:id="R39505167edfd4a3c"/>
    <p:sldId xmlns:r="http://schemas.openxmlformats.org/officeDocument/2006/relationships" id="271" r:id="Re94f96fc84e74522"/>
    <p:sldId xmlns:r="http://schemas.openxmlformats.org/officeDocument/2006/relationships" id="272" r:id="R3396ae0470e84882"/>
    <p:sldId xmlns:r="http://schemas.openxmlformats.org/officeDocument/2006/relationships" id="273" r:id="R41c44114798a4aca"/>
    <p:sldId xmlns:r="http://schemas.openxmlformats.org/officeDocument/2006/relationships" id="274" r:id="R2b91a9d23c6c4db4"/>
    <p:sldId xmlns:r="http://schemas.openxmlformats.org/officeDocument/2006/relationships" id="275" r:id="R73add0d4a4ea46fe"/>
    <p:sldId xmlns:r="http://schemas.openxmlformats.org/officeDocument/2006/relationships" id="276" r:id="Rd44d1ffb08f2447a"/>
    <p:sldId xmlns:r="http://schemas.openxmlformats.org/officeDocument/2006/relationships" id="277" r:id="R0784b819529242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56d9b924614368" /><Relationship Type="http://schemas.openxmlformats.org/officeDocument/2006/relationships/slideMaster" Target="/ppt/slideMasters/slideMaster1.xml" Id="R62431a81f17f4774" /><Relationship Type="http://schemas.openxmlformats.org/officeDocument/2006/relationships/notesMaster" Target="/ppt/notesMasters/notesMaster1.xml" Id="R55f615c187874c0e" /><Relationship Type="http://schemas.openxmlformats.org/officeDocument/2006/relationships/presProps" Target="/ppt/presProps.xml" Id="Rb446989da4e04689" /><Relationship Type="http://schemas.openxmlformats.org/officeDocument/2006/relationships/tableStyles" Target="/ppt/tableStyles.xml" Id="R65fd124586ee4b66" /><Relationship Type="http://schemas.openxmlformats.org/officeDocument/2006/relationships/slide" Target="/ppt/slides/slide1.xml" Id="R28aa42270de44102" /><Relationship Type="http://schemas.openxmlformats.org/officeDocument/2006/relationships/slide" Target="/ppt/slides/slide2.xml" Id="R988078f60e6840c8" /><Relationship Type="http://schemas.openxmlformats.org/officeDocument/2006/relationships/slide" Target="/ppt/slides/slide3.xml" Id="Rfed0d702500c4567" /><Relationship Type="http://schemas.openxmlformats.org/officeDocument/2006/relationships/slide" Target="/ppt/slides/slide4.xml" Id="R32f843d7bdde4c81" /><Relationship Type="http://schemas.openxmlformats.org/officeDocument/2006/relationships/slide" Target="/ppt/slides/slide5.xml" Id="R1d1336ec7ee843ae" /><Relationship Type="http://schemas.openxmlformats.org/officeDocument/2006/relationships/slide" Target="/ppt/slides/slide6.xml" Id="Rdf9642c0dc294a6e" /><Relationship Type="http://schemas.openxmlformats.org/officeDocument/2006/relationships/slide" Target="/ppt/slides/slide7.xml" Id="R3953947171284a42" /><Relationship Type="http://schemas.openxmlformats.org/officeDocument/2006/relationships/slide" Target="/ppt/slides/slide8.xml" Id="Rb65fda64b596493f" /><Relationship Type="http://schemas.openxmlformats.org/officeDocument/2006/relationships/slide" Target="/ppt/slides/slide9.xml" Id="R237ebb2c493b4398" /><Relationship Type="http://schemas.openxmlformats.org/officeDocument/2006/relationships/slide" Target="/ppt/slides/slide10.xml" Id="R1f8ac83096d94383" /><Relationship Type="http://schemas.openxmlformats.org/officeDocument/2006/relationships/slide" Target="/ppt/slides/slide11.xml" Id="R98f94ad8099e439f" /><Relationship Type="http://schemas.openxmlformats.org/officeDocument/2006/relationships/slide" Target="/ppt/slides/slide12.xml" Id="Redfe2605d6864611" /><Relationship Type="http://schemas.openxmlformats.org/officeDocument/2006/relationships/slide" Target="/ppt/slides/slide13.xml" Id="Raf92a91afa574006" /><Relationship Type="http://schemas.openxmlformats.org/officeDocument/2006/relationships/slide" Target="/ppt/slides/slide14.xml" Id="R68df8c45f9824a29" /><Relationship Type="http://schemas.openxmlformats.org/officeDocument/2006/relationships/slide" Target="/ppt/slides/slide15.xml" Id="R39505167edfd4a3c" /><Relationship Type="http://schemas.openxmlformats.org/officeDocument/2006/relationships/slide" Target="/ppt/slides/slide16.xml" Id="Re94f96fc84e74522" /><Relationship Type="http://schemas.openxmlformats.org/officeDocument/2006/relationships/slide" Target="/ppt/slides/slide17.xml" Id="R3396ae0470e84882" /><Relationship Type="http://schemas.openxmlformats.org/officeDocument/2006/relationships/slide" Target="/ppt/slides/slide18.xml" Id="R41c44114798a4aca" /><Relationship Type="http://schemas.openxmlformats.org/officeDocument/2006/relationships/slide" Target="/ppt/slides/slide19.xml" Id="R2b91a9d23c6c4db4" /><Relationship Type="http://schemas.openxmlformats.org/officeDocument/2006/relationships/slide" Target="/ppt/slides/slide20.xml" Id="R73add0d4a4ea46fe" /><Relationship Type="http://schemas.openxmlformats.org/officeDocument/2006/relationships/slide" Target="/ppt/slides/slide21.xml" Id="Rd44d1ffb08f2447a" /><Relationship Type="http://schemas.openxmlformats.org/officeDocument/2006/relationships/slide" Target="/ppt/slides/slide22.xml" Id="R0784b819529242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ac0c5ae0104e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bb726139cc4908" /><Relationship Type="http://schemas.openxmlformats.org/officeDocument/2006/relationships/notesMaster" Target="/ppt/notesMasters/notesMaster1.xml" Id="R0ea85ab5f9204e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8c384dd3c44924" /><Relationship Type="http://schemas.openxmlformats.org/officeDocument/2006/relationships/notesMaster" Target="/ppt/notesMasters/notesMaster1.xml" Id="R0ce4f097d71842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e8e6b9881a4d57" /><Relationship Type="http://schemas.openxmlformats.org/officeDocument/2006/relationships/notesMaster" Target="/ppt/notesMasters/notesMaster1.xml" Id="R25dbcdaeee4e47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18468668a94a07" /><Relationship Type="http://schemas.openxmlformats.org/officeDocument/2006/relationships/notesMaster" Target="/ppt/notesMasters/notesMaster1.xml" Id="R839f0e2dfe0f44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8316b9c5d0400b" /><Relationship Type="http://schemas.openxmlformats.org/officeDocument/2006/relationships/notesMaster" Target="/ppt/notesMasters/notesMaster1.xml" Id="Rd9f538dbfcf940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16ebadc1df4c27" /><Relationship Type="http://schemas.openxmlformats.org/officeDocument/2006/relationships/notesMaster" Target="/ppt/notesMasters/notesMaster1.xml" Id="R5289fe9e78a24f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270daf2bf24577" /><Relationship Type="http://schemas.openxmlformats.org/officeDocument/2006/relationships/notesMaster" Target="/ppt/notesMasters/notesMaster1.xml" Id="R4cc7f6ab7b7441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91fc548c544752" /><Relationship Type="http://schemas.openxmlformats.org/officeDocument/2006/relationships/notesMaster" Target="/ppt/notesMasters/notesMaster1.xml" Id="Rc073720dc0794d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a49539f7ba4b5f" /><Relationship Type="http://schemas.openxmlformats.org/officeDocument/2006/relationships/notesMaster" Target="/ppt/notesMasters/notesMaster1.xml" Id="R9e2e677b580f4b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a2bf3e8e684ebc" /><Relationship Type="http://schemas.openxmlformats.org/officeDocument/2006/relationships/notesMaster" Target="/ppt/notesMasters/notesMaster1.xml" Id="Rce02f0b4805645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a7a2025d054c74" /><Relationship Type="http://schemas.openxmlformats.org/officeDocument/2006/relationships/notesMaster" Target="/ppt/notesMasters/notesMaster1.xml" Id="R6786a21c893944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f4c10d260f47ff" /><Relationship Type="http://schemas.openxmlformats.org/officeDocument/2006/relationships/notesMaster" Target="/ppt/notesMasters/notesMaster1.xml" Id="Ra533937f503c432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590d243c5441d3" /><Relationship Type="http://schemas.openxmlformats.org/officeDocument/2006/relationships/notesMaster" Target="/ppt/notesMasters/notesMaster1.xml" Id="R0fbb9a4bf5154c4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09b0e6f5c8423e" /><Relationship Type="http://schemas.openxmlformats.org/officeDocument/2006/relationships/notesMaster" Target="/ppt/notesMasters/notesMaster1.xml" Id="Re2c1e8df5e7548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f929814ba24b89" /><Relationship Type="http://schemas.openxmlformats.org/officeDocument/2006/relationships/notesMaster" Target="/ppt/notesMasters/notesMaster1.xml" Id="Rf5dfa765586e42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9dc934d679049e8" /><Relationship Type="http://schemas.openxmlformats.org/officeDocument/2006/relationships/notesMaster" Target="/ppt/notesMasters/notesMaster1.xml" Id="Rbe6d9d9a2c0b473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80eceb659a4dd9" /><Relationship Type="http://schemas.openxmlformats.org/officeDocument/2006/relationships/notesMaster" Target="/ppt/notesMasters/notesMaster1.xml" Id="R4a1b67887dfe480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a09042ee0d74ace" /><Relationship Type="http://schemas.openxmlformats.org/officeDocument/2006/relationships/notesMaster" Target="/ppt/notesMasters/notesMaster1.xml" Id="R8022c35df312498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39d9d5762164723" /><Relationship Type="http://schemas.openxmlformats.org/officeDocument/2006/relationships/notesMaster" Target="/ppt/notesMasters/notesMaster1.xml" Id="R080ad196faad45f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1215e1a604947e8" /><Relationship Type="http://schemas.openxmlformats.org/officeDocument/2006/relationships/notesMaster" Target="/ppt/notesMasters/notesMaster1.xml" Id="R5f6cdd72722c4a0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83b229d2d7f4219" /><Relationship Type="http://schemas.openxmlformats.org/officeDocument/2006/relationships/notesMaster" Target="/ppt/notesMasters/notesMaster1.xml" Id="R2781a64d408f48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aa1625c974d4bf5" /><Relationship Type="http://schemas.openxmlformats.org/officeDocument/2006/relationships/notesMaster" Target="/ppt/notesMasters/notesMaster1.xml" Id="R5a240b89b3a14d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technical report. Sources: project task contract, server evidence collected on 19 October 2026, and original laboratory reference photography. The cover photograph identifies the platform, not an evaluated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https://arxiv.org/abs/2504.16054 and https://www.pi.website/blog/pi05 . The original paper reports open-world generalization using heterogeneous co-training. Those paper-level findings are not measurements from this R1 Pro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https://github.com/Physical-Intelligence/openpi and https://github.com/Physical-Intelligence/openpi/blob/main/src/openpi/models/pi0_config.py . OpenPI currently exposes the flow-matching action head. The paper also describes high-level semantic inference. This project supplies explicit task text rather than implementing that complete hierarchy.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r1pro_teleop/vla/real_sim_data.py, scripts/studio_mse.py and r1pro_teleop/real2sim/isaac_policy_pickplace.py. Raw channel order: left arm 7, left gripper, right arm 7, right gripper, base 3. The model pads 19 dimensions to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docs/SCENE_TASK_SPEC.md, apps/scene-agent/PROJECT.md and scripts/studio_prepare_training.py. All diagram nodes remain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resources/single_tray_lab_v1/reference_photos/room_desks.jpg and runs/isaacsim_reachable_fixedbase_20261016_v1/case_000/presentation.mp4. These are project source assets. The slide does not claim pixel-equivalent reconstruction.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docs/SCENE_TASK_SPEC.md, scripts/run_isaac_parallel_pickplace.py and r1pro_teleop/vla/parallel_pickplace_training.py.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production website screenshots and actual interaction on 19 October 2026. The current basic instruction parser handles color edits. GPT API configuration remains pending. The English screenshot shows the restored original material at version 5. The earlier color demonstration was restored and saved as a new version. No GPU synchronization or training input change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production website, runs/web_english_autoeval_20261019_v1/production_mse_ready.png and user-shared update https://chatgpt.com/s/cx_6ad5ad23e2c88191b724e1988089716e . Read on 19 October 2026. The screenshot shows the historical 100-update mixed vs 10,000-update real-only job; this is a UI example, not the equal-budget comparison in slides 17-20. The latest final-checkpoint automatic VLA and paired MSE were queued in that record. The completed full-frame evaluation in this report is a separate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Embedded media: demo_english.mp4. Website screenshots show actual UI interactions. The camera/color segment records the original website GLB and material rules in a presentation viewer with a static pose. The native Isaac clip shows expert-controlled physics, not a successful VLA policy rollout. Physics footage remains at original speed. English captions identify each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docs/SCENE_TASK_SPEC.md and runs/isaacsim_parallel_pickplace300_20261017_v1. One Isaac engine and one PhysicsScene advance all rooms together. These rooms share one training parent scene and do not establish held-out scene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project task contract and independent native audit. Tolerances follow the user-authorized contract. No new acceptance thresholds are introduced by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frozen 300-source manifest, preparation status and real-data cache. Production created 313 new complete pairs, but this training input froze exactly 300. Historical 59 pairs belong to a separate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parallel_pickplace_training.py, train_pi05_parallel_real_mix.py and decisions DEC-055 / DEC-WEB-004. This is behavior cloning with LoRA, not RL or DAgger. Duration weighting applies to the new 50/50 run. Historical recipes differ.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studio_mse.py, studio_vla_evaluate.py and project handoff documents. Offline analysis of recorded real data does not operate the physical robot. No physical robot control was performed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paired evaluation dated 12 October and full-frame evaluation dated 19 October 2026. Real-only and historical 90/10 models use the archived paired results. The new 50/50 model uses a separate evaluation run with the same protocol. Each checkpoint retains its own normalization. Initialization, simulated sources and training recipes differ.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comparison_metrics.json and the new full-frame report. Archived order: L1–L7, R1–R7, GL, GR. New report order: L1–L7, GL, R1–R7, GR. The builder explicitly reorders channels. Chart workbooks retain 12 significant digits for Excel compatibility. The companion CSV preserves the original report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channel mapping match the previous slide. All joints remain visible, including R5 and R7 with larger errors. Numerical values accompany the deck as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fixed real Test19. Convert gripper m² to mm² by multiplying by 10^6. Joint and gripper values have different units and are never averaged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archived paired measurements, checkpoint identities and the fresh full-frame evaluation. Existing model comparisons do not isolate sampling ratio as the sole cause. Real-only starts from official pi05_base. Mixed models start from a project simulation-finetuned parent. The new 50/50 model also changes the simulation dataset and duration weighting.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server evidence collected on 19 October 2026. The new 50/50 model saved the 10,000-update checkpoint. The shared website update reports 24 historical figures online and final-checkpoint automatic jobs queued. The independent full-frame MSE in this presentation has now completed with actual exit 0. The earlier 100-update VLA job exited during Isaac bootstrap because EULA input was unavailable. It produced no native policy rollout and counts as an infrastructure failure, not a model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Embedded media: real_robot_english.mp4. The user supplied the original 72.93-second recording. The presentation preserves its speed and full visual sequence, adds descriptive English captions, and strips location metadata. The user identifies the recipe as 10% real + 90% simulation at 10,000 updates. The exact checkpoint hash and execution mode remain unverified. This is a different recipe from the archived 90% real / 10% simulation MSE model. No task success rate or causal training claim is derived from this single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801ff94764484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028f6863d74f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85beed9393649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f0f8d2c505454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242121503542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fbeef8a59f42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2ACE93-791E-4707-A29E-72B89BF00C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0A476A0-18C3-4ADB-91DF-87C81AB11F2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5D978D-6468-41B4-9E95-CBF0A905AF1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36C44E-348E-42D9-9EC2-5B0E0C78C7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2FD2D4-A8F6-4037-872F-54545EAC9E6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D9D327-79DB-44E6-9C74-8B9C63BD9F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FA3383-077C-4FBB-9287-21D0D0FF31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5D761F-F335-4C39-9ADF-27D44E8A995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815AE9-30EB-4D59-9EF2-07B7569AC5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584AC2-B256-4504-8B98-B6557E7EA0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8f5515e0264708" /><Relationship Type="http://schemas.openxmlformats.org/officeDocument/2006/relationships/slideLayout" Target="/ppt/slideLayouts/slideLayout1.xml" Id="R5b37220ea2994fa6" /><Relationship Type="http://schemas.openxmlformats.org/officeDocument/2006/relationships/slideLayout" Target="/ppt/slideLayouts/slideLayout2.xml" Id="R2bc32c20857048a7" /><Relationship Type="http://schemas.openxmlformats.org/officeDocument/2006/relationships/slideLayout" Target="/ppt/slideLayouts/slideLayout3.xml" Id="R96004c7f45b74263" /><Relationship Type="http://schemas.openxmlformats.org/officeDocument/2006/relationships/slideLayout" Target="/ppt/slideLayouts/slideLayout4.xml" Id="Rd34d2cf3c6534d79" /><Relationship Type="http://schemas.openxmlformats.org/officeDocument/2006/relationships/slideLayout" Target="/ppt/slideLayouts/slideLayout5.xml" Id="R37bfefcc2d0d451c" /><Relationship Type="http://schemas.openxmlformats.org/officeDocument/2006/relationships/slideLayout" Target="/ppt/slideLayouts/slideLayout6.xml" Id="R12164f1cb3464a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37220ea2994fa6"/>
    <p:sldLayoutId xmlns:r="http://schemas.openxmlformats.org/officeDocument/2006/relationships" id="2147483650" r:id="R2bc32c20857048a7"/>
    <p:sldLayoutId xmlns:r="http://schemas.openxmlformats.org/officeDocument/2006/relationships" id="2147483651" r:id="R96004c7f45b74263"/>
    <p:sldLayoutId xmlns:r="http://schemas.openxmlformats.org/officeDocument/2006/relationships" id="2147483652" r:id="Rd34d2cf3c6534d79"/>
    <p:sldLayoutId xmlns:r="http://schemas.openxmlformats.org/officeDocument/2006/relationships" id="2147483653" r:id="R37bfefcc2d0d451c"/>
    <p:sldLayoutId xmlns:r="http://schemas.openxmlformats.org/officeDocument/2006/relationships" id="2147483654" r:id="R12164f1cb3464a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d2b9901e5a3467a" /><Relationship Type="http://schemas.openxmlformats.org/officeDocument/2006/relationships/image" Target="/ppt/media/image.jpeg" Id="R97cf9e4326424abb" /><Relationship Type="http://schemas.openxmlformats.org/officeDocument/2006/relationships/notesSlide" Target="/ppt/notesSlides/notesSlide1.xml" Id="R58787a0e7f134f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d284f35d31b4295" /><Relationship Type="http://schemas.openxmlformats.org/officeDocument/2006/relationships/notesSlide" Target="/ppt/notesSlides/notesSlide2.xml" Id="Rcbc1e204fc9a43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56acaf2836c46d0" /><Relationship Type="http://schemas.openxmlformats.org/officeDocument/2006/relationships/notesSlide" Target="/ppt/notesSlides/notesSlide3.xml" Id="R0f511b025dff44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fa9d4a9bc524a99" /><Relationship Type="http://schemas.openxmlformats.org/officeDocument/2006/relationships/notesSlide" Target="/ppt/notesSlides/notesSlide4.xml" Id="Rb23721195ac24d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b7c6eff5ead4690" /><Relationship Type="http://schemas.openxmlformats.org/officeDocument/2006/relationships/notesSlide" Target="/ppt/notesSlides/notesSlide5.xml" Id="Re8fcac18a38246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e455b2122bb40ef" /><Relationship Type="http://schemas.openxmlformats.org/officeDocument/2006/relationships/image" Target="/ppt/media/image2.jpeg" Id="R962bcb3e9c704d6c" /><Relationship Type="http://schemas.openxmlformats.org/officeDocument/2006/relationships/image" Target="/ppt/media/image.png" Id="Rb98fe71c690e4d2a" /><Relationship Type="http://schemas.openxmlformats.org/officeDocument/2006/relationships/notesSlide" Target="/ppt/notesSlides/notesSlide6.xml" Id="Rde28f20adfff4c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91c98663347488b" /><Relationship Type="http://schemas.openxmlformats.org/officeDocument/2006/relationships/notesSlide" Target="/ppt/notesSlides/notesSlide7.xml" Id="R88d959afd09b49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a03c0bd4a04bbf" /><Relationship Type="http://schemas.openxmlformats.org/officeDocument/2006/relationships/image" Target="/ppt/media/image3.jpeg" Id="R5db673a4084c4973" /><Relationship Type="http://schemas.openxmlformats.org/officeDocument/2006/relationships/notesSlide" Target="/ppt/notesSlides/notesSlide8.xml" Id="R23495805976043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005e2932ce6416d" /><Relationship Type="http://schemas.openxmlformats.org/officeDocument/2006/relationships/image" Target="/ppt/media/image4.jpeg" Id="R811bc696eaf94051" /><Relationship Type="http://schemas.openxmlformats.org/officeDocument/2006/relationships/notesSlide" Target="/ppt/notesSlides/notesSlide9.xml" Id="R76db124c928d4a07" /></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6.xml" Id="R7cf9b747a8b143ac" /><ns0:Relationship Type="http://schemas.openxmlformats.org/officeDocument/2006/relationships/image" Target="/ppt/media/image2.png" Id="R9153b81342c04a00" /><ns0:Relationship Type="http://schemas.openxmlformats.org/officeDocument/2006/relationships/notesSlide" Target="/ppt/notesSlides/notesSlide10.xml" Id="R7135421b1e4941b0" /><ns0:Relationship Id="rIdPresentationVideo" Type="http://schemas.openxmlformats.org/officeDocument/2006/relationships/video" Target="../media/demo_english.mp4" /><ns0:Relationship Id="rIdPresentationMedia" Type="http://schemas.microsoft.com/office/2007/relationships/media" Target="../media/demo_english.mp4" /></ns0: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132a1315504e22" /><Relationship Type="http://schemas.openxmlformats.org/officeDocument/2006/relationships/image" Target="/ppt/media/image3.png" Id="Ree63e8b0737c40f4" /><Relationship Type="http://schemas.openxmlformats.org/officeDocument/2006/relationships/notesSlide" Target="/ppt/notesSlides/notesSlide11.xml" Id="R1846cfa33ac24f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acdca76661f4ab7" /><Relationship Type="http://schemas.openxmlformats.org/officeDocument/2006/relationships/notesSlide" Target="/ppt/notesSlides/notesSlide12.xml" Id="Rda888afab30243e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4d4fe68fed0431a" /><Relationship Type="http://schemas.openxmlformats.org/officeDocument/2006/relationships/notesSlide" Target="/ppt/notesSlides/notesSlide13.xml" Id="Rf39d971dc29143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7589d100a1d4dc2" /><Relationship Type="http://schemas.openxmlformats.org/officeDocument/2006/relationships/notesSlide" Target="/ppt/notesSlides/notesSlide14.xml" Id="Raee96b114c1e48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c71281c682446cb" /><Relationship Type="http://schemas.openxmlformats.org/officeDocument/2006/relationships/notesSlide" Target="/ppt/notesSlides/notesSlide15.xml" Id="Rb45f81a4e68b453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2f5eb417a634b1e" /><Relationship Type="http://schemas.openxmlformats.org/officeDocument/2006/relationships/notesSlide" Target="/ppt/notesSlides/notesSlide16.xml" Id="R02a20031150842a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f150b90fcd24d21" /><Relationship Type="http://schemas.openxmlformats.org/officeDocument/2006/relationships/chart" Target="/ppt/slides/charts/chart1.xml" Id="R628755d782e84008" /><Relationship Type="http://schemas.openxmlformats.org/officeDocument/2006/relationships/notesSlide" Target="/ppt/notesSlides/notesSlide17.xml" Id="Rdc4ab21570c44b6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2e0357bc4f3407f" /><Relationship Type="http://schemas.openxmlformats.org/officeDocument/2006/relationships/chart" Target="/ppt/slides/charts/chart2.xml" Id="Re3b39e58c4614457" /><Relationship Type="http://schemas.openxmlformats.org/officeDocument/2006/relationships/notesSlide" Target="/ppt/notesSlides/notesSlide18.xml" Id="R8a01892478a5437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8c9a8c6b0ea4349" /><Relationship Type="http://schemas.openxmlformats.org/officeDocument/2006/relationships/chart" Target="/ppt/slides/charts/chart3.xml" Id="R764a5c16c7b64292" /><Relationship Type="http://schemas.openxmlformats.org/officeDocument/2006/relationships/notesSlide" Target="/ppt/notesSlides/notesSlide19.xml" Id="R6291089a33ba455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9083b73a003450d" /><Relationship Type="http://schemas.openxmlformats.org/officeDocument/2006/relationships/notesSlide" Target="/ppt/notesSlides/notesSlide20.xml" Id="Rddb135767749445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1cfd12c77634ca3" /><Relationship Type="http://schemas.openxmlformats.org/officeDocument/2006/relationships/notesSlide" Target="/ppt/notesSlides/notesSlide21.xml" Id="R1c776ff514da45d7" /></Relationships>
</file>

<file path=ppt/slides/_rels/slide22.xml.rels><?xml version='1.0' encoding='utf-8'?>
<ns0:Relationships xmlns:ns0="http://schemas.openxmlformats.org/package/2006/relationships"><ns0:Relationship Type="http://schemas.openxmlformats.org/officeDocument/2006/relationships/slideLayout" Target="/ppt/slideLayouts/slideLayout6.xml" Id="Re3c2f219820d4e5e" /><ns0:Relationship Type="http://schemas.openxmlformats.org/officeDocument/2006/relationships/image" Target="/ppt/media/image4.png" Id="Rbb807b25dfa44c13" /><ns0:Relationship Type="http://schemas.openxmlformats.org/officeDocument/2006/relationships/notesSlide" Target="/ppt/notesSlides/notesSlide22.xml" Id="R795c0f79308e4198" /><ns0:Relationship Id="rIdPresentationVideo" Type="http://schemas.openxmlformats.org/officeDocument/2006/relationships/video" Target="../media/real_robot_english.mp4" /><ns0:Relationship Id="rIdPresentationMedia" Type="http://schemas.microsoft.com/office/2007/relationships/media" Target="../media/real_robot_english.mp4" /></ns0: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Real 100%</c:v>
          </c:tx>
          <c:spPr>
            <a:solidFill xmlns:a="http://schemas.openxmlformats.org/drawingml/2006/main">
              <a:srgbClr val="2667BA"/>
            </a:solidFill>
          </c:spPr>
          <c:invertIfNegative val="0"/>
          <c:cat>
            <c:strRef>
              <c:f>'Chart Data'!$A$2:$A$8</c:f>
              <c:strCache>
                <c:ptCount val="7"/>
                <c:pt idx="0">
                  <c:v>L1</c:v>
                </c:pt>
                <c:pt idx="1">
                  <c:v>L2</c:v>
                </c:pt>
                <c:pt idx="2">
                  <c:v>L3</c:v>
                </c:pt>
                <c:pt idx="3">
                  <c:v>L4</c:v>
                </c:pt>
                <c:pt idx="4">
                  <c:v>L5</c:v>
                </c:pt>
                <c:pt idx="5">
                  <c:v>L6</c:v>
                </c:pt>
                <c:pt idx="6">
                  <c:v>L7</c:v>
                </c:pt>
              </c:strCache>
            </c:strRef>
          </c:cat>
          <c:val>
            <c:numRef>
              <c:f>'Chart Data'!$B$2:$B$8</c:f>
              <c:numCache>
                <c:formatCode>0.000</c:formatCode>
                <c:ptCount val="7"/>
                <c:pt idx="0">
                  <c:v>0.00264959321192</c:v>
                </c:pt>
                <c:pt idx="1">
                  <c:v>0.000665158892079</c:v>
                </c:pt>
                <c:pt idx="2">
                  <c:v>0.00193510105119</c:v>
                </c:pt>
                <c:pt idx="3">
                  <c:v>0.00674508620593</c:v>
                </c:pt>
                <c:pt idx="4">
                  <c:v>0.00852114596006</c:v>
                </c:pt>
                <c:pt idx="5">
                  <c:v>0.00445980581621</c:v>
                </c:pt>
                <c:pt idx="6">
                  <c:v>0.00528128261616</c:v>
                </c:pt>
              </c:numCache>
            </c:numRef>
          </c:val>
        </c:ser>
        <c:ser>
          <c:idx val="1"/>
          <c:order val="1"/>
          <c:tx>
            <c:v>Real 90% / Sim 10%</c:v>
          </c:tx>
          <c:spPr>
            <a:solidFill xmlns:a="http://schemas.openxmlformats.org/drawingml/2006/main">
              <a:srgbClr val="008879"/>
            </a:solidFill>
          </c:spPr>
          <c:invertIfNegative val="0"/>
          <c:cat>
            <c:strRef>
              <c:f>'Chart Data'!$C$2:$C$8</c:f>
              <c:strCache>
                <c:ptCount val="7"/>
                <c:pt idx="0">
                  <c:v>L1</c:v>
                </c:pt>
                <c:pt idx="1">
                  <c:v>L2</c:v>
                </c:pt>
                <c:pt idx="2">
                  <c:v>L3</c:v>
                </c:pt>
                <c:pt idx="3">
                  <c:v>L4</c:v>
                </c:pt>
                <c:pt idx="4">
                  <c:v>L5</c:v>
                </c:pt>
                <c:pt idx="5">
                  <c:v>L6</c:v>
                </c:pt>
                <c:pt idx="6">
                  <c:v>L7</c:v>
                </c:pt>
              </c:strCache>
            </c:strRef>
          </c:cat>
          <c:val>
            <c:numRef>
              <c:f>'Chart Data'!$D$2:$D$8</c:f>
              <c:numCache>
                <c:formatCode>0.000</c:formatCode>
                <c:ptCount val="7"/>
                <c:pt idx="0">
                  <c:v>0.00230987614992</c:v>
                </c:pt>
                <c:pt idx="1">
                  <c:v>0.000702255282573</c:v>
                </c:pt>
                <c:pt idx="2">
                  <c:v>0.00192743442661</c:v>
                </c:pt>
                <c:pt idx="3">
                  <c:v>0.00630810542255</c:v>
                </c:pt>
                <c:pt idx="4">
                  <c:v>0.00732681834977</c:v>
                </c:pt>
                <c:pt idx="5">
                  <c:v>0.00412556888412</c:v>
                </c:pt>
                <c:pt idx="6">
                  <c:v>0.00530860782478</c:v>
                </c:pt>
              </c:numCache>
            </c:numRef>
          </c:val>
        </c:ser>
        <c:ser>
          <c:idx val="2"/>
          <c:order val="2"/>
          <c:tx>
            <c:v>Real 50% / Sim 50%</c:v>
          </c:tx>
          <c:spPr>
            <a:solidFill xmlns:a="http://schemas.openxmlformats.org/drawingml/2006/main">
              <a:srgbClr val="D8882E"/>
            </a:solidFill>
          </c:spPr>
          <c:invertIfNegative val="0"/>
          <c:cat>
            <c:strRef>
              <c:f>'Chart Data'!$E$2:$E$8</c:f>
              <c:strCache>
                <c:ptCount val="7"/>
                <c:pt idx="0">
                  <c:v>L1</c:v>
                </c:pt>
                <c:pt idx="1">
                  <c:v>L2</c:v>
                </c:pt>
                <c:pt idx="2">
                  <c:v>L3</c:v>
                </c:pt>
                <c:pt idx="3">
                  <c:v>L4</c:v>
                </c:pt>
                <c:pt idx="4">
                  <c:v>L5</c:v>
                </c:pt>
                <c:pt idx="5">
                  <c:v>L6</c:v>
                </c:pt>
                <c:pt idx="6">
                  <c:v>L7</c:v>
                </c:pt>
              </c:strCache>
            </c:strRef>
          </c:cat>
          <c:val>
            <c:numRef>
              <c:f>'Chart Data'!$F$2:$F$8</c:f>
              <c:numCache>
                <c:formatCode>0.000</c:formatCode>
                <c:ptCount val="7"/>
                <c:pt idx="0">
                  <c:v>0.00244118047716</c:v>
                </c:pt>
                <c:pt idx="1">
                  <c:v>0.000888413070346</c:v>
                </c:pt>
                <c:pt idx="2">
                  <c:v>0.0017955055872</c:v>
                </c:pt>
                <c:pt idx="3">
                  <c:v>0.00690154761469</c:v>
                </c:pt>
                <c:pt idx="4">
                  <c:v>0.00839512427549</c:v>
                </c:pt>
                <c:pt idx="5">
                  <c:v>0.00431661615588</c:v>
                </c:pt>
                <c:pt idx="6">
                  <c:v>0.00573826456578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334"/>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6DDE3"/>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MSE (rad²)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9"/>
                </a:solidFill>
                <a:latin typeface="Arial"/>
                <a:ea typeface="Arial"/>
                <a:cs typeface="Arial"/>
              </a:defRPr>
            </a:pPr>
          </a:p>
        </c:txPr>
        <c:crossAx val="48650112"/>
        <c:crossBetween val="between"/>
      </c:valAx>
      <c:spPr>
        <a:solidFill xmlns:a="http://schemas.openxmlformats.org/drawingml/2006/main">
          <a:srgbClr val="F5F6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334"/>
              </a:solidFill>
              <a:latin typeface="Arial"/>
              <a:ea typeface="Arial"/>
              <a:cs typeface="Arial"/>
            </a:defRPr>
          </a:pPr>
        </a:p>
      </c:txPr>
    </c:legend>
    <c:plotVisOnly val="1"/>
  </c:chart>
  <c:spPr>
    <a:solidFill xmlns:a="http://schemas.openxmlformats.org/drawingml/2006/main">
      <a:srgbClr val="F5F6F3"/>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Real 100%</c:v>
          </c:tx>
          <c:spPr>
            <a:solidFill xmlns:a="http://schemas.openxmlformats.org/drawingml/2006/main">
              <a:srgbClr val="2667BA"/>
            </a:solidFill>
          </c:spPr>
          <c:invertIfNegative val="0"/>
          <c:cat>
            <c:strRef>
              <c:f>'Chart Data'!$A$2:$A$8</c:f>
              <c:strCache>
                <c:ptCount val="7"/>
                <c:pt idx="0">
                  <c:v>R1</c:v>
                </c:pt>
                <c:pt idx="1">
                  <c:v>R2</c:v>
                </c:pt>
                <c:pt idx="2">
                  <c:v>R3</c:v>
                </c:pt>
                <c:pt idx="3">
                  <c:v>R4</c:v>
                </c:pt>
                <c:pt idx="4">
                  <c:v>R5</c:v>
                </c:pt>
                <c:pt idx="5">
                  <c:v>R6</c:v>
                </c:pt>
                <c:pt idx="6">
                  <c:v>R7</c:v>
                </c:pt>
              </c:strCache>
            </c:strRef>
          </c:cat>
          <c:val>
            <c:numRef>
              <c:f>'Chart Data'!$B$2:$B$8</c:f>
              <c:numCache>
                <c:formatCode>0.000</c:formatCode>
                <c:ptCount val="7"/>
                <c:pt idx="0">
                  <c:v>0.00311893683082</c:v>
                </c:pt>
                <c:pt idx="1">
                  <c:v>0.00243577358401</c:v>
                </c:pt>
                <c:pt idx="2">
                  <c:v>0.00302172226867</c:v>
                </c:pt>
                <c:pt idx="3">
                  <c:v>0.00670531341267</c:v>
                </c:pt>
                <c:pt idx="4">
                  <c:v>0.0209282637184</c:v>
                </c:pt>
                <c:pt idx="5">
                  <c:v>0.00587555456555</c:v>
                </c:pt>
                <c:pt idx="6">
                  <c:v>0.0224300449293</c:v>
                </c:pt>
              </c:numCache>
            </c:numRef>
          </c:val>
        </c:ser>
        <c:ser>
          <c:idx val="1"/>
          <c:order val="1"/>
          <c:tx>
            <c:v>Real 90% / Sim 10%</c:v>
          </c:tx>
          <c:spPr>
            <a:solidFill xmlns:a="http://schemas.openxmlformats.org/drawingml/2006/main">
              <a:srgbClr val="008879"/>
            </a:solidFill>
          </c:spPr>
          <c:invertIfNegative val="0"/>
          <c:cat>
            <c:strRef>
              <c:f>'Chart Data'!$C$2:$C$8</c:f>
              <c:strCache>
                <c:ptCount val="7"/>
                <c:pt idx="0">
                  <c:v>R1</c:v>
                </c:pt>
                <c:pt idx="1">
                  <c:v>R2</c:v>
                </c:pt>
                <c:pt idx="2">
                  <c:v>R3</c:v>
                </c:pt>
                <c:pt idx="3">
                  <c:v>R4</c:v>
                </c:pt>
                <c:pt idx="4">
                  <c:v>R5</c:v>
                </c:pt>
                <c:pt idx="5">
                  <c:v>R6</c:v>
                </c:pt>
                <c:pt idx="6">
                  <c:v>R7</c:v>
                </c:pt>
              </c:strCache>
            </c:strRef>
          </c:cat>
          <c:val>
            <c:numRef>
              <c:f>'Chart Data'!$D$2:$D$8</c:f>
              <c:numCache>
                <c:formatCode>0.000</c:formatCode>
                <c:ptCount val="7"/>
                <c:pt idx="0">
                  <c:v>0.00316741028458</c:v>
                </c:pt>
                <c:pt idx="1">
                  <c:v>0.00245286228546</c:v>
                </c:pt>
                <c:pt idx="2">
                  <c:v>0.00271970986731</c:v>
                </c:pt>
                <c:pt idx="3">
                  <c:v>0.00634266920314</c:v>
                </c:pt>
                <c:pt idx="4">
                  <c:v>0.0209473983515</c:v>
                </c:pt>
                <c:pt idx="5">
                  <c:v>0.00509258861421</c:v>
                </c:pt>
                <c:pt idx="6">
                  <c:v>0.0222102368277</c:v>
                </c:pt>
              </c:numCache>
            </c:numRef>
          </c:val>
        </c:ser>
        <c:ser>
          <c:idx val="2"/>
          <c:order val="2"/>
          <c:tx>
            <c:v>Real 50% / Sim 50%</c:v>
          </c:tx>
          <c:spPr>
            <a:solidFill xmlns:a="http://schemas.openxmlformats.org/drawingml/2006/main">
              <a:srgbClr val="D8882E"/>
            </a:solidFill>
          </c:spPr>
          <c:invertIfNegative val="0"/>
          <c:cat>
            <c:strRef>
              <c:f>'Chart Data'!$E$2:$E$8</c:f>
              <c:strCache>
                <c:ptCount val="7"/>
                <c:pt idx="0">
                  <c:v>R1</c:v>
                </c:pt>
                <c:pt idx="1">
                  <c:v>R2</c:v>
                </c:pt>
                <c:pt idx="2">
                  <c:v>R3</c:v>
                </c:pt>
                <c:pt idx="3">
                  <c:v>R4</c:v>
                </c:pt>
                <c:pt idx="4">
                  <c:v>R5</c:v>
                </c:pt>
                <c:pt idx="5">
                  <c:v>R6</c:v>
                </c:pt>
                <c:pt idx="6">
                  <c:v>R7</c:v>
                </c:pt>
              </c:strCache>
            </c:strRef>
          </c:cat>
          <c:val>
            <c:numRef>
              <c:f>'Chart Data'!$F$2:$F$8</c:f>
              <c:numCache>
                <c:formatCode>0.000</c:formatCode>
                <c:ptCount val="7"/>
                <c:pt idx="0">
                  <c:v>0.00340324923327</c:v>
                </c:pt>
                <c:pt idx="1">
                  <c:v>0.00274448379834</c:v>
                </c:pt>
                <c:pt idx="2">
                  <c:v>0.00347977788887</c:v>
                </c:pt>
                <c:pt idx="3">
                  <c:v>0.00780376218053</c:v>
                </c:pt>
                <c:pt idx="4">
                  <c:v>0.0237182039333</c:v>
                </c:pt>
                <c:pt idx="5">
                  <c:v>0.00532391055779</c:v>
                </c:pt>
                <c:pt idx="6">
                  <c:v>0.0242681841001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334"/>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6DDE3"/>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MSE (rad²)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9"/>
                </a:solidFill>
                <a:latin typeface="Arial"/>
                <a:ea typeface="Arial"/>
                <a:cs typeface="Arial"/>
              </a:defRPr>
            </a:pPr>
          </a:p>
        </c:txPr>
        <c:crossAx val="48650112"/>
        <c:crossBetween val="between"/>
      </c:valAx>
      <c:spPr>
        <a:solidFill xmlns:a="http://schemas.openxmlformats.org/drawingml/2006/main">
          <a:srgbClr val="F5F6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334"/>
              </a:solidFill>
              <a:latin typeface="Arial"/>
              <a:ea typeface="Arial"/>
              <a:cs typeface="Arial"/>
            </a:defRPr>
          </a:pPr>
        </a:p>
      </c:txPr>
    </c:legend>
    <c:plotVisOnly val="1"/>
  </c:chart>
  <c:spPr>
    <a:solidFill xmlns:a="http://schemas.openxmlformats.org/drawingml/2006/main">
      <a:srgbClr val="F5F6F3"/>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Real 100%</c:v>
          </c:tx>
          <c:spPr>
            <a:solidFill xmlns:a="http://schemas.openxmlformats.org/drawingml/2006/main">
              <a:srgbClr val="2667BA"/>
            </a:solidFill>
          </c:spPr>
          <c:invertIfNegative val="0"/>
          <c:cat>
            <c:strRef>
              <c:f>'Chart Data'!$A$2:$A$3</c:f>
              <c:strCache>
                <c:ptCount val="2"/>
                <c:pt idx="0">
                  <c:v>Left gripper</c:v>
                </c:pt>
                <c:pt idx="1">
                  <c:v>Right gripper</c:v>
                </c:pt>
              </c:strCache>
            </c:strRef>
          </c:cat>
          <c:val>
            <c:numRef>
              <c:f>'Chart Data'!$B$2:$B$3</c:f>
              <c:numCache>
                <c:formatCode>0</c:formatCode>
                <c:ptCount val="2"/>
                <c:pt idx="0">
                  <c:v>394.940537518</c:v>
                </c:pt>
                <c:pt idx="1">
                  <c:v>417.797025363</c:v>
                </c:pt>
              </c:numCache>
            </c:numRef>
          </c:val>
        </c:ser>
        <c:ser>
          <c:idx val="1"/>
          <c:order val="1"/>
          <c:tx>
            <c:v>Real 90% / Sim 10%</c:v>
          </c:tx>
          <c:spPr>
            <a:solidFill xmlns:a="http://schemas.openxmlformats.org/drawingml/2006/main">
              <a:srgbClr val="008879"/>
            </a:solidFill>
          </c:spPr>
          <c:invertIfNegative val="0"/>
          <c:cat>
            <c:strRef>
              <c:f>'Chart Data'!$C$2:$C$3</c:f>
              <c:strCache>
                <c:ptCount val="2"/>
                <c:pt idx="0">
                  <c:v>Left gripper</c:v>
                </c:pt>
                <c:pt idx="1">
                  <c:v>Right gripper</c:v>
                </c:pt>
              </c:strCache>
            </c:strRef>
          </c:cat>
          <c:val>
            <c:numRef>
              <c:f>'Chart Data'!$D$2:$D$3</c:f>
              <c:numCache>
                <c:formatCode>0</c:formatCode>
                <c:ptCount val="2"/>
                <c:pt idx="0">
                  <c:v>355.516721528</c:v>
                </c:pt>
                <c:pt idx="1">
                  <c:v>393.3710602</c:v>
                </c:pt>
              </c:numCache>
            </c:numRef>
          </c:val>
        </c:ser>
        <c:ser>
          <c:idx val="2"/>
          <c:order val="2"/>
          <c:tx>
            <c:v>Real 50% / Sim 50%</c:v>
          </c:tx>
          <c:spPr>
            <a:solidFill xmlns:a="http://schemas.openxmlformats.org/drawingml/2006/main">
              <a:srgbClr val="D8882E"/>
            </a:solidFill>
          </c:spPr>
          <c:invertIfNegative val="0"/>
          <c:cat>
            <c:strRef>
              <c:f>'Chart Data'!$E$2:$E$3</c:f>
              <c:strCache>
                <c:ptCount val="2"/>
                <c:pt idx="0">
                  <c:v>Left gripper</c:v>
                </c:pt>
                <c:pt idx="1">
                  <c:v>Right gripper</c:v>
                </c:pt>
              </c:strCache>
            </c:strRef>
          </c:cat>
          <c:val>
            <c:numRef>
              <c:f>'Chart Data'!$F$2:$F$3</c:f>
              <c:numCache>
                <c:formatCode>0</c:formatCode>
                <c:ptCount val="2"/>
                <c:pt idx="0">
                  <c:v>340.713836106</c:v>
                </c:pt>
                <c:pt idx="1">
                  <c:v>372.877803536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334"/>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6DDE3"/>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MSE (mm²)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9"/>
                </a:solidFill>
                <a:latin typeface="Arial"/>
                <a:ea typeface="Arial"/>
                <a:cs typeface="Arial"/>
              </a:defRPr>
            </a:pPr>
          </a:p>
        </c:txPr>
        <c:crossAx val="48650112"/>
        <c:crossBetween val="between"/>
      </c:valAx>
      <c:spPr>
        <a:solidFill xmlns:a="http://schemas.openxmlformats.org/drawingml/2006/main">
          <a:srgbClr val="F5F6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334"/>
              </a:solidFill>
              <a:latin typeface="Arial"/>
              <a:ea typeface="Arial"/>
              <a:cs typeface="Arial"/>
            </a:defRPr>
          </a:pPr>
        </a:p>
      </c:txPr>
    </c:legend>
    <c:plotVisOnly val="1"/>
  </c:chart>
  <c:spPr>
    <a:solidFill xmlns:a="http://schemas.openxmlformats.org/drawingml/2006/main">
      <a:srgbClr val="F5F6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1F30"/>
        </a:solidFill>
      </p:bgPr>
    </p:bg>
    <p:spTree>
      <p:nvGrpSpPr>
        <p:cNvPr id="1" name=""/>
        <p:cNvGrpSpPr/>
        <p:nvPr/>
      </p:nvGrpSpPr>
      <p:grpSpPr>
        <a:xfrm xmlns:a="http://schemas.openxmlformats.org/drawingml/2006/main"/>
      </p:grpSpPr>
      <p:sp>
        <p:nvSpPr>
          <p:cNvPr id="6" name="R1 Pro: From Lab to Policy">
            <a:extLst xmlns:a="http://schemas.openxmlformats.org/drawingml/2006/main">
              <a:ext uri="{FF2B5EF4-FFF2-40B4-BE49-F238E27FC236}">
                <a16:creationId xmlns:a16="http://schemas.microsoft.com/office/drawing/2014/main" id="{2E4B5A57-046E-4776-936B-8B62C417536C}"/>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R1 Pro: From Lab to Policy</a:t>
            </a:r>
          </a:p>
        </p:txBody>
      </p:sp>
      <p:sp>
        <p:nvSpPr>
          <p:cNvPr id="2" name="01">
            <a:extLst xmlns:a="http://schemas.openxmlformats.org/drawingml/2006/main">
              <a:ext uri="{FF2B5EF4-FFF2-40B4-BE49-F238E27FC236}">
                <a16:creationId xmlns:a16="http://schemas.microsoft.com/office/drawing/2014/main" id="{2EF5E9D5-2798-454C-BB6E-9760EBFACA32}"/>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4C3D3"/>
                </a:solidFill>
                <a:latin typeface="Arial"/>
                <a:ea typeface="Arial"/>
                <a:cs typeface="Arial"/>
              </a:defRPr>
            </a:defPPr>
          </a:lstStyle>
          <a:p xmlns:a="http://schemas.openxmlformats.org/drawingml/2006/main">
            <a:pPr>
              <a:defRPr sz="1200" b="0">
                <a:solidFill>
                  <a:srgbClr val="B4C3D3"/>
                </a:solidFill>
                <a:latin typeface="Arial"/>
                <a:ea typeface="Arial"/>
                <a:cs typeface="Arial"/>
              </a:defRPr>
            </a:pPr>
            <a:r>
              <a:rPr sz="1200" b="0">
                <a:solidFill>
                  <a:srgbClr val="B4C3D3"/>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19960276-6177-4BCD-B8F6-3F6DBC0A38DD}"/>
              </a:ext>
            </a:extLst>
          </p:cNvPr>
          <p:cNvPicPr>
            <a:picLocks xmlns:a="http://schemas.openxmlformats.org/drawingml/2006/main" noChangeAspect="1"/>
          </p:cNvPicPr>
          <p:nvPr/>
        </p:nvPicPr>
        <p:blipFill>
          <a:blip xmlns:r="http://schemas.openxmlformats.org/officeDocument/2006/relationships" xmlns:a="http://schemas.openxmlformats.org/drawingml/2006/main" r:embed="R97cf9e4326424abb"/>
          <a:srcRect xmlns:a="http://schemas.openxmlformats.org/drawingml/2006/main" l="25260" t="0" r="25260" b="0"/>
          <a:stretch xmlns:a="http://schemas.openxmlformats.org/drawingml/2006/main">
            <a:fillRect l="0" t="0" r="0" b="0"/>
          </a:stretch>
        </p:blipFill>
        <p:spPr>
          <a:xfrm xmlns:a="http://schemas.openxmlformats.org/drawingml/2006/main">
            <a:off x="7667625" y="0"/>
            <a:ext cx="4524375" cy="6858000"/>
          </a:xfrm>
          <a:prstGeom xmlns:a="http://schemas.openxmlformats.org/drawingml/2006/main" prst="rect">
            <a:avLst/>
          </a:prstGeom>
        </p:spPr>
      </p:pic>
      <p:sp>
        <p:nvSpPr>
          <p:cNvPr id="4" name="π0.5 adaptation&#10;Real2Sim and Sim2Real&#10;Mixe">
            <a:extLst xmlns:a="http://schemas.openxmlformats.org/drawingml/2006/main">
              <a:ext uri="{FF2B5EF4-FFF2-40B4-BE49-F238E27FC236}">
                <a16:creationId xmlns:a16="http://schemas.microsoft.com/office/drawing/2014/main" id="{7A321B8B-D335-41E7-8AC1-7938329A5714}"/>
              </a:ext>
            </a:extLst>
          </p:cNvPr>
          <p:cNvSpPr>
            <a:spLocks xmlns:a="http://schemas.openxmlformats.org/drawingml/2006/main" noGrp="1"/>
          </p:cNvSpPr>
          <p:nvPr/>
        </p:nvSpPr>
        <p:spPr>
          <a:xfrm xmlns:a="http://schemas.openxmlformats.org/drawingml/2006/main">
            <a:off x="533400" y="2095500"/>
            <a:ext cx="6810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E7EEF5"/>
                </a:solidFill>
                <a:latin typeface="Arial"/>
                <a:ea typeface="Arial"/>
                <a:cs typeface="Arial"/>
              </a:defRPr>
            </a:defPPr>
          </a:lstStyle>
          <a:p xmlns:a="http://schemas.openxmlformats.org/drawingml/2006/main">
            <a:pPr>
              <a:defRPr sz="3150" b="0">
                <a:solidFill>
                  <a:srgbClr val="E7EEF5"/>
                </a:solidFill>
                <a:latin typeface="Arial"/>
                <a:ea typeface="Arial"/>
                <a:cs typeface="Arial"/>
              </a:defRPr>
            </a:pPr>
            <a:r>
              <a:rPr sz="3150" b="0">
                <a:solidFill>
                  <a:srgbClr val="E7EEF5"/>
                </a:solidFill>
                <a:latin typeface="Arial"/>
                <a:ea typeface="Arial"/>
                <a:cs typeface="Arial"/>
              </a:rPr>
              <a:t>π0.5 adaptation</a:t>
            </a:r>
          </a:p>
          <a:p xmlns:a="http://schemas.openxmlformats.org/drawingml/2006/main">
            <a:pPr>
              <a:defRPr sz="3150" b="0">
                <a:solidFill>
                  <a:srgbClr val="E7EEF5"/>
                </a:solidFill>
                <a:latin typeface="Arial"/>
                <a:ea typeface="Arial"/>
                <a:cs typeface="Arial"/>
              </a:defRPr>
            </a:pPr>
            <a:r>
              <a:rPr sz="3150" b="0">
                <a:solidFill>
                  <a:srgbClr val="E7EEF5"/>
                </a:solidFill>
                <a:latin typeface="Arial"/>
                <a:ea typeface="Arial"/>
                <a:cs typeface="Arial"/>
              </a:rPr>
              <a:t>Real2Sim and Sim2Real</a:t>
            </a:r>
          </a:p>
          <a:p xmlns:a="http://schemas.openxmlformats.org/drawingml/2006/main">
            <a:pPr>
              <a:defRPr sz="3150" b="0">
                <a:solidFill>
                  <a:srgbClr val="E7EEF5"/>
                </a:solidFill>
                <a:latin typeface="Arial"/>
                <a:ea typeface="Arial"/>
                <a:cs typeface="Arial"/>
              </a:defRPr>
            </a:pPr>
            <a:r>
              <a:rPr sz="3150" b="0">
                <a:solidFill>
                  <a:srgbClr val="E7EEF5"/>
                </a:solidFill>
                <a:latin typeface="Arial"/>
                <a:ea typeface="Arial"/>
                <a:cs typeface="Arial"/>
              </a:rPr>
              <a:t>Mixed-data training</a:t>
            </a:r>
          </a:p>
        </p:txBody>
      </p:sp>
      <p:sp>
        <p:nvSpPr>
          <p:cNvPr id="5" name="Technical report&#10;19 October 2026">
            <a:extLst xmlns:a="http://schemas.openxmlformats.org/drawingml/2006/main">
              <a:ext uri="{FF2B5EF4-FFF2-40B4-BE49-F238E27FC236}">
                <a16:creationId xmlns:a16="http://schemas.microsoft.com/office/drawing/2014/main" id="{C99E61B3-A0C8-4F29-AC1D-6496138ADEFE}"/>
              </a:ext>
            </a:extLst>
          </p:cNvPr>
          <p:cNvSpPr>
            <a:spLocks xmlns:a="http://schemas.openxmlformats.org/drawingml/2006/main" noGrp="1"/>
          </p:cNvSpPr>
          <p:nvPr/>
        </p:nvSpPr>
        <p:spPr>
          <a:xfrm xmlns:a="http://schemas.openxmlformats.org/drawingml/2006/main">
            <a:off x="533400" y="5381625"/>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FC1D6"/>
                </a:solidFill>
                <a:latin typeface="Arial"/>
                <a:ea typeface="Arial"/>
                <a:cs typeface="Arial"/>
              </a:defRPr>
            </a:defPPr>
          </a:lstStyle>
          <a:p xmlns:a="http://schemas.openxmlformats.org/drawingml/2006/main">
            <a:pPr>
              <a:defRPr sz="1875" b="0">
                <a:solidFill>
                  <a:srgbClr val="AFC1D6"/>
                </a:solidFill>
                <a:latin typeface="Arial"/>
                <a:ea typeface="Arial"/>
                <a:cs typeface="Arial"/>
              </a:defRPr>
            </a:pPr>
            <a:r>
              <a:rPr sz="1875" b="0">
                <a:solidFill>
                  <a:srgbClr val="AFC1D6"/>
                </a:solidFill>
                <a:latin typeface="Arial"/>
                <a:ea typeface="Arial"/>
                <a:cs typeface="Arial"/>
              </a:rPr>
              <a:t>Technical report</a:t>
            </a:r>
          </a:p>
          <a:p xmlns:a="http://schemas.openxmlformats.org/drawingml/2006/main">
            <a:pPr>
              <a:defRPr sz="1875" b="0">
                <a:solidFill>
                  <a:srgbClr val="AFC1D6"/>
                </a:solidFill>
                <a:latin typeface="Arial"/>
                <a:ea typeface="Arial"/>
                <a:cs typeface="Arial"/>
              </a:defRPr>
            </a:pPr>
            <a:r>
              <a:rPr sz="1875" b="0">
                <a:solidFill>
                  <a:srgbClr val="AFC1D6"/>
                </a:solidFill>
                <a:latin typeface="Arial"/>
                <a:ea typeface="Arial"/>
                <a:cs typeface="Arial"/>
              </a:rPr>
              <a:t>19 October 2026</a:t>
            </a:r>
          </a:p>
        </p:txBody>
      </p:sp>
    </p:spTree>
    <p:extLst>
      <p:ext uri="{BB962C8B-B14F-4D97-AF65-F5344CB8AC3E}">
        <p14:creationId xmlns:p14="http://schemas.microsoft.com/office/powerpoint/2010/main" val="1959152556"/>
      </p:ext>
    </p:extLst>
  </p:cSld>
</p:sld>
</file>

<file path=ppt/slides/slide2.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7" name="π0.5 connects perception to robot actions">
            <a:extLst xmlns:a="http://schemas.openxmlformats.org/drawingml/2006/main">
              <a:ext uri="{FF2B5EF4-FFF2-40B4-BE49-F238E27FC236}">
                <a16:creationId xmlns:a16="http://schemas.microsoft.com/office/drawing/2014/main" id="{F9C059E4-5128-40DA-ACB0-2B0A242B7EB5}"/>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π0.5 connects perception to robot actions</a:t>
            </a:r>
          </a:p>
        </p:txBody>
      </p:sp>
      <p:sp>
        <p:nvSpPr>
          <p:cNvPr id="2" name="02">
            <a:extLst xmlns:a="http://schemas.openxmlformats.org/drawingml/2006/main">
              <a:ext uri="{FF2B5EF4-FFF2-40B4-BE49-F238E27FC236}">
                <a16:creationId xmlns:a16="http://schemas.microsoft.com/office/drawing/2014/main" id="{5490ADC4-50E4-42F3-A0C5-AA073B4CAD7B}"/>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02</a:t>
            </a:r>
          </a:p>
        </p:txBody>
      </p:sp>
      <p:sp>
        <p:nvSpPr>
          <p:cNvPr id="3" name="Current observations and a task instructio">
            <a:extLst xmlns:a="http://schemas.openxmlformats.org/drawingml/2006/main">
              <a:ext uri="{FF2B5EF4-FFF2-40B4-BE49-F238E27FC236}">
                <a16:creationId xmlns:a16="http://schemas.microsoft.com/office/drawing/2014/main" id="{67049F0F-F032-4A7B-8648-D15A06591DEB}"/>
              </a:ext>
            </a:extLst>
          </p:cNvPr>
          <p:cNvSpPr>
            <a:spLocks xmlns:a="http://schemas.openxmlformats.org/drawingml/2006/main" noGrp="1"/>
          </p:cNvSpPr>
          <p:nvPr/>
        </p:nvSpPr>
        <p:spPr>
          <a:xfrm xmlns:a="http://schemas.openxmlformats.org/drawingml/2006/main">
            <a:off x="533400" y="13335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34"/>
                </a:solidFill>
                <a:latin typeface="Arial"/>
                <a:ea typeface="Arial"/>
                <a:cs typeface="Arial"/>
              </a:defRPr>
            </a:defPPr>
          </a:lstStyle>
          <a:p xmlns:a="http://schemas.openxmlformats.org/drawingml/2006/main">
            <a:pPr>
              <a:defRPr sz="2325" b="0">
                <a:solidFill>
                  <a:srgbClr val="142334"/>
                </a:solidFill>
                <a:latin typeface="Arial"/>
                <a:ea typeface="Arial"/>
                <a:cs typeface="Arial"/>
              </a:defRPr>
            </a:pPr>
            <a:r>
              <a:rPr sz="2325" b="0">
                <a:solidFill>
                  <a:srgbClr val="142334"/>
                </a:solidFill>
                <a:latin typeface="Arial"/>
                <a:ea typeface="Arial"/>
                <a:cs typeface="Arial"/>
              </a:rPr>
              <a:t>Current observations and a task instruction condition an action chunk.</a:t>
            </a:r>
          </a:p>
        </p:txBody>
      </p:sp>
      <p:sp>
        <p:nvSpPr>
          <p:cNvPr id="4" name="">
            <a:extLst xmlns:a="http://schemas.openxmlformats.org/drawingml/2006/main">
              <a:ext uri="{FF2B5EF4-FFF2-40B4-BE49-F238E27FC236}">
                <a16:creationId xmlns:a16="http://schemas.microsoft.com/office/drawing/2014/main" id="{01397718-A323-47DD-9CC9-5543C6D69AD8}"/>
              </a:ext>
            </a:extLst>
          </p:cNvPr>
          <p:cNvSpPr>
            <a:spLocks xmlns:a="http://schemas.openxmlformats.org/drawingml/2006/main" noGrp="1"/>
          </p:cNvSpPr>
          <p:nvPr/>
        </p:nvSpPr>
        <p:spPr>
          <a:xfrm xmlns:a="http://schemas.openxmlformats.org/drawingml/2006/main">
            <a:off x="533400" y="2428875"/>
            <a:ext cx="3000375" cy="204787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5" name="Vision">
            <a:extLst xmlns:a="http://schemas.openxmlformats.org/drawingml/2006/main">
              <a:ext uri="{FF2B5EF4-FFF2-40B4-BE49-F238E27FC236}">
                <a16:creationId xmlns:a16="http://schemas.microsoft.com/office/drawing/2014/main" id="{1EE27CF7-E8F6-41D8-A1E9-FB00F6F3D0EF}"/>
              </a:ext>
            </a:extLst>
          </p:cNvPr>
          <p:cNvSpPr>
            <a:spLocks xmlns:a="http://schemas.openxmlformats.org/drawingml/2006/main" noGrp="1"/>
          </p:cNvSpPr>
          <p:nvPr/>
        </p:nvSpPr>
        <p:spPr>
          <a:xfrm xmlns:a="http://schemas.openxmlformats.org/drawingml/2006/main">
            <a:off x="723900" y="2600325"/>
            <a:ext cx="2619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Vision</a:t>
            </a:r>
          </a:p>
        </p:txBody>
      </p:sp>
      <p:sp>
        <p:nvSpPr>
          <p:cNvPr id="6" name="Multiple RGB views&#10;Scene and object contex">
            <a:extLst xmlns:a="http://schemas.openxmlformats.org/drawingml/2006/main">
              <a:ext uri="{FF2B5EF4-FFF2-40B4-BE49-F238E27FC236}">
                <a16:creationId xmlns:a16="http://schemas.microsoft.com/office/drawing/2014/main" id="{59BDD276-ED27-4164-8B55-9ED978664178}"/>
              </a:ext>
            </a:extLst>
          </p:cNvPr>
          <p:cNvSpPr>
            <a:spLocks xmlns:a="http://schemas.openxmlformats.org/drawingml/2006/main" noGrp="1"/>
          </p:cNvSpPr>
          <p:nvPr/>
        </p:nvSpPr>
        <p:spPr>
          <a:xfrm xmlns:a="http://schemas.openxmlformats.org/drawingml/2006/main">
            <a:off x="723900" y="3152775"/>
            <a:ext cx="2619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Multiple RGB views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Scene and object context</a:t>
            </a:r>
          </a:p>
        </p:txBody>
      </p:sp>
      <p:sp>
        <p:nvSpPr>
          <p:cNvPr id="7" name="">
            <a:extLst xmlns:a="http://schemas.openxmlformats.org/drawingml/2006/main">
              <a:ext uri="{FF2B5EF4-FFF2-40B4-BE49-F238E27FC236}">
                <a16:creationId xmlns:a16="http://schemas.microsoft.com/office/drawing/2014/main" id="{CD89202C-E51C-4FFC-A6DA-3B0A689C458F}"/>
              </a:ext>
            </a:extLst>
          </p:cNvPr>
          <p:cNvSpPr>
            <a:spLocks xmlns:a="http://schemas.openxmlformats.org/drawingml/2006/main" noGrp="1"/>
          </p:cNvSpPr>
          <p:nvPr/>
        </p:nvSpPr>
        <p:spPr>
          <a:xfrm xmlns:a="http://schemas.openxmlformats.org/drawingml/2006/main">
            <a:off x="3648075" y="3333750"/>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62A67A9-64E9-4B92-8ED6-234C754E1678}"/>
              </a:ext>
            </a:extLst>
          </p:cNvPr>
          <p:cNvSpPr>
            <a:spLocks xmlns:a="http://schemas.openxmlformats.org/drawingml/2006/main" noGrp="1"/>
          </p:cNvSpPr>
          <p:nvPr/>
        </p:nvSpPr>
        <p:spPr>
          <a:xfrm xmlns:a="http://schemas.openxmlformats.org/drawingml/2006/main">
            <a:off x="4114800" y="2428875"/>
            <a:ext cx="3333750" cy="204787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9" name="Language + state">
            <a:extLst xmlns:a="http://schemas.openxmlformats.org/drawingml/2006/main">
              <a:ext uri="{FF2B5EF4-FFF2-40B4-BE49-F238E27FC236}">
                <a16:creationId xmlns:a16="http://schemas.microsoft.com/office/drawing/2014/main" id="{B5F72611-88CE-4186-AD5D-B8B97A9FDA5E}"/>
              </a:ext>
            </a:extLst>
          </p:cNvPr>
          <p:cNvSpPr>
            <a:spLocks xmlns:a="http://schemas.openxmlformats.org/drawingml/2006/main" noGrp="1"/>
          </p:cNvSpPr>
          <p:nvPr/>
        </p:nvSpPr>
        <p:spPr>
          <a:xfrm xmlns:a="http://schemas.openxmlformats.org/drawingml/2006/main">
            <a:off x="4305300" y="260032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Language + state</a:t>
            </a:r>
          </a:p>
        </p:txBody>
      </p:sp>
      <p:sp>
        <p:nvSpPr>
          <p:cNvPr id="10" name="Task instruction&#10;Robot proprioception">
            <a:extLst xmlns:a="http://schemas.openxmlformats.org/drawingml/2006/main">
              <a:ext uri="{FF2B5EF4-FFF2-40B4-BE49-F238E27FC236}">
                <a16:creationId xmlns:a16="http://schemas.microsoft.com/office/drawing/2014/main" id="{4D1A8FCC-D2FE-4197-BEAE-ED3A4E83F213}"/>
              </a:ext>
            </a:extLst>
          </p:cNvPr>
          <p:cNvSpPr>
            <a:spLocks xmlns:a="http://schemas.openxmlformats.org/drawingml/2006/main" noGrp="1"/>
          </p:cNvSpPr>
          <p:nvPr/>
        </p:nvSpPr>
        <p:spPr>
          <a:xfrm xmlns:a="http://schemas.openxmlformats.org/drawingml/2006/main">
            <a:off x="4305300" y="3152775"/>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Task instruction</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Robot proprioception</a:t>
            </a:r>
          </a:p>
        </p:txBody>
      </p:sp>
      <p:sp>
        <p:nvSpPr>
          <p:cNvPr id="11" name="">
            <a:extLst xmlns:a="http://schemas.openxmlformats.org/drawingml/2006/main">
              <a:ext uri="{FF2B5EF4-FFF2-40B4-BE49-F238E27FC236}">
                <a16:creationId xmlns:a16="http://schemas.microsoft.com/office/drawing/2014/main" id="{C81B40FA-C13B-4E4A-AB67-96A7BE68F173}"/>
              </a:ext>
            </a:extLst>
          </p:cNvPr>
          <p:cNvSpPr>
            <a:spLocks xmlns:a="http://schemas.openxmlformats.org/drawingml/2006/main" noGrp="1"/>
          </p:cNvSpPr>
          <p:nvPr/>
        </p:nvSpPr>
        <p:spPr>
          <a:xfrm xmlns:a="http://schemas.openxmlformats.org/drawingml/2006/main">
            <a:off x="7562850" y="3333750"/>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CFA96CE-6982-4AC5-8EDA-7599D97A7909}"/>
              </a:ext>
            </a:extLst>
          </p:cNvPr>
          <p:cNvSpPr>
            <a:spLocks xmlns:a="http://schemas.openxmlformats.org/drawingml/2006/main" noGrp="1"/>
          </p:cNvSpPr>
          <p:nvPr/>
        </p:nvSpPr>
        <p:spPr>
          <a:xfrm xmlns:a="http://schemas.openxmlformats.org/drawingml/2006/main">
            <a:off x="8029575" y="2428875"/>
            <a:ext cx="3629025" cy="204787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3" name="Action chunk">
            <a:extLst xmlns:a="http://schemas.openxmlformats.org/drawingml/2006/main">
              <a:ext uri="{FF2B5EF4-FFF2-40B4-BE49-F238E27FC236}">
                <a16:creationId xmlns:a16="http://schemas.microsoft.com/office/drawing/2014/main" id="{894A17E7-195A-4C36-A1DB-86106191ED6A}"/>
              </a:ext>
            </a:extLst>
          </p:cNvPr>
          <p:cNvSpPr>
            <a:spLocks xmlns:a="http://schemas.openxmlformats.org/drawingml/2006/main" noGrp="1"/>
          </p:cNvSpPr>
          <p:nvPr/>
        </p:nvSpPr>
        <p:spPr>
          <a:xfrm xmlns:a="http://schemas.openxmlformats.org/drawingml/2006/main">
            <a:off x="8220075" y="2600325"/>
            <a:ext cx="3248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Action chunk</a:t>
            </a:r>
          </a:p>
        </p:txBody>
      </p:sp>
      <p:sp>
        <p:nvSpPr>
          <p:cNvPr id="14" name="Continuous joint targets&#10;Repeated predicti">
            <a:extLst xmlns:a="http://schemas.openxmlformats.org/drawingml/2006/main">
              <a:ext uri="{FF2B5EF4-FFF2-40B4-BE49-F238E27FC236}">
                <a16:creationId xmlns:a16="http://schemas.microsoft.com/office/drawing/2014/main" id="{A23A6115-D530-4B6F-9DB3-246E8454C8B9}"/>
              </a:ext>
            </a:extLst>
          </p:cNvPr>
          <p:cNvSpPr>
            <a:spLocks xmlns:a="http://schemas.openxmlformats.org/drawingml/2006/main" noGrp="1"/>
          </p:cNvSpPr>
          <p:nvPr/>
        </p:nvSpPr>
        <p:spPr>
          <a:xfrm xmlns:a="http://schemas.openxmlformats.org/drawingml/2006/main">
            <a:off x="8220075" y="3152775"/>
            <a:ext cx="32480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Continuous joint targets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Repeated prediction</a:t>
            </a:r>
          </a:p>
        </p:txBody>
      </p:sp>
      <p:sp>
        <p:nvSpPr>
          <p:cNvPr id="15" name="Heterogeneous co-training connects robotic">
            <a:extLst xmlns:a="http://schemas.openxmlformats.org/drawingml/2006/main">
              <a:ext uri="{FF2B5EF4-FFF2-40B4-BE49-F238E27FC236}">
                <a16:creationId xmlns:a16="http://schemas.microsoft.com/office/drawing/2014/main" id="{081EEE3C-B844-4AAB-8A9A-0ECE436D51E4}"/>
              </a:ext>
            </a:extLst>
          </p:cNvPr>
          <p:cNvSpPr>
            <a:spLocks xmlns:a="http://schemas.openxmlformats.org/drawingml/2006/main" noGrp="1"/>
          </p:cNvSpPr>
          <p:nvPr/>
        </p:nvSpPr>
        <p:spPr>
          <a:xfrm xmlns:a="http://schemas.openxmlformats.org/drawingml/2006/main">
            <a:off x="533400" y="50863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667BA"/>
                </a:solidFill>
                <a:latin typeface="Arial"/>
                <a:ea typeface="Arial"/>
                <a:cs typeface="Arial"/>
              </a:defRPr>
            </a:defPPr>
          </a:lstStyle>
          <a:p xmlns:a="http://schemas.openxmlformats.org/drawingml/2006/main">
            <a:pPr>
              <a:defRPr sz="2100" b="1">
                <a:solidFill>
                  <a:srgbClr val="2667BA"/>
                </a:solidFill>
                <a:latin typeface="Arial"/>
                <a:ea typeface="Arial"/>
                <a:cs typeface="Arial"/>
              </a:defRPr>
            </a:pPr>
            <a:r>
              <a:rPr sz="2100" b="1">
                <a:solidFill>
                  <a:srgbClr val="2667BA"/>
                </a:solidFill>
                <a:latin typeface="Arial"/>
                <a:ea typeface="Arial"/>
                <a:cs typeface="Arial"/>
              </a:rPr>
              <a:t>Heterogeneous co-training connects robotic and semantic supervision.</a:t>
            </a:r>
          </a:p>
        </p:txBody>
      </p:sp>
      <p:sp>
        <p:nvSpPr>
          <p:cNvPr id="16" name="This project adapts the low-level action p">
            <a:extLst xmlns:a="http://schemas.openxmlformats.org/drawingml/2006/main">
              <a:ext uri="{FF2B5EF4-FFF2-40B4-BE49-F238E27FC236}">
                <a16:creationId xmlns:a16="http://schemas.microsoft.com/office/drawing/2014/main" id="{4E933FA3-093F-40C7-AFB7-253C2960C05C}"/>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This project adapts the low-level action policy to the R1 Pro tray task.</a:t>
            </a:r>
          </a:p>
        </p:txBody>
      </p:sp>
    </p:spTree>
    <p:extLst>
      <p:ext uri="{BB962C8B-B14F-4D97-AF65-F5344CB8AC3E}">
        <p14:creationId xmlns:p14="http://schemas.microsoft.com/office/powerpoint/2010/main" val="1356040676"/>
      </p:ext>
    </p:extLst>
  </p:cSld>
</p:sld>
</file>

<file path=ppt/slides/slide3.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7" name="π0.5 generates actions with flow matching">
            <a:extLst xmlns:a="http://schemas.openxmlformats.org/drawingml/2006/main">
              <a:ext uri="{FF2B5EF4-FFF2-40B4-BE49-F238E27FC236}">
                <a16:creationId xmlns:a16="http://schemas.microsoft.com/office/drawing/2014/main" id="{45D8C76F-6C9D-4893-BBA9-E37DD96EBE69}"/>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π0.5 generates actions with flow matching</a:t>
            </a:r>
          </a:p>
        </p:txBody>
      </p:sp>
      <p:sp>
        <p:nvSpPr>
          <p:cNvPr id="2" name="03">
            <a:extLst xmlns:a="http://schemas.openxmlformats.org/drawingml/2006/main">
              <a:ext uri="{FF2B5EF4-FFF2-40B4-BE49-F238E27FC236}">
                <a16:creationId xmlns:a16="http://schemas.microsoft.com/office/drawing/2014/main" id="{F89BD4BE-322B-4520-B5D1-EFB773B5D447}"/>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0D26EC6-1A72-452F-9D18-0773991BFC64}"/>
              </a:ext>
            </a:extLst>
          </p:cNvPr>
          <p:cNvSpPr>
            <a:spLocks xmlns:a="http://schemas.openxmlformats.org/drawingml/2006/main" noGrp="1"/>
          </p:cNvSpPr>
          <p:nvPr/>
        </p:nvSpPr>
        <p:spPr>
          <a:xfrm xmlns:a="http://schemas.openxmlformats.org/drawingml/2006/main">
            <a:off x="533400" y="1809750"/>
            <a:ext cx="3143250" cy="20002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4" name="Context encoder">
            <a:extLst xmlns:a="http://schemas.openxmlformats.org/drawingml/2006/main">
              <a:ext uri="{FF2B5EF4-FFF2-40B4-BE49-F238E27FC236}">
                <a16:creationId xmlns:a16="http://schemas.microsoft.com/office/drawing/2014/main" id="{6F8EDE36-D5D0-4372-A88C-E6B0670BBB02}"/>
              </a:ext>
            </a:extLst>
          </p:cNvPr>
          <p:cNvSpPr>
            <a:spLocks xmlns:a="http://schemas.openxmlformats.org/drawingml/2006/main" noGrp="1"/>
          </p:cNvSpPr>
          <p:nvPr/>
        </p:nvSpPr>
        <p:spPr>
          <a:xfrm xmlns:a="http://schemas.openxmlformats.org/drawingml/2006/main">
            <a:off x="723900" y="198120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Context encoder</a:t>
            </a:r>
          </a:p>
        </p:txBody>
      </p:sp>
      <p:sp>
        <p:nvSpPr>
          <p:cNvPr id="5" name="Images, instruction&#10;and robot state">
            <a:extLst xmlns:a="http://schemas.openxmlformats.org/drawingml/2006/main">
              <a:ext uri="{FF2B5EF4-FFF2-40B4-BE49-F238E27FC236}">
                <a16:creationId xmlns:a16="http://schemas.microsoft.com/office/drawing/2014/main" id="{A53CDAE5-F77F-48F8-B6CB-BC47DF5766C4}"/>
              </a:ext>
            </a:extLst>
          </p:cNvPr>
          <p:cNvSpPr>
            <a:spLocks xmlns:a="http://schemas.openxmlformats.org/drawingml/2006/main" noGrp="1"/>
          </p:cNvSpPr>
          <p:nvPr/>
        </p:nvSpPr>
        <p:spPr>
          <a:xfrm xmlns:a="http://schemas.openxmlformats.org/drawingml/2006/main">
            <a:off x="723900" y="2533650"/>
            <a:ext cx="2762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Images, instruction</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robot state</a:t>
            </a:r>
          </a:p>
        </p:txBody>
      </p:sp>
      <p:sp>
        <p:nvSpPr>
          <p:cNvPr id="6" name="">
            <a:extLst xmlns:a="http://schemas.openxmlformats.org/drawingml/2006/main">
              <a:ext uri="{FF2B5EF4-FFF2-40B4-BE49-F238E27FC236}">
                <a16:creationId xmlns:a16="http://schemas.microsoft.com/office/drawing/2014/main" id="{C020858B-82C3-41DC-AA03-141F4587D8CD}"/>
              </a:ext>
            </a:extLst>
          </p:cNvPr>
          <p:cNvSpPr>
            <a:spLocks xmlns:a="http://schemas.openxmlformats.org/drawingml/2006/main" noGrp="1"/>
          </p:cNvSpPr>
          <p:nvPr/>
        </p:nvSpPr>
        <p:spPr>
          <a:xfrm xmlns:a="http://schemas.openxmlformats.org/drawingml/2006/main">
            <a:off x="3790950" y="2667000"/>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5CB77B2-9019-4136-B5D2-43993A1D15BE}"/>
              </a:ext>
            </a:extLst>
          </p:cNvPr>
          <p:cNvSpPr>
            <a:spLocks xmlns:a="http://schemas.openxmlformats.org/drawingml/2006/main" noGrp="1"/>
          </p:cNvSpPr>
          <p:nvPr/>
        </p:nvSpPr>
        <p:spPr>
          <a:xfrm xmlns:a="http://schemas.openxmlformats.org/drawingml/2006/main">
            <a:off x="4257675" y="1809750"/>
            <a:ext cx="3429000" cy="20002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8" name="Action expert">
            <a:extLst xmlns:a="http://schemas.openxmlformats.org/drawingml/2006/main">
              <a:ext uri="{FF2B5EF4-FFF2-40B4-BE49-F238E27FC236}">
                <a16:creationId xmlns:a16="http://schemas.microsoft.com/office/drawing/2014/main" id="{1CA7A856-3D70-4CEE-8638-0DEBEB26925E}"/>
              </a:ext>
            </a:extLst>
          </p:cNvPr>
          <p:cNvSpPr>
            <a:spLocks xmlns:a="http://schemas.openxmlformats.org/drawingml/2006/main" noGrp="1"/>
          </p:cNvSpPr>
          <p:nvPr/>
        </p:nvSpPr>
        <p:spPr>
          <a:xfrm xmlns:a="http://schemas.openxmlformats.org/drawingml/2006/main">
            <a:off x="4448175" y="19812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Action expert</a:t>
            </a:r>
          </a:p>
        </p:txBody>
      </p:sp>
      <p:sp>
        <p:nvSpPr>
          <p:cNvPr id="9" name="Flow matching converts&#10;noise into an actio">
            <a:extLst xmlns:a="http://schemas.openxmlformats.org/drawingml/2006/main">
              <a:ext uri="{FF2B5EF4-FFF2-40B4-BE49-F238E27FC236}">
                <a16:creationId xmlns:a16="http://schemas.microsoft.com/office/drawing/2014/main" id="{A31C5D74-0937-454C-A1B8-CA5A61350D21}"/>
              </a:ext>
            </a:extLst>
          </p:cNvPr>
          <p:cNvSpPr>
            <a:spLocks xmlns:a="http://schemas.openxmlformats.org/drawingml/2006/main" noGrp="1"/>
          </p:cNvSpPr>
          <p:nvPr/>
        </p:nvSpPr>
        <p:spPr>
          <a:xfrm xmlns:a="http://schemas.openxmlformats.org/drawingml/2006/main">
            <a:off x="4448175" y="2533650"/>
            <a:ext cx="304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Flow matching converts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noise into an action chunk</a:t>
            </a:r>
          </a:p>
        </p:txBody>
      </p:sp>
      <p:sp>
        <p:nvSpPr>
          <p:cNvPr id="10" name="">
            <a:extLst xmlns:a="http://schemas.openxmlformats.org/drawingml/2006/main">
              <a:ext uri="{FF2B5EF4-FFF2-40B4-BE49-F238E27FC236}">
                <a16:creationId xmlns:a16="http://schemas.microsoft.com/office/drawing/2014/main" id="{113567CD-99C8-4D74-83F0-5B629C0BAF85}"/>
              </a:ext>
            </a:extLst>
          </p:cNvPr>
          <p:cNvSpPr>
            <a:spLocks xmlns:a="http://schemas.openxmlformats.org/drawingml/2006/main" noGrp="1"/>
          </p:cNvSpPr>
          <p:nvPr/>
        </p:nvSpPr>
        <p:spPr>
          <a:xfrm xmlns:a="http://schemas.openxmlformats.org/drawingml/2006/main">
            <a:off x="7800975" y="2667000"/>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4178C98-9964-4C07-942C-71995AFBB190}"/>
              </a:ext>
            </a:extLst>
          </p:cNvPr>
          <p:cNvSpPr>
            <a:spLocks xmlns:a="http://schemas.openxmlformats.org/drawingml/2006/main" noGrp="1"/>
          </p:cNvSpPr>
          <p:nvPr/>
        </p:nvSpPr>
        <p:spPr>
          <a:xfrm xmlns:a="http://schemas.openxmlformats.org/drawingml/2006/main">
            <a:off x="8267700" y="1809750"/>
            <a:ext cx="3390900" cy="20002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2" name="Robot interface">
            <a:extLst xmlns:a="http://schemas.openxmlformats.org/drawingml/2006/main">
              <a:ext uri="{FF2B5EF4-FFF2-40B4-BE49-F238E27FC236}">
                <a16:creationId xmlns:a16="http://schemas.microsoft.com/office/drawing/2014/main" id="{FABD61BB-F76D-4A5B-A67B-9460692C90A4}"/>
              </a:ext>
            </a:extLst>
          </p:cNvPr>
          <p:cNvSpPr>
            <a:spLocks xmlns:a="http://schemas.openxmlformats.org/drawingml/2006/main" noGrp="1"/>
          </p:cNvSpPr>
          <p:nvPr/>
        </p:nvSpPr>
        <p:spPr>
          <a:xfrm xmlns:a="http://schemas.openxmlformats.org/drawingml/2006/main">
            <a:off x="8458200" y="1981200"/>
            <a:ext cx="300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Robot interface</a:t>
            </a:r>
          </a:p>
        </p:txBody>
      </p:sp>
      <p:sp>
        <p:nvSpPr>
          <p:cNvPr id="13" name="Decode targets&#10;Act, then observe again">
            <a:extLst xmlns:a="http://schemas.openxmlformats.org/drawingml/2006/main">
              <a:ext uri="{FF2B5EF4-FFF2-40B4-BE49-F238E27FC236}">
                <a16:creationId xmlns:a16="http://schemas.microsoft.com/office/drawing/2014/main" id="{5F01C746-C4A3-419D-813D-64BD7B26AF88}"/>
              </a:ext>
            </a:extLst>
          </p:cNvPr>
          <p:cNvSpPr>
            <a:spLocks xmlns:a="http://schemas.openxmlformats.org/drawingml/2006/main" noGrp="1"/>
          </p:cNvSpPr>
          <p:nvPr/>
        </p:nvSpPr>
        <p:spPr>
          <a:xfrm xmlns:a="http://schemas.openxmlformats.org/drawingml/2006/main">
            <a:off x="8458200" y="2533650"/>
            <a:ext cx="30099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Decode targets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Act, then observe again</a:t>
            </a:r>
          </a:p>
        </p:txBody>
      </p:sp>
      <p:sp>
        <p:nvSpPr>
          <p:cNvPr id="14" name="Implementation scope">
            <a:extLst xmlns:a="http://schemas.openxmlformats.org/drawingml/2006/main">
              <a:ext uri="{FF2B5EF4-FFF2-40B4-BE49-F238E27FC236}">
                <a16:creationId xmlns:a16="http://schemas.microsoft.com/office/drawing/2014/main" id="{A3765359-E2CB-46AD-BA91-F14FE8ED5A0D}"/>
              </a:ext>
            </a:extLst>
          </p:cNvPr>
          <p:cNvSpPr>
            <a:spLocks xmlns:a="http://schemas.openxmlformats.org/drawingml/2006/main" noGrp="1"/>
          </p:cNvSpPr>
          <p:nvPr/>
        </p:nvSpPr>
        <p:spPr>
          <a:xfrm xmlns:a="http://schemas.openxmlformats.org/drawingml/2006/main">
            <a:off x="533400" y="4362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Implementation scope</a:t>
            </a:r>
          </a:p>
        </p:txBody>
      </p:sp>
      <p:sp>
        <p:nvSpPr>
          <p:cNvPr id="15" name="OpenPI provides the low-level policy. The ">
            <a:extLst xmlns:a="http://schemas.openxmlformats.org/drawingml/2006/main">
              <a:ext uri="{FF2B5EF4-FFF2-40B4-BE49-F238E27FC236}">
                <a16:creationId xmlns:a16="http://schemas.microsoft.com/office/drawing/2014/main" id="{B5F3FE02-CEEE-4BC7-B698-FD3DC29416DD}"/>
              </a:ext>
            </a:extLst>
          </p:cNvPr>
          <p:cNvSpPr>
            <a:spLocks xmlns:a="http://schemas.openxmlformats.org/drawingml/2006/main" noGrp="1"/>
          </p:cNvSpPr>
          <p:nvPr/>
        </p:nvSpPr>
        <p:spPr>
          <a:xfrm xmlns:a="http://schemas.openxmlformats.org/drawingml/2006/main">
            <a:off x="533400" y="48196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OpenPI provides the low-level policy. The task controller supplies the instruction and maps model outputs to the robot.</a:t>
            </a:r>
          </a:p>
        </p:txBody>
      </p:sp>
      <p:sp>
        <p:nvSpPr>
          <p:cNvPr id="16" name="Project configuration: 20-step horizon at ">
            <a:extLst xmlns:a="http://schemas.openxmlformats.org/drawingml/2006/main">
              <a:ext uri="{FF2B5EF4-FFF2-40B4-BE49-F238E27FC236}">
                <a16:creationId xmlns:a16="http://schemas.microsoft.com/office/drawing/2014/main" id="{66E0B1CF-02D6-4699-BF9A-7ED69D195E8A}"/>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Project configuration: 20-step horizon at 20 Hz. This differs from the original default horizon.</a:t>
            </a:r>
          </a:p>
        </p:txBody>
      </p:sp>
    </p:spTree>
    <p:extLst>
      <p:ext uri="{BB962C8B-B14F-4D97-AF65-F5344CB8AC3E}">
        <p14:creationId xmlns:p14="http://schemas.microsoft.com/office/powerpoint/2010/main" val="1474127078"/>
      </p:ext>
    </p:extLst>
  </p:cSld>
</p:sld>
</file>

<file path=ppt/slides/slide4.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Observation and action interfaces">
            <a:extLst xmlns:a="http://schemas.openxmlformats.org/drawingml/2006/main">
              <a:ext uri="{FF2B5EF4-FFF2-40B4-BE49-F238E27FC236}">
                <a16:creationId xmlns:a16="http://schemas.microsoft.com/office/drawing/2014/main" id="{AFFC55D6-997F-4368-A291-6B23DC3B5F37}"/>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Observation and action interfaces</a:t>
            </a:r>
          </a:p>
        </p:txBody>
      </p:sp>
      <p:sp>
        <p:nvSpPr>
          <p:cNvPr id="2" name="04">
            <a:extLst xmlns:a="http://schemas.openxmlformats.org/drawingml/2006/main">
              <a:ext uri="{FF2B5EF4-FFF2-40B4-BE49-F238E27FC236}">
                <a16:creationId xmlns:a16="http://schemas.microsoft.com/office/drawing/2014/main" id="{688DF4D6-DB4A-4D99-8A21-8B2DB2D66F52}"/>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8C237C7C-0A49-40A0-9A29-9A193B638CA0}"/>
              </a:ext>
            </a:extLst>
          </p:cNvPr>
          <p:cNvGraphicFramePr/>
          <p:nvPr/>
        </p:nvGraphicFramePr>
        <p:xfrm>
          <a:off xmlns:a="http://schemas.openxmlformats.org/drawingml/2006/main" x="533400" y="1619250"/>
          <a:ext xmlns:a="http://schemas.openxmlformats.org/drawingml/2006/main" cx="11125200" cy="3476625"/>
        </p:xfrm>
        <a:graphic xmlns:a="http://schemas.openxmlformats.org/drawingml/2006/main">
          <a:graphicData uri="http://schemas.openxmlformats.org/drawingml/2006/table">
            <a:tbl>
              <a:tblPr/>
              <a:tblGrid>
                <a:gridCol w="1905000"/>
                <a:gridCol w="4476750"/>
                <a:gridCol w="4743450"/>
              </a:tblGrid>
              <a:tr h="695325">
                <a:tc>
                  <a:txBody>
                    <a:bodyPr lIns="114300" tIns="114300" rIns="114300" bIns="114300"/>
                    <a:lstStyle/>
                    <a:p>
                      <a:r>
                        <a:rPr sz="1725" b="1">
                          <a:solidFill>
                            <a:srgbClr val="142334"/>
                          </a:solidFill>
                          <a:latin typeface="Arial"/>
                          <a:ea typeface="Arial"/>
                          <a:cs typeface="Arial"/>
                        </a:rPr>
                        <a:t>Interface</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725" b="1">
                          <a:solidFill>
                            <a:srgbClr val="142334"/>
                          </a:solidFill>
                          <a:latin typeface="Arial"/>
                          <a:ea typeface="Arial"/>
                          <a:cs typeface="Arial"/>
                        </a:rPr>
                        <a:t>R1 Pro configuration</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725" b="1">
                          <a:solidFill>
                            <a:srgbClr val="142334"/>
                          </a:solidFill>
                          <a:latin typeface="Arial"/>
                          <a:ea typeface="Arial"/>
                          <a:cs typeface="Arial"/>
                        </a:rPr>
                        <a:t>Consistency requirement</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95325">
                <a:tc>
                  <a:txBody>
                    <a:bodyPr lIns="114300" tIns="114300" rIns="114300" bIns="114300"/>
                    <a:lstStyle/>
                    <a:p>
                      <a:r>
                        <a:rPr sz="1725" b="0">
                          <a:solidFill>
                            <a:srgbClr val="142334"/>
                          </a:solidFill>
                          <a:latin typeface="Arial"/>
                          <a:ea typeface="Arial"/>
                          <a:cs typeface="Arial"/>
                        </a:rPr>
                        <a:t>Vision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Head + two wrists, 224 × 224</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Native camera orientation</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95325">
                <a:tc>
                  <a:txBody>
                    <a:bodyPr lIns="114300" tIns="114300" rIns="114300" bIns="114300"/>
                    <a:lstStyle/>
                    <a:p>
                      <a:r>
                        <a:rPr sz="1725" b="0">
                          <a:solidFill>
                            <a:srgbClr val="142334"/>
                          </a:solidFill>
                          <a:latin typeface="Arial"/>
                          <a:ea typeface="Arial"/>
                          <a:cs typeface="Arial"/>
                        </a:rPr>
                        <a:t>State / action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14 joints + 2 grippers + 3 base</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Joints in rad, grippers in m</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95325">
                <a:tc>
                  <a:txBody>
                    <a:bodyPr lIns="114300" tIns="114300" rIns="114300" bIns="114300"/>
                    <a:lstStyle/>
                    <a:p>
                      <a:r>
                        <a:rPr sz="1725" b="0">
                          <a:solidFill>
                            <a:srgbClr val="142334"/>
                          </a:solidFill>
                          <a:latin typeface="Arial"/>
                          <a:ea typeface="Arial"/>
                          <a:cs typeface="Arial"/>
                        </a:rPr>
                        <a:t>Action chunk</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Horizon 20, sampled at 20 Hz</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Common time base</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95325">
                <a:tc>
                  <a:txBody>
                    <a:bodyPr lIns="114300" tIns="114300" rIns="114300" bIns="114300"/>
                    <a:lstStyle/>
                    <a:p>
                      <a:r>
                        <a:rPr sz="1725" b="0">
                          <a:solidFill>
                            <a:srgbClr val="142334"/>
                          </a:solidFill>
                          <a:latin typeface="Arial"/>
                          <a:ea typeface="Arial"/>
                          <a:cs typeface="Arial"/>
                        </a:rPr>
                        <a:t>Closed-loop execution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Reobserve after up to 5 steps</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Explicit fixed-base mask</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bl>
          </a:graphicData>
        </a:graphic>
      </p:graphicFrame>
      <p:sp>
        <p:nvSpPr>
          <p:cNvPr id="4" name="Keep raw model outputs and record the fixe">
            <a:extLst xmlns:a="http://schemas.openxmlformats.org/drawingml/2006/main">
              <a:ext uri="{FF2B5EF4-FFF2-40B4-BE49-F238E27FC236}">
                <a16:creationId xmlns:a16="http://schemas.microsoft.com/office/drawing/2014/main" id="{6CD56D1A-2248-4DDD-9C7E-E4A1DC0674D8}"/>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Keep raw model outputs and record the fixed-base execution mask explicitly.</a:t>
            </a:r>
          </a:p>
        </p:txBody>
      </p:sp>
    </p:spTree>
    <p:extLst>
      <p:ext uri="{BB962C8B-B14F-4D97-AF65-F5344CB8AC3E}">
        <p14:creationId xmlns:p14="http://schemas.microsoft.com/office/powerpoint/2010/main" val="1469984928"/>
      </p:ext>
    </p:extLst>
  </p:cSld>
</p:sld>
</file>

<file path=ppt/slides/slide5.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24" name="The project pipeline">
            <a:extLst xmlns:a="http://schemas.openxmlformats.org/drawingml/2006/main">
              <a:ext uri="{FF2B5EF4-FFF2-40B4-BE49-F238E27FC236}">
                <a16:creationId xmlns:a16="http://schemas.microsoft.com/office/drawing/2014/main" id="{9E136CCA-6A14-4665-8BBE-FE7BD726BA07}"/>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The project pipeline</a:t>
            </a:r>
          </a:p>
        </p:txBody>
      </p:sp>
      <p:sp>
        <p:nvSpPr>
          <p:cNvPr id="2" name="05">
            <a:extLst xmlns:a="http://schemas.openxmlformats.org/drawingml/2006/main">
              <a:ext uri="{FF2B5EF4-FFF2-40B4-BE49-F238E27FC236}">
                <a16:creationId xmlns:a16="http://schemas.microsoft.com/office/drawing/2014/main" id="{B5A58076-E79B-4BDC-A657-C461E7F71E86}"/>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F6F4ECF9-C2FA-4A39-8A78-34E8F99FF29F}"/>
              </a:ext>
            </a:extLst>
          </p:cNvPr>
          <p:cNvSpPr>
            <a:spLocks xmlns:a="http://schemas.openxmlformats.org/drawingml/2006/main" noGrp="1"/>
          </p:cNvSpPr>
          <p:nvPr/>
        </p:nvSpPr>
        <p:spPr>
          <a:xfrm xmlns:a="http://schemas.openxmlformats.org/drawingml/2006/main">
            <a:off x="533400"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4" name="Real lab">
            <a:extLst xmlns:a="http://schemas.openxmlformats.org/drawingml/2006/main">
              <a:ext uri="{FF2B5EF4-FFF2-40B4-BE49-F238E27FC236}">
                <a16:creationId xmlns:a16="http://schemas.microsoft.com/office/drawing/2014/main" id="{038A2798-7A16-4F4B-A6FE-2175D555004C}"/>
              </a:ext>
            </a:extLst>
          </p:cNvPr>
          <p:cNvSpPr>
            <a:spLocks xmlns:a="http://schemas.openxmlformats.org/drawingml/2006/main" noGrp="1"/>
          </p:cNvSpPr>
          <p:nvPr/>
        </p:nvSpPr>
        <p:spPr>
          <a:xfrm xmlns:a="http://schemas.openxmlformats.org/drawingml/2006/main">
            <a:off x="723900"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Real lab</a:t>
            </a:r>
          </a:p>
        </p:txBody>
      </p:sp>
      <p:sp>
        <p:nvSpPr>
          <p:cNvPr id="5" name="Photos, CAD and&#10;real demonstrations">
            <a:extLst xmlns:a="http://schemas.openxmlformats.org/drawingml/2006/main">
              <a:ext uri="{FF2B5EF4-FFF2-40B4-BE49-F238E27FC236}">
                <a16:creationId xmlns:a16="http://schemas.microsoft.com/office/drawing/2014/main" id="{A69D7866-30E3-40A5-86CE-B28E4A0A73EE}"/>
              </a:ext>
            </a:extLst>
          </p:cNvPr>
          <p:cNvSpPr>
            <a:spLocks xmlns:a="http://schemas.openxmlformats.org/drawingml/2006/main" noGrp="1"/>
          </p:cNvSpPr>
          <p:nvPr/>
        </p:nvSpPr>
        <p:spPr>
          <a:xfrm xmlns:a="http://schemas.openxmlformats.org/drawingml/2006/main">
            <a:off x="723900"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Photos, CAD and</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real demonstrations</a:t>
            </a:r>
          </a:p>
        </p:txBody>
      </p:sp>
      <p:sp>
        <p:nvSpPr>
          <p:cNvPr id="6" name="">
            <a:extLst xmlns:a="http://schemas.openxmlformats.org/drawingml/2006/main">
              <a:ext uri="{FF2B5EF4-FFF2-40B4-BE49-F238E27FC236}">
                <a16:creationId xmlns:a16="http://schemas.microsoft.com/office/drawing/2014/main" id="{CB71494F-5DA1-40D5-93CF-26A4730FEE80}"/>
              </a:ext>
            </a:extLst>
          </p:cNvPr>
          <p:cNvSpPr>
            <a:spLocks xmlns:a="http://schemas.openxmlformats.org/drawingml/2006/main" noGrp="1"/>
          </p:cNvSpPr>
          <p:nvPr/>
        </p:nvSpPr>
        <p:spPr>
          <a:xfrm xmlns:a="http://schemas.openxmlformats.org/drawingml/2006/main">
            <a:off x="2657475" y="3105150"/>
            <a:ext cx="123825"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E5A469-D965-44B5-9985-19B0DD624171}"/>
              </a:ext>
            </a:extLst>
          </p:cNvPr>
          <p:cNvSpPr>
            <a:spLocks xmlns:a="http://schemas.openxmlformats.org/drawingml/2006/main" noGrp="1"/>
          </p:cNvSpPr>
          <p:nvPr/>
        </p:nvSpPr>
        <p:spPr>
          <a:xfrm xmlns:a="http://schemas.openxmlformats.org/drawingml/2006/main">
            <a:off x="2790825"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8" name="Real2Sim">
            <a:extLst xmlns:a="http://schemas.openxmlformats.org/drawingml/2006/main">
              <a:ext uri="{FF2B5EF4-FFF2-40B4-BE49-F238E27FC236}">
                <a16:creationId xmlns:a16="http://schemas.microsoft.com/office/drawing/2014/main" id="{C75973FE-5119-4AC6-8A51-1BB8151490D4}"/>
              </a:ext>
            </a:extLst>
          </p:cNvPr>
          <p:cNvSpPr>
            <a:spLocks xmlns:a="http://schemas.openxmlformats.org/drawingml/2006/main" noGrp="1"/>
          </p:cNvSpPr>
          <p:nvPr/>
        </p:nvSpPr>
        <p:spPr>
          <a:xfrm xmlns:a="http://schemas.openxmlformats.org/drawingml/2006/main">
            <a:off x="2981325"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Real2Sim</a:t>
            </a:r>
          </a:p>
        </p:txBody>
      </p:sp>
      <p:sp>
        <p:nvSpPr>
          <p:cNvPr id="9" name="Geometry, joints&#10;and camera mapping">
            <a:extLst xmlns:a="http://schemas.openxmlformats.org/drawingml/2006/main">
              <a:ext uri="{FF2B5EF4-FFF2-40B4-BE49-F238E27FC236}">
                <a16:creationId xmlns:a16="http://schemas.microsoft.com/office/drawing/2014/main" id="{5D08B207-E664-4C6F-BFA5-564D8AE4D8BD}"/>
              </a:ext>
            </a:extLst>
          </p:cNvPr>
          <p:cNvSpPr>
            <a:spLocks xmlns:a="http://schemas.openxmlformats.org/drawingml/2006/main" noGrp="1"/>
          </p:cNvSpPr>
          <p:nvPr/>
        </p:nvSpPr>
        <p:spPr>
          <a:xfrm xmlns:a="http://schemas.openxmlformats.org/drawingml/2006/main">
            <a:off x="2981325"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Geometry, joints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camera mapping</a:t>
            </a:r>
          </a:p>
        </p:txBody>
      </p:sp>
      <p:sp>
        <p:nvSpPr>
          <p:cNvPr id="10" name="">
            <a:extLst xmlns:a="http://schemas.openxmlformats.org/drawingml/2006/main">
              <a:ext uri="{FF2B5EF4-FFF2-40B4-BE49-F238E27FC236}">
                <a16:creationId xmlns:a16="http://schemas.microsoft.com/office/drawing/2014/main" id="{8BE82872-E300-457D-8034-D221CC9F1550}"/>
              </a:ext>
            </a:extLst>
          </p:cNvPr>
          <p:cNvSpPr>
            <a:spLocks xmlns:a="http://schemas.openxmlformats.org/drawingml/2006/main" noGrp="1"/>
          </p:cNvSpPr>
          <p:nvPr/>
        </p:nvSpPr>
        <p:spPr>
          <a:xfrm xmlns:a="http://schemas.openxmlformats.org/drawingml/2006/main">
            <a:off x="4914900" y="3105150"/>
            <a:ext cx="123825"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AE9B96F-75B6-4FD7-9682-C8D7A28B85FE}"/>
              </a:ext>
            </a:extLst>
          </p:cNvPr>
          <p:cNvSpPr>
            <a:spLocks xmlns:a="http://schemas.openxmlformats.org/drawingml/2006/main" noGrp="1"/>
          </p:cNvSpPr>
          <p:nvPr/>
        </p:nvSpPr>
        <p:spPr>
          <a:xfrm xmlns:a="http://schemas.openxmlformats.org/drawingml/2006/main">
            <a:off x="5048250"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2" name="Simulation">
            <a:extLst xmlns:a="http://schemas.openxmlformats.org/drawingml/2006/main">
              <a:ext uri="{FF2B5EF4-FFF2-40B4-BE49-F238E27FC236}">
                <a16:creationId xmlns:a16="http://schemas.microsoft.com/office/drawing/2014/main" id="{A511FBF4-4D1C-42AE-B2F6-A86591E3E70D}"/>
              </a:ext>
            </a:extLst>
          </p:cNvPr>
          <p:cNvSpPr>
            <a:spLocks xmlns:a="http://schemas.openxmlformats.org/drawingml/2006/main" noGrp="1"/>
          </p:cNvSpPr>
          <p:nvPr/>
        </p:nvSpPr>
        <p:spPr>
          <a:xfrm xmlns:a="http://schemas.openxmlformats.org/drawingml/2006/main">
            <a:off x="5238750"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Simulation</a:t>
            </a:r>
          </a:p>
        </p:txBody>
      </p:sp>
      <p:sp>
        <p:nvSpPr>
          <p:cNvPr id="13" name="32 rooms collect&#10;physical trajectories">
            <a:extLst xmlns:a="http://schemas.openxmlformats.org/drawingml/2006/main">
              <a:ext uri="{FF2B5EF4-FFF2-40B4-BE49-F238E27FC236}">
                <a16:creationId xmlns:a16="http://schemas.microsoft.com/office/drawing/2014/main" id="{F406C5C7-1DDA-487C-9476-56EC2253CE3E}"/>
              </a:ext>
            </a:extLst>
          </p:cNvPr>
          <p:cNvSpPr>
            <a:spLocks xmlns:a="http://schemas.openxmlformats.org/drawingml/2006/main" noGrp="1"/>
          </p:cNvSpPr>
          <p:nvPr/>
        </p:nvSpPr>
        <p:spPr>
          <a:xfrm xmlns:a="http://schemas.openxmlformats.org/drawingml/2006/main">
            <a:off x="5238750"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32 rooms collect</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physical trajectories</a:t>
            </a:r>
          </a:p>
        </p:txBody>
      </p:sp>
      <p:sp>
        <p:nvSpPr>
          <p:cNvPr id="14" name="">
            <a:extLst xmlns:a="http://schemas.openxmlformats.org/drawingml/2006/main">
              <a:ext uri="{FF2B5EF4-FFF2-40B4-BE49-F238E27FC236}">
                <a16:creationId xmlns:a16="http://schemas.microsoft.com/office/drawing/2014/main" id="{AB905543-85DF-41B7-9A4C-867F1AB94644}"/>
              </a:ext>
            </a:extLst>
          </p:cNvPr>
          <p:cNvSpPr>
            <a:spLocks xmlns:a="http://schemas.openxmlformats.org/drawingml/2006/main" noGrp="1"/>
          </p:cNvSpPr>
          <p:nvPr/>
        </p:nvSpPr>
        <p:spPr>
          <a:xfrm xmlns:a="http://schemas.openxmlformats.org/drawingml/2006/main">
            <a:off x="7172325" y="3105150"/>
            <a:ext cx="123825"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A3DFF52-9135-49B9-BFC0-581A97A30EA4}"/>
              </a:ext>
            </a:extLst>
          </p:cNvPr>
          <p:cNvSpPr>
            <a:spLocks xmlns:a="http://schemas.openxmlformats.org/drawingml/2006/main" noGrp="1"/>
          </p:cNvSpPr>
          <p:nvPr/>
        </p:nvSpPr>
        <p:spPr>
          <a:xfrm xmlns:a="http://schemas.openxmlformats.org/drawingml/2006/main">
            <a:off x="7305675"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6" name="Training">
            <a:extLst xmlns:a="http://schemas.openxmlformats.org/drawingml/2006/main">
              <a:ext uri="{FF2B5EF4-FFF2-40B4-BE49-F238E27FC236}">
                <a16:creationId xmlns:a16="http://schemas.microsoft.com/office/drawing/2014/main" id="{4ED48600-EA71-43D2-8520-B6E1408D3371}"/>
              </a:ext>
            </a:extLst>
          </p:cNvPr>
          <p:cNvSpPr>
            <a:spLocks xmlns:a="http://schemas.openxmlformats.org/drawingml/2006/main" noGrp="1"/>
          </p:cNvSpPr>
          <p:nvPr/>
        </p:nvSpPr>
        <p:spPr>
          <a:xfrm xmlns:a="http://schemas.openxmlformats.org/drawingml/2006/main">
            <a:off x="7496175"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Training</a:t>
            </a:r>
          </a:p>
        </p:txBody>
      </p:sp>
      <p:sp>
        <p:nvSpPr>
          <p:cNvPr id="17" name="Frozen sources&#10;and mixed sampling">
            <a:extLst xmlns:a="http://schemas.openxmlformats.org/drawingml/2006/main">
              <a:ext uri="{FF2B5EF4-FFF2-40B4-BE49-F238E27FC236}">
                <a16:creationId xmlns:a16="http://schemas.microsoft.com/office/drawing/2014/main" id="{5A851807-09D3-4C35-A1C3-887F13771ACC}"/>
              </a:ext>
            </a:extLst>
          </p:cNvPr>
          <p:cNvSpPr>
            <a:spLocks xmlns:a="http://schemas.openxmlformats.org/drawingml/2006/main" noGrp="1"/>
          </p:cNvSpPr>
          <p:nvPr/>
        </p:nvSpPr>
        <p:spPr>
          <a:xfrm xmlns:a="http://schemas.openxmlformats.org/drawingml/2006/main">
            <a:off x="7496175"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Frozen sources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mixed sampling</a:t>
            </a:r>
          </a:p>
        </p:txBody>
      </p:sp>
      <p:sp>
        <p:nvSpPr>
          <p:cNvPr id="18" name="">
            <a:extLst xmlns:a="http://schemas.openxmlformats.org/drawingml/2006/main">
              <a:ext uri="{FF2B5EF4-FFF2-40B4-BE49-F238E27FC236}">
                <a16:creationId xmlns:a16="http://schemas.microsoft.com/office/drawing/2014/main" id="{FF830EB1-4333-47BD-A375-C0DD34DB90F6}"/>
              </a:ext>
            </a:extLst>
          </p:cNvPr>
          <p:cNvSpPr>
            <a:spLocks xmlns:a="http://schemas.openxmlformats.org/drawingml/2006/main" noGrp="1"/>
          </p:cNvSpPr>
          <p:nvPr/>
        </p:nvSpPr>
        <p:spPr>
          <a:xfrm xmlns:a="http://schemas.openxmlformats.org/drawingml/2006/main">
            <a:off x="9429750" y="3105150"/>
            <a:ext cx="123825"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283AFE0-428D-4778-AFA5-8D002C42A5E8}"/>
              </a:ext>
            </a:extLst>
          </p:cNvPr>
          <p:cNvSpPr>
            <a:spLocks xmlns:a="http://schemas.openxmlformats.org/drawingml/2006/main" noGrp="1"/>
          </p:cNvSpPr>
          <p:nvPr/>
        </p:nvSpPr>
        <p:spPr>
          <a:xfrm xmlns:a="http://schemas.openxmlformats.org/drawingml/2006/main">
            <a:off x="9563100"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20" name="Evaluation">
            <a:extLst xmlns:a="http://schemas.openxmlformats.org/drawingml/2006/main">
              <a:ext uri="{FF2B5EF4-FFF2-40B4-BE49-F238E27FC236}">
                <a16:creationId xmlns:a16="http://schemas.microsoft.com/office/drawing/2014/main" id="{81E896F6-E174-4521-9E57-28CB3958AF2E}"/>
              </a:ext>
            </a:extLst>
          </p:cNvPr>
          <p:cNvSpPr>
            <a:spLocks xmlns:a="http://schemas.openxmlformats.org/drawingml/2006/main" noGrp="1"/>
          </p:cNvSpPr>
          <p:nvPr/>
        </p:nvSpPr>
        <p:spPr>
          <a:xfrm xmlns:a="http://schemas.openxmlformats.org/drawingml/2006/main">
            <a:off x="9753600"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Evaluation</a:t>
            </a:r>
          </a:p>
        </p:txBody>
      </p:sp>
      <p:sp>
        <p:nvSpPr>
          <p:cNvPr id="21" name="Real-data MSE&#10;and policy rollouts">
            <a:extLst xmlns:a="http://schemas.openxmlformats.org/drawingml/2006/main">
              <a:ext uri="{FF2B5EF4-FFF2-40B4-BE49-F238E27FC236}">
                <a16:creationId xmlns:a16="http://schemas.microsoft.com/office/drawing/2014/main" id="{73D750BB-325A-429A-8DBA-5EA36E5AFBC7}"/>
              </a:ext>
            </a:extLst>
          </p:cNvPr>
          <p:cNvSpPr>
            <a:spLocks xmlns:a="http://schemas.openxmlformats.org/drawingml/2006/main" noGrp="1"/>
          </p:cNvSpPr>
          <p:nvPr/>
        </p:nvSpPr>
        <p:spPr>
          <a:xfrm xmlns:a="http://schemas.openxmlformats.org/drawingml/2006/main">
            <a:off x="9753600"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Real-data MSE</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policy rollouts</a:t>
            </a:r>
          </a:p>
        </p:txBody>
      </p:sp>
      <p:sp>
        <p:nvSpPr>
          <p:cNvPr id="22" name="The website configures scenes and tracks G">
            <a:extLst xmlns:a="http://schemas.openxmlformats.org/drawingml/2006/main">
              <a:ext uri="{FF2B5EF4-FFF2-40B4-BE49-F238E27FC236}">
                <a16:creationId xmlns:a16="http://schemas.microsoft.com/office/drawing/2014/main" id="{797A2BE2-2039-4617-9D9A-40CBEF5B965E}"/>
              </a:ext>
            </a:extLst>
          </p:cNvPr>
          <p:cNvSpPr>
            <a:spLocks xmlns:a="http://schemas.openxmlformats.org/drawingml/2006/main" noGrp="1"/>
          </p:cNvSpPr>
          <p:nvPr/>
        </p:nvSpPr>
        <p:spPr>
          <a:xfrm xmlns:a="http://schemas.openxmlformats.org/drawingml/2006/main">
            <a:off x="533400" y="49530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667BA"/>
                </a:solidFill>
                <a:latin typeface="Arial"/>
                <a:ea typeface="Arial"/>
                <a:cs typeface="Arial"/>
              </a:defRPr>
            </a:defPPr>
          </a:lstStyle>
          <a:p xmlns:a="http://schemas.openxmlformats.org/drawingml/2006/main">
            <a:pPr>
              <a:defRPr sz="2400" b="1">
                <a:solidFill>
                  <a:srgbClr val="2667BA"/>
                </a:solidFill>
                <a:latin typeface="Arial"/>
                <a:ea typeface="Arial"/>
                <a:cs typeface="Arial"/>
              </a:defRPr>
            </a:pPr>
            <a:r>
              <a:rPr sz="2400" b="1">
                <a:solidFill>
                  <a:srgbClr val="2667BA"/>
                </a:solidFill>
                <a:latin typeface="Arial"/>
                <a:ea typeface="Arial"/>
                <a:cs typeface="Arial"/>
              </a:rPr>
              <a:t>The website configures scenes and tracks GPU jobs and results.</a:t>
            </a:r>
          </a:p>
        </p:txBody>
      </p:sp>
      <p:sp>
        <p:nvSpPr>
          <p:cNvPr id="23" name="Data qualification, prediction error and t">
            <a:extLst xmlns:a="http://schemas.openxmlformats.org/drawingml/2006/main">
              <a:ext uri="{FF2B5EF4-FFF2-40B4-BE49-F238E27FC236}">
                <a16:creationId xmlns:a16="http://schemas.microsoft.com/office/drawing/2014/main" id="{BE20A4B5-1248-4593-B539-E283DC44428A}"/>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Data qualification, prediction error and task completion use separate acceptance evidence.</a:t>
            </a:r>
          </a:p>
        </p:txBody>
      </p:sp>
    </p:spTree>
    <p:extLst>
      <p:ext uri="{BB962C8B-B14F-4D97-AF65-F5344CB8AC3E}">
        <p14:creationId xmlns:p14="http://schemas.microsoft.com/office/powerpoint/2010/main" val="748151897"/>
      </p:ext>
    </p:extLst>
  </p:cSld>
</p:sld>
</file>

<file path=ppt/slides/slide6.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8" name="Real2Sim reconstructs the laboratory">
            <a:extLst xmlns:a="http://schemas.openxmlformats.org/drawingml/2006/main">
              <a:ext uri="{FF2B5EF4-FFF2-40B4-BE49-F238E27FC236}">
                <a16:creationId xmlns:a16="http://schemas.microsoft.com/office/drawing/2014/main" id="{B61DCA06-349E-4591-BD8F-BD8E4A125F2E}"/>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Real2Sim reconstructs the laboratory</a:t>
            </a:r>
          </a:p>
        </p:txBody>
      </p:sp>
      <p:sp>
        <p:nvSpPr>
          <p:cNvPr id="2" name="06">
            <a:extLst xmlns:a="http://schemas.openxmlformats.org/drawingml/2006/main">
              <a:ext uri="{FF2B5EF4-FFF2-40B4-BE49-F238E27FC236}">
                <a16:creationId xmlns:a16="http://schemas.microsoft.com/office/drawing/2014/main" id="{2F80D935-DC3C-4E82-A5F0-C13DECD5A59B}"/>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E2C771E8-F376-4748-8E23-FEA53D7BFDCA}"/>
              </a:ext>
            </a:extLst>
          </p:cNvPr>
          <p:cNvPicPr>
            <a:picLocks xmlns:a="http://schemas.openxmlformats.org/drawingml/2006/main" noChangeAspect="1"/>
          </p:cNvPicPr>
          <p:nvPr/>
        </p:nvPicPr>
        <p:blipFill>
          <a:blip xmlns:r="http://schemas.openxmlformats.org/officeDocument/2006/relationships" xmlns:a="http://schemas.openxmlformats.org/drawingml/2006/main" r:embed="R962bcb3e9c704d6c"/>
          <a:srcRect xmlns:a="http://schemas.openxmlformats.org/drawingml/2006/main" l="11538" t="0" r="11538" b="0"/>
          <a:stretch xmlns:a="http://schemas.openxmlformats.org/drawingml/2006/main">
            <a:fillRect l="0" t="0" r="0" b="0"/>
          </a:stretch>
        </p:blipFill>
        <p:spPr>
          <a:xfrm xmlns:a="http://schemas.openxmlformats.org/drawingml/2006/main">
            <a:off x="533400" y="1524000"/>
            <a:ext cx="3810000" cy="37147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441E9FBA-8FA8-4F71-BEDE-0D208A26815B}"/>
              </a:ext>
            </a:extLst>
          </p:cNvPr>
          <p:cNvPicPr>
            <a:picLocks xmlns:a="http://schemas.openxmlformats.org/drawingml/2006/main" noChangeAspect="1"/>
          </p:cNvPicPr>
          <p:nvPr/>
        </p:nvPicPr>
        <p:blipFill>
          <a:blip xmlns:r="http://schemas.openxmlformats.org/officeDocument/2006/relationships" xmlns:a="http://schemas.openxmlformats.org/drawingml/2006/main" r:embed="Rb98fe71c690e4d2a"/>
          <a:stretch xmlns:a="http://schemas.openxmlformats.org/drawingml/2006/main"/>
        </p:blipFill>
        <p:spPr>
          <a:xfrm xmlns:a="http://schemas.openxmlformats.org/drawingml/2006/main">
            <a:off x="4612217" y="1524000"/>
            <a:ext cx="7044267" cy="3962400"/>
          </a:xfrm>
          <a:prstGeom xmlns:a="http://schemas.openxmlformats.org/drawingml/2006/main" prst="rect">
            <a:avLst/>
          </a:prstGeom>
        </p:spPr>
      </p:pic>
      <p:sp>
        <p:nvSpPr>
          <p:cNvPr id="5" name="Real laboratory reference">
            <a:extLst xmlns:a="http://schemas.openxmlformats.org/drawingml/2006/main">
              <a:ext uri="{FF2B5EF4-FFF2-40B4-BE49-F238E27FC236}">
                <a16:creationId xmlns:a16="http://schemas.microsoft.com/office/drawing/2014/main" id="{BD91EBA1-2BA9-4CE1-A253-8BDEA055AE95}"/>
              </a:ext>
            </a:extLst>
          </p:cNvPr>
          <p:cNvSpPr>
            <a:spLocks xmlns:a="http://schemas.openxmlformats.org/drawingml/2006/main" noGrp="1"/>
          </p:cNvSpPr>
          <p:nvPr/>
        </p:nvSpPr>
        <p:spPr>
          <a:xfrm xmlns:a="http://schemas.openxmlformats.org/drawingml/2006/main">
            <a:off x="533400" y="545782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Real laboratory reference</a:t>
            </a:r>
          </a:p>
        </p:txBody>
      </p:sp>
      <p:sp>
        <p:nvSpPr>
          <p:cNvPr id="6" name="Native Isaac scene with R1 Pro">
            <a:extLst xmlns:a="http://schemas.openxmlformats.org/drawingml/2006/main">
              <a:ext uri="{FF2B5EF4-FFF2-40B4-BE49-F238E27FC236}">
                <a16:creationId xmlns:a16="http://schemas.microsoft.com/office/drawing/2014/main" id="{36972F45-676D-434E-85FD-A65FE956F9AF}"/>
              </a:ext>
            </a:extLst>
          </p:cNvPr>
          <p:cNvSpPr>
            <a:spLocks xmlns:a="http://schemas.openxmlformats.org/drawingml/2006/main" noGrp="1"/>
          </p:cNvSpPr>
          <p:nvPr/>
        </p:nvSpPr>
        <p:spPr>
          <a:xfrm xmlns:a="http://schemas.openxmlformats.org/drawingml/2006/main">
            <a:off x="4610100" y="5667375"/>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Native Isaac scene with R1 Pro</a:t>
            </a:r>
          </a:p>
        </p:txBody>
      </p:sp>
      <p:sp>
        <p:nvSpPr>
          <p:cNvPr id="7" name="Preserve the desk layout, robot appearance">
            <a:extLst xmlns:a="http://schemas.openxmlformats.org/drawingml/2006/main">
              <a:ext uri="{FF2B5EF4-FFF2-40B4-BE49-F238E27FC236}">
                <a16:creationId xmlns:a16="http://schemas.microsoft.com/office/drawing/2014/main" id="{8367C77A-43D7-4900-BF97-6E06D5A83D11}"/>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Preserve the desk layout, robot appearance and tray markings. Check physical alignment separately.</a:t>
            </a:r>
          </a:p>
        </p:txBody>
      </p:sp>
    </p:spTree>
    <p:extLst>
      <p:ext uri="{BB962C8B-B14F-4D97-AF65-F5344CB8AC3E}">
        <p14:creationId xmlns:p14="http://schemas.microsoft.com/office/powerpoint/2010/main" val="1661355567"/>
      </p:ext>
    </p:extLst>
  </p:cSld>
</p:sld>
</file>

<file path=ppt/slides/slide7.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9" name="Alignment makes simulation data usable">
            <a:extLst xmlns:a="http://schemas.openxmlformats.org/drawingml/2006/main">
              <a:ext uri="{FF2B5EF4-FFF2-40B4-BE49-F238E27FC236}">
                <a16:creationId xmlns:a16="http://schemas.microsoft.com/office/drawing/2014/main" id="{6377072B-0FD9-46AF-9AD6-B5BE3251F765}"/>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Alignment makes simulation data usable</a:t>
            </a:r>
          </a:p>
        </p:txBody>
      </p:sp>
      <p:sp>
        <p:nvSpPr>
          <p:cNvPr id="2" name="07">
            <a:extLst xmlns:a="http://schemas.openxmlformats.org/drawingml/2006/main">
              <a:ext uri="{FF2B5EF4-FFF2-40B4-BE49-F238E27FC236}">
                <a16:creationId xmlns:a16="http://schemas.microsoft.com/office/drawing/2014/main" id="{8DCC5765-750D-47DC-AB5C-B6B8287FB500}"/>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07</a:t>
            </a:r>
          </a:p>
        </p:txBody>
      </p:sp>
      <p:sp>
        <p:nvSpPr>
          <p:cNvPr id="3" name="Geometry and control">
            <a:extLst xmlns:a="http://schemas.openxmlformats.org/drawingml/2006/main">
              <a:ext uri="{FF2B5EF4-FFF2-40B4-BE49-F238E27FC236}">
                <a16:creationId xmlns:a16="http://schemas.microsoft.com/office/drawing/2014/main" id="{CE7B8E96-AC89-43D7-A4D8-2F609C19C54E}"/>
              </a:ext>
            </a:extLst>
          </p:cNvPr>
          <p:cNvSpPr>
            <a:spLocks xmlns:a="http://schemas.openxmlformats.org/drawingml/2006/main" noGrp="1"/>
          </p:cNvSpPr>
          <p:nvPr/>
        </p:nvSpPr>
        <p:spPr>
          <a:xfrm xmlns:a="http://schemas.openxmlformats.org/drawingml/2006/main">
            <a:off x="533400" y="1476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Geometry and control</a:t>
            </a:r>
          </a:p>
        </p:txBody>
      </p:sp>
      <p:sp>
        <p:nvSpPr>
          <p:cNvPr id="4" name="Use a common coordinate system, joint orde">
            <a:extLst xmlns:a="http://schemas.openxmlformats.org/drawingml/2006/main">
              <a:ext uri="{FF2B5EF4-FFF2-40B4-BE49-F238E27FC236}">
                <a16:creationId xmlns:a16="http://schemas.microsoft.com/office/drawing/2014/main" id="{7297B853-43A6-46A9-AC69-4334A77E58D1}"/>
              </a:ext>
            </a:extLst>
          </p:cNvPr>
          <p:cNvSpPr>
            <a:spLocks xmlns:a="http://schemas.openxmlformats.org/drawingml/2006/main" noGrp="1"/>
          </p:cNvSpPr>
          <p:nvPr/>
        </p:nvSpPr>
        <p:spPr>
          <a:xfrm xmlns:a="http://schemas.openxmlformats.org/drawingml/2006/main">
            <a:off x="533400" y="19335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Use a common coordinate system, joint order and units. Record the tray and base initial states for each source.</a:t>
            </a:r>
          </a:p>
        </p:txBody>
      </p:sp>
      <p:sp>
        <p:nvSpPr>
          <p:cNvPr id="5" name="Contact and support">
            <a:extLst xmlns:a="http://schemas.openxmlformats.org/drawingml/2006/main">
              <a:ext uri="{FF2B5EF4-FFF2-40B4-BE49-F238E27FC236}">
                <a16:creationId xmlns:a16="http://schemas.microsoft.com/office/drawing/2014/main" id="{B63A4A92-3DB6-4FFD-AAA2-196563BD3C86}"/>
              </a:ext>
            </a:extLst>
          </p:cNvPr>
          <p:cNvSpPr>
            <a:spLocks xmlns:a="http://schemas.openxmlformats.org/drawingml/2006/main" noGrp="1"/>
          </p:cNvSpPr>
          <p:nvPr/>
        </p:nvSpPr>
        <p:spPr>
          <a:xfrm xmlns:a="http://schemas.openxmlformats.org/drawingml/2006/main">
            <a:off x="533400" y="2952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Contact and support</a:t>
            </a:r>
          </a:p>
        </p:txBody>
      </p:sp>
      <p:sp>
        <p:nvSpPr>
          <p:cNvPr id="6" name="Keep physical collision and contact feedba">
            <a:extLst xmlns:a="http://schemas.openxmlformats.org/drawingml/2006/main">
              <a:ext uri="{FF2B5EF4-FFF2-40B4-BE49-F238E27FC236}">
                <a16:creationId xmlns:a16="http://schemas.microsoft.com/office/drawing/2014/main" id="{43E07C71-7DE2-4ECD-978D-00ED394E2BB2}"/>
              </a:ext>
            </a:extLst>
          </p:cNvPr>
          <p:cNvSpPr>
            <a:spLocks xmlns:a="http://schemas.openxmlformats.org/drawingml/2006/main" noGrp="1"/>
          </p:cNvSpPr>
          <p:nvPr/>
        </p:nvSpPr>
        <p:spPr>
          <a:xfrm xmlns:a="http://schemas.openxmlformats.org/drawingml/2006/main">
            <a:off x="533400" y="34099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Keep physical collision and contact feedback. Grasp opposite long edges and carry the actual Pick end state into Place.</a:t>
            </a:r>
          </a:p>
        </p:txBody>
      </p:sp>
      <p:sp>
        <p:nvSpPr>
          <p:cNvPr id="7" name="Vision and time">
            <a:extLst xmlns:a="http://schemas.openxmlformats.org/drawingml/2006/main">
              <a:ext uri="{FF2B5EF4-FFF2-40B4-BE49-F238E27FC236}">
                <a16:creationId xmlns:a16="http://schemas.microsoft.com/office/drawing/2014/main" id="{871B33AB-D703-4463-A8CA-B5BFF091604D}"/>
              </a:ext>
            </a:extLst>
          </p:cNvPr>
          <p:cNvSpPr>
            <a:spLocks xmlns:a="http://schemas.openxmlformats.org/drawingml/2006/main" noGrp="1"/>
          </p:cNvSpPr>
          <p:nvPr/>
        </p:nvSpPr>
        <p:spPr>
          <a:xfrm xmlns:a="http://schemas.openxmlformats.org/drawingml/2006/main">
            <a:off x="533400" y="442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Vision and time</a:t>
            </a:r>
          </a:p>
        </p:txBody>
      </p:sp>
      <p:sp>
        <p:nvSpPr>
          <p:cNvPr id="8" name="Keep native camera directions and original">
            <a:extLst xmlns:a="http://schemas.openxmlformats.org/drawingml/2006/main">
              <a:ext uri="{FF2B5EF4-FFF2-40B4-BE49-F238E27FC236}">
                <a16:creationId xmlns:a16="http://schemas.microsoft.com/office/drawing/2014/main" id="{F7653F15-9DAD-4D39-9077-A97CFA354E25}"/>
              </a:ext>
            </a:extLst>
          </p:cNvPr>
          <p:cNvSpPr>
            <a:spLocks xmlns:a="http://schemas.openxmlformats.org/drawingml/2006/main" noGrp="1"/>
          </p:cNvSpPr>
          <p:nvPr/>
        </p:nvSpPr>
        <p:spPr>
          <a:xfrm xmlns:a="http://schemas.openxmlformats.org/drawingml/2006/main">
            <a:off x="533400" y="4886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Keep native camera directions and original-speed recordings. Each 20 Hz frame advances 25 physics substeps of 2 ms.</a:t>
            </a:r>
          </a:p>
        </p:txBody>
      </p:sp>
    </p:spTree>
    <p:extLst>
      <p:ext uri="{BB962C8B-B14F-4D97-AF65-F5344CB8AC3E}">
        <p14:creationId xmlns:p14="http://schemas.microsoft.com/office/powerpoint/2010/main" val="1894636670"/>
      </p:ext>
    </p:extLst>
  </p:cSld>
</p:sld>
</file>

<file path=ppt/slides/slide8.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0" name="Website: select and edit a scene">
            <a:extLst xmlns:a="http://schemas.openxmlformats.org/drawingml/2006/main">
              <a:ext uri="{FF2B5EF4-FFF2-40B4-BE49-F238E27FC236}">
                <a16:creationId xmlns:a16="http://schemas.microsoft.com/office/drawing/2014/main" id="{DADC65B2-60DF-4D82-937E-D9B1A0FC8C27}"/>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Website: select and edit a scene</a:t>
            </a:r>
          </a:p>
        </p:txBody>
      </p:sp>
      <p:sp>
        <p:nvSpPr>
          <p:cNvPr id="2" name="08">
            <a:extLst xmlns:a="http://schemas.openxmlformats.org/drawingml/2006/main">
              <a:ext uri="{FF2B5EF4-FFF2-40B4-BE49-F238E27FC236}">
                <a16:creationId xmlns:a16="http://schemas.microsoft.com/office/drawing/2014/main" id="{49B50209-F766-4E7B-93DE-3B3BBB12D5D5}"/>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7D3DE171-8B63-4919-86F1-84293A61464B}"/>
              </a:ext>
            </a:extLst>
          </p:cNvPr>
          <p:cNvPicPr>
            <a:picLocks xmlns:a="http://schemas.openxmlformats.org/drawingml/2006/main" noChangeAspect="1"/>
          </p:cNvPicPr>
          <p:nvPr/>
        </p:nvPicPr>
        <p:blipFill>
          <a:blip xmlns:r="http://schemas.openxmlformats.org/officeDocument/2006/relationships" xmlns:a="http://schemas.openxmlformats.org/drawingml/2006/main" r:embed="R5db673a4084c4973"/>
          <a:stretch xmlns:a="http://schemas.openxmlformats.org/drawingml/2006/main"/>
        </p:blipFill>
        <p:spPr>
          <a:xfrm xmlns:a="http://schemas.openxmlformats.org/drawingml/2006/main">
            <a:off x="734253" y="1333500"/>
            <a:ext cx="3074918" cy="4714875"/>
          </a:xfrm>
          <a:prstGeom xmlns:a="http://schemas.openxmlformats.org/drawingml/2006/main" prst="rect">
            <a:avLst/>
          </a:prstGeom>
        </p:spPr>
      </p:pic>
      <p:sp>
        <p:nvSpPr>
          <p:cNvPr id="4" name="1. Select a room and object">
            <a:extLst xmlns:a="http://schemas.openxmlformats.org/drawingml/2006/main">
              <a:ext uri="{FF2B5EF4-FFF2-40B4-BE49-F238E27FC236}">
                <a16:creationId xmlns:a16="http://schemas.microsoft.com/office/drawing/2014/main" id="{2C95BA38-61B7-41BA-904E-55D80CD49BBA}"/>
              </a:ext>
            </a:extLst>
          </p:cNvPr>
          <p:cNvSpPr>
            <a:spLocks xmlns:a="http://schemas.openxmlformats.org/drawingml/2006/main" noGrp="1"/>
          </p:cNvSpPr>
          <p:nvPr/>
        </p:nvSpPr>
        <p:spPr>
          <a:xfrm xmlns:a="http://schemas.openxmlformats.org/drawingml/2006/main">
            <a:off x="4429125" y="1428750"/>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1. Select a room and object</a:t>
            </a:r>
          </a:p>
        </p:txBody>
      </p:sp>
      <p:sp>
        <p:nvSpPr>
          <p:cNvPr id="5" name="Choose room_000–031, then select the robot">
            <a:extLst xmlns:a="http://schemas.openxmlformats.org/drawingml/2006/main">
              <a:ext uri="{FF2B5EF4-FFF2-40B4-BE49-F238E27FC236}">
                <a16:creationId xmlns:a16="http://schemas.microsoft.com/office/drawing/2014/main" id="{C5A099BB-D7D0-4761-B100-D44B513E4D28}"/>
              </a:ext>
            </a:extLst>
          </p:cNvPr>
          <p:cNvSpPr>
            <a:spLocks xmlns:a="http://schemas.openxmlformats.org/drawingml/2006/main" noGrp="1"/>
          </p:cNvSpPr>
          <p:nvPr/>
        </p:nvSpPr>
        <p:spPr>
          <a:xfrm xmlns:a="http://schemas.openxmlformats.org/drawingml/2006/main">
            <a:off x="4429125" y="1885950"/>
            <a:ext cx="700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Choose room_000–031, then select the robot or tray.</a:t>
            </a:r>
          </a:p>
        </p:txBody>
      </p:sp>
      <p:sp>
        <p:nvSpPr>
          <p:cNvPr id="6" name="2. Edit through dialogue or controls">
            <a:extLst xmlns:a="http://schemas.openxmlformats.org/drawingml/2006/main">
              <a:ext uri="{FF2B5EF4-FFF2-40B4-BE49-F238E27FC236}">
                <a16:creationId xmlns:a16="http://schemas.microsoft.com/office/drawing/2014/main" id="{879E9278-8C42-41B0-A3AB-AA0A48B3C23A}"/>
              </a:ext>
            </a:extLst>
          </p:cNvPr>
          <p:cNvSpPr>
            <a:spLocks xmlns:a="http://schemas.openxmlformats.org/drawingml/2006/main" noGrp="1"/>
          </p:cNvSpPr>
          <p:nvPr/>
        </p:nvSpPr>
        <p:spPr>
          <a:xfrm xmlns:a="http://schemas.openxmlformats.org/drawingml/2006/main">
            <a:off x="4429125" y="2857500"/>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2. Edit through dialogue or controls</a:t>
            </a:r>
          </a:p>
        </p:txBody>
      </p:sp>
      <p:sp>
        <p:nvSpPr>
          <p:cNvPr id="7" name="For example: “Make the tray blue.” Check t">
            <a:extLst xmlns:a="http://schemas.openxmlformats.org/drawingml/2006/main">
              <a:ext uri="{FF2B5EF4-FFF2-40B4-BE49-F238E27FC236}">
                <a16:creationId xmlns:a16="http://schemas.microsoft.com/office/drawing/2014/main" id="{181202E2-5408-459B-AD67-F46E5B881696}"/>
              </a:ext>
            </a:extLst>
          </p:cNvPr>
          <p:cNvSpPr>
            <a:spLocks xmlns:a="http://schemas.openxmlformats.org/drawingml/2006/main" noGrp="1"/>
          </p:cNvSpPr>
          <p:nvPr/>
        </p:nvSpPr>
        <p:spPr>
          <a:xfrm xmlns:a="http://schemas.openxmlformats.org/drawingml/2006/main">
            <a:off x="4429125" y="3314700"/>
            <a:ext cx="700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For example: “Make the tray blue.” Check the pose, color and edit scope in the preview.</a:t>
            </a:r>
          </a:p>
        </p:txBody>
      </p:sp>
      <p:sp>
        <p:nvSpPr>
          <p:cNvPr id="8" name="3. Save a version and submit">
            <a:extLst xmlns:a="http://schemas.openxmlformats.org/drawingml/2006/main">
              <a:ext uri="{FF2B5EF4-FFF2-40B4-BE49-F238E27FC236}">
                <a16:creationId xmlns:a16="http://schemas.microsoft.com/office/drawing/2014/main" id="{67B5BCA3-F654-423B-8B76-053B626CBAEE}"/>
              </a:ext>
            </a:extLst>
          </p:cNvPr>
          <p:cNvSpPr>
            <a:spLocks xmlns:a="http://schemas.openxmlformats.org/drawingml/2006/main" noGrp="1"/>
          </p:cNvSpPr>
          <p:nvPr/>
        </p:nvSpPr>
        <p:spPr>
          <a:xfrm xmlns:a="http://schemas.openxmlformats.org/drawingml/2006/main">
            <a:off x="4429125" y="4286250"/>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3. Save a version and submit</a:t>
            </a:r>
          </a:p>
        </p:txBody>
      </p:sp>
      <p:sp>
        <p:nvSpPr>
          <p:cNvPr id="9" name="Synchronize the saved draft to the GPU. Na">
            <a:extLst xmlns:a="http://schemas.openxmlformats.org/drawingml/2006/main">
              <a:ext uri="{FF2B5EF4-FFF2-40B4-BE49-F238E27FC236}">
                <a16:creationId xmlns:a16="http://schemas.microsoft.com/office/drawing/2014/main" id="{C7E5AFBD-90C3-4845-B4E6-26CAE8006F46}"/>
              </a:ext>
            </a:extLst>
          </p:cNvPr>
          <p:cNvSpPr>
            <a:spLocks xmlns:a="http://schemas.openxmlformats.org/drawingml/2006/main" noGrp="1"/>
          </p:cNvSpPr>
          <p:nvPr/>
        </p:nvSpPr>
        <p:spPr>
          <a:xfrm xmlns:a="http://schemas.openxmlformats.org/drawingml/2006/main">
            <a:off x="4429125" y="4743450"/>
            <a:ext cx="700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Synchronize the saved draft to the GPU. Native adaptation and physical qualification precede data collection.</a:t>
            </a:r>
          </a:p>
        </p:txBody>
      </p:sp>
    </p:spTree>
    <p:extLst>
      <p:ext uri="{BB962C8B-B14F-4D97-AF65-F5344CB8AC3E}">
        <p14:creationId xmlns:p14="http://schemas.microsoft.com/office/powerpoint/2010/main" val="622991213"/>
      </p:ext>
    </p:extLst>
  </p:cSld>
</p:sld>
</file>

<file path=ppt/slides/slide9.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3" name="Website: configure runs and inspect result">
            <a:extLst xmlns:a="http://schemas.openxmlformats.org/drawingml/2006/main">
              <a:ext uri="{FF2B5EF4-FFF2-40B4-BE49-F238E27FC236}">
                <a16:creationId xmlns:a16="http://schemas.microsoft.com/office/drawing/2014/main" id="{13D26F96-961C-45DA-8524-0E568A420074}"/>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Website: configure runs and inspect results</a:t>
            </a:r>
          </a:p>
        </p:txBody>
      </p:sp>
      <p:sp>
        <p:nvSpPr>
          <p:cNvPr id="2" name="09">
            <a:extLst xmlns:a="http://schemas.openxmlformats.org/drawingml/2006/main">
              <a:ext uri="{FF2B5EF4-FFF2-40B4-BE49-F238E27FC236}">
                <a16:creationId xmlns:a16="http://schemas.microsoft.com/office/drawing/2014/main" id="{DDC8B736-16AE-4EE3-A057-E57AA9EF9C12}"/>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95B48432-F25B-4890-BBE0-A6F88437771C}"/>
              </a:ext>
            </a:extLst>
          </p:cNvPr>
          <p:cNvPicPr>
            <a:picLocks xmlns:a="http://schemas.openxmlformats.org/drawingml/2006/main" noChangeAspect="1"/>
          </p:cNvPicPr>
          <p:nvPr/>
        </p:nvPicPr>
        <p:blipFill>
          <a:blip xmlns:r="http://schemas.openxmlformats.org/officeDocument/2006/relationships" xmlns:a="http://schemas.openxmlformats.org/drawingml/2006/main" r:embed="R811bc696eaf94051"/>
          <a:stretch xmlns:a="http://schemas.openxmlformats.org/drawingml/2006/main"/>
        </p:blipFill>
        <p:spPr>
          <a:xfrm xmlns:a="http://schemas.openxmlformats.org/drawingml/2006/main">
            <a:off x="678346" y="1333500"/>
            <a:ext cx="3043859" cy="4667250"/>
          </a:xfrm>
          <a:prstGeom xmlns:a="http://schemas.openxmlformats.org/drawingml/2006/main" prst="rect">
            <a:avLst/>
          </a:prstGeom>
        </p:spPr>
      </p:pic>
      <p:sp>
        <p:nvSpPr>
          <p:cNvPr id="4" name="1. Configure a training run">
            <a:extLst xmlns:a="http://schemas.openxmlformats.org/drawingml/2006/main">
              <a:ext uri="{FF2B5EF4-FFF2-40B4-BE49-F238E27FC236}">
                <a16:creationId xmlns:a16="http://schemas.microsoft.com/office/drawing/2014/main" id="{CFF67605-D962-4A6F-9F53-0B2F7FE87F98}"/>
              </a:ext>
            </a:extLst>
          </p:cNvPr>
          <p:cNvSpPr>
            <a:spLocks xmlns:a="http://schemas.openxmlformats.org/drawingml/2006/main" noGrp="1"/>
          </p:cNvSpPr>
          <p:nvPr/>
        </p:nvSpPr>
        <p:spPr>
          <a:xfrm xmlns:a="http://schemas.openxmlformats.org/drawingml/2006/main">
            <a:off x="4286250" y="1352550"/>
            <a:ext cx="719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1. Configure a training run</a:t>
            </a:r>
          </a:p>
        </p:txBody>
      </p:sp>
      <p:sp>
        <p:nvSpPr>
          <p:cNvPr id="5" name="Choose registered datasets, a 0-100% real/">
            <a:extLst xmlns:a="http://schemas.openxmlformats.org/drawingml/2006/main">
              <a:ext uri="{FF2B5EF4-FFF2-40B4-BE49-F238E27FC236}">
                <a16:creationId xmlns:a16="http://schemas.microsoft.com/office/drawing/2014/main" id="{8A56021D-6B5B-4196-8E64-9B5CF4BBF23C}"/>
              </a:ext>
            </a:extLst>
          </p:cNvPr>
          <p:cNvSpPr>
            <a:spLocks xmlns:a="http://schemas.openxmlformats.org/drawingml/2006/main" noGrp="1"/>
          </p:cNvSpPr>
          <p:nvPr/>
        </p:nvSpPr>
        <p:spPr>
          <a:xfrm xmlns:a="http://schemas.openxmlformats.org/drawingml/2006/main">
            <a:off x="4286250" y="1752600"/>
            <a:ext cx="719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579"/>
                </a:solidFill>
                <a:latin typeface="Arial"/>
                <a:ea typeface="Arial"/>
                <a:cs typeface="Arial"/>
              </a:defRPr>
            </a:defPPr>
          </a:lstStyle>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Choose registered datasets, a 0-100% real/sim ratio, update budget and automatic evaluation.</a:t>
            </a:r>
          </a:p>
        </p:txBody>
      </p:sp>
      <p:sp>
        <p:nvSpPr>
          <p:cNvPr id="6" name="2. Track progress and ETA">
            <a:extLst xmlns:a="http://schemas.openxmlformats.org/drawingml/2006/main">
              <a:ext uri="{FF2B5EF4-FFF2-40B4-BE49-F238E27FC236}">
                <a16:creationId xmlns:a16="http://schemas.microsoft.com/office/drawing/2014/main" id="{10657040-557B-4CE1-8E25-5484F6F29932}"/>
              </a:ext>
            </a:extLst>
          </p:cNvPr>
          <p:cNvSpPr>
            <a:spLocks xmlns:a="http://schemas.openxmlformats.org/drawingml/2006/main" noGrp="1"/>
          </p:cNvSpPr>
          <p:nvPr/>
        </p:nvSpPr>
        <p:spPr>
          <a:xfrm xmlns:a="http://schemas.openxmlformats.org/drawingml/2006/main">
            <a:off x="4286250" y="2524125"/>
            <a:ext cx="719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2. Track progress and ETA</a:t>
            </a:r>
          </a:p>
        </p:txBody>
      </p:sp>
      <p:sp>
        <p:nvSpPr>
          <p:cNvPr id="7" name="Data &amp; training shows updates, loss, saved">
            <a:extLst xmlns:a="http://schemas.openxmlformats.org/drawingml/2006/main">
              <a:ext uri="{FF2B5EF4-FFF2-40B4-BE49-F238E27FC236}">
                <a16:creationId xmlns:a16="http://schemas.microsoft.com/office/drawing/2014/main" id="{EC3071F3-C1F6-46A0-92E7-0C0F0F5CF793}"/>
              </a:ext>
            </a:extLst>
          </p:cNvPr>
          <p:cNvSpPr>
            <a:spLocks xmlns:a="http://schemas.openxmlformats.org/drawingml/2006/main" noGrp="1"/>
          </p:cNvSpPr>
          <p:nvPr/>
        </p:nvSpPr>
        <p:spPr>
          <a:xfrm xmlns:a="http://schemas.openxmlformats.org/drawingml/2006/main">
            <a:off x="4286250" y="2924175"/>
            <a:ext cx="719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579"/>
                </a:solidFill>
                <a:latin typeface="Arial"/>
                <a:ea typeface="Arial"/>
                <a:cs typeface="Arial"/>
              </a:defRPr>
            </a:defPPr>
          </a:lstStyle>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Data &amp; training shows updates, loss, saved checkpoints and the current-stage estimate.</a:t>
            </a:r>
          </a:p>
        </p:txBody>
      </p:sp>
      <p:sp>
        <p:nvSpPr>
          <p:cNvPr id="8" name="3. Open the MSE results">
            <a:extLst xmlns:a="http://schemas.openxmlformats.org/drawingml/2006/main">
              <a:ext uri="{FF2B5EF4-FFF2-40B4-BE49-F238E27FC236}">
                <a16:creationId xmlns:a16="http://schemas.microsoft.com/office/drawing/2014/main" id="{D54DB921-0269-449E-B20A-EFBF3AA1F8A2}"/>
              </a:ext>
            </a:extLst>
          </p:cNvPr>
          <p:cNvSpPr>
            <a:spLocks xmlns:a="http://schemas.openxmlformats.org/drawingml/2006/main" noGrp="1"/>
          </p:cNvSpPr>
          <p:nvPr/>
        </p:nvSpPr>
        <p:spPr>
          <a:xfrm xmlns:a="http://schemas.openxmlformats.org/drawingml/2006/main">
            <a:off x="4286250" y="3695700"/>
            <a:ext cx="719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3. Open the MSE results</a:t>
            </a:r>
          </a:p>
        </p:txBody>
      </p:sp>
      <p:sp>
        <p:nvSpPr>
          <p:cNvPr id="9" name="Data &amp; training &gt; Evaluation &amp; MSE &gt; Real ">
            <a:extLst xmlns:a="http://schemas.openxmlformats.org/drawingml/2006/main">
              <a:ext uri="{FF2B5EF4-FFF2-40B4-BE49-F238E27FC236}">
                <a16:creationId xmlns:a16="http://schemas.microsoft.com/office/drawing/2014/main" id="{6F704C61-E534-4FEB-905B-2F213A1E1BE6}"/>
              </a:ext>
            </a:extLst>
          </p:cNvPr>
          <p:cNvSpPr>
            <a:spLocks xmlns:a="http://schemas.openxmlformats.org/drawingml/2006/main" noGrp="1"/>
          </p:cNvSpPr>
          <p:nvPr/>
        </p:nvSpPr>
        <p:spPr>
          <a:xfrm xmlns:a="http://schemas.openxmlformats.org/drawingml/2006/main">
            <a:off x="4286250" y="4095750"/>
            <a:ext cx="719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579"/>
                </a:solidFill>
                <a:latin typeface="Arial"/>
                <a:ea typeface="Arial"/>
                <a:cs typeface="Arial"/>
              </a:defRPr>
            </a:defPPr>
          </a:lstStyle>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Data &amp; training &gt; Evaluation &amp; MSE &gt; Real TEST MSE. Run history shows job status.</a:t>
            </a:r>
          </a:p>
        </p:txBody>
      </p:sp>
      <p:sp>
        <p:nvSpPr>
          <p:cNvPr id="10" name="4. Inspect and download figures">
            <a:extLst xmlns:a="http://schemas.openxmlformats.org/drawingml/2006/main">
              <a:ext uri="{FF2B5EF4-FFF2-40B4-BE49-F238E27FC236}">
                <a16:creationId xmlns:a16="http://schemas.microsoft.com/office/drawing/2014/main" id="{362BC205-25E0-441B-B6F7-978362BAD689}"/>
              </a:ext>
            </a:extLst>
          </p:cNvPr>
          <p:cNvSpPr>
            <a:spLocks xmlns:a="http://schemas.openxmlformats.org/drawingml/2006/main" noGrp="1"/>
          </p:cNvSpPr>
          <p:nvPr/>
        </p:nvSpPr>
        <p:spPr>
          <a:xfrm xmlns:a="http://schemas.openxmlformats.org/drawingml/2006/main">
            <a:off x="4286250" y="4867275"/>
            <a:ext cx="719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4. Inspect and download figures</a:t>
            </a:r>
          </a:p>
        </p:txBody>
      </p:sp>
      <p:sp>
        <p:nvSpPr>
          <p:cNvPr id="11" name="Choose MSE/RMSE bars or episode 4x4 traces">
            <a:extLst xmlns:a="http://schemas.openxmlformats.org/drawingml/2006/main">
              <a:ext uri="{FF2B5EF4-FFF2-40B4-BE49-F238E27FC236}">
                <a16:creationId xmlns:a16="http://schemas.microsoft.com/office/drawing/2014/main" id="{8D2D07C9-311D-487B-89F1-D75C63349F91}"/>
              </a:ext>
            </a:extLst>
          </p:cNvPr>
          <p:cNvSpPr>
            <a:spLocks xmlns:a="http://schemas.openxmlformats.org/drawingml/2006/main" noGrp="1"/>
          </p:cNvSpPr>
          <p:nvPr/>
        </p:nvSpPr>
        <p:spPr>
          <a:xfrm xmlns:a="http://schemas.openxmlformats.org/drawingml/2006/main">
            <a:off x="4286250" y="5267325"/>
            <a:ext cx="719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579"/>
                </a:solidFill>
                <a:latin typeface="Arial"/>
                <a:ea typeface="Arial"/>
                <a:cs typeface="Arial"/>
              </a:defRPr>
            </a:defPPr>
          </a:lstStyle>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Choose MSE/RMSE bars or episode 4x4 traces. Download PNG, per-joint CSV or the full ZIP.</a:t>
            </a:r>
          </a:p>
        </p:txBody>
      </p:sp>
      <p:sp>
        <p:nvSpPr>
          <p:cNvPr id="12" name="Screenshot: historical evaluation UI. Its ">
            <a:extLst xmlns:a="http://schemas.openxmlformats.org/drawingml/2006/main">
              <a:ext uri="{FF2B5EF4-FFF2-40B4-BE49-F238E27FC236}">
                <a16:creationId xmlns:a16="http://schemas.microsoft.com/office/drawing/2014/main" id="{6540A96D-4A81-4725-9249-37C8B8B44C60}"/>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Screenshot: historical evaluation UI. Its training budgets differ; the comparison later uses 10,000 updates.</a:t>
            </a:r>
          </a:p>
        </p:txBody>
      </p:sp>
    </p:spTree>
    <p:extLst>
      <p:ext uri="{BB962C8B-B14F-4D97-AF65-F5344CB8AC3E}">
        <p14:creationId xmlns:p14="http://schemas.microsoft.com/office/powerpoint/2010/main" val="1633861992"/>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5F6F3"/>
        </a:solidFill>
      </p:bgPr>
    </p:bg>
    <p:spTree>
      <p:nvGrpSpPr>
        <p:cNvPr id="1" name=""/>
        <p:cNvGrpSpPr/>
        <p:nvPr/>
      </p:nvGrpSpPr>
      <p:grpSpPr>
        <a:xfrm/>
      </p:grpSpPr>
      <p:sp>
        <p:nvSpPr>
          <p:cNvPr id="5" name="Demo: scene editing and physical Pick / Pl">
            <a:extLst>
              <a:ext uri="{FF2B5EF4-FFF2-40B4-BE49-F238E27FC236}">
                <ns2:creationId id="{0DF2631A-D3A4-4D33-BADF-198B32335664}"/>
              </a:ext>
            </a:extLst>
          </p:cNvPr>
          <p:cNvSpPr>
            <a:spLocks noGrp="1"/>
          </p:cNvSpPr>
          <p:nvPr/>
        </p:nvSpPr>
        <p:spPr>
          <a:xfrm>
            <a:off x="533400" y="381000"/>
            <a:ext cx="11049000" cy="647700"/>
          </a:xfrm>
          <a:prstGeom prst="rect">
            <a:avLst/>
          </a:prstGeom>
          <a:noFill/>
          <a:ln w="0">
            <a:noFill/>
          </a:ln>
        </p:spPr>
        <p:txBody>
          <a:bodyPr wrap="square" lIns="0" tIns="0" rIns="0" bIns="0" anchor="t">
            <a:noAutofit/>
          </a:bodyPr>
          <a:lstStyle>
            <a:defPPr>
              <a:defRPr sz="3225" b="1">
                <a:solidFill>
                  <a:srgbClr val="142334"/>
                </a:solidFill>
                <a:latin typeface="Arial"/>
                <a:ea typeface="Arial"/>
                <a:cs typeface="Arial"/>
              </a:defRPr>
            </a:defPPr>
          </a:lstStyle>
          <a:p>
            <a:pPr>
              <a:defRPr sz="3225" b="1">
                <a:solidFill>
                  <a:srgbClr val="142334"/>
                </a:solidFill>
                <a:latin typeface="Arial"/>
                <a:ea typeface="Arial"/>
                <a:cs typeface="Arial"/>
              </a:defRPr>
            </a:pPr>
            <a:r>
              <a:rPr sz="3225" b="1">
                <a:solidFill>
                  <a:srgbClr val="142334"/>
                </a:solidFill>
                <a:latin typeface="Arial"/>
                <a:ea typeface="Arial"/>
                <a:cs typeface="Arial"/>
              </a:rPr>
              <a:t>Demo: scene editing and physical Pick / Place</a:t>
            </a:r>
          </a:p>
        </p:txBody>
      </p:sp>
      <p:sp>
        <p:nvSpPr>
          <p:cNvPr id="2" name="10">
            <a:extLst>
              <a:ext uri="{FF2B5EF4-FFF2-40B4-BE49-F238E27FC236}">
                <ns2:creationId id="{DA706F73-D07A-4C4C-95B1-473CD8462B0A}"/>
              </a:ext>
            </a:extLst>
          </p:cNvPr>
          <p:cNvSpPr>
            <a:spLocks noGrp="1"/>
          </p:cNvSpPr>
          <p:nvPr/>
        </p:nvSpPr>
        <p:spPr>
          <a:xfrm>
            <a:off x="11334750" y="6429375"/>
            <a:ext cx="428625" cy="228600"/>
          </a:xfrm>
          <a:prstGeom prst="rect">
            <a:avLst/>
          </a:prstGeom>
          <a:noFill/>
          <a:ln w="0">
            <a:noFill/>
          </a:ln>
        </p:spPr>
        <p:txBody>
          <a:bodyPr wrap="square" lIns="0" tIns="0" rIns="0" bIns="0" anchor="t">
            <a:noAutofit/>
          </a:bodyPr>
          <a:lstStyle>
            <a:defPPr>
              <a:defRPr sz="1200" b="0">
                <a:solidFill>
                  <a:srgbClr val="526579"/>
                </a:solidFill>
                <a:latin typeface="Arial"/>
                <a:ea typeface="Arial"/>
                <a:cs typeface="Arial"/>
              </a:defRPr>
            </a:defPPr>
          </a:lstStyle>
          <a:p>
            <a:pPr>
              <a:defRPr sz="1200" b="0">
                <a:solidFill>
                  <a:srgbClr val="526579"/>
                </a:solidFill>
                <a:latin typeface="Arial"/>
                <a:ea typeface="Arial"/>
                <a:cs typeface="Arial"/>
              </a:defRPr>
            </a:pPr>
            <a:r>
              <a:rPr sz="1200" b="0">
                <a:solidFill>
                  <a:srgbClr val="526579"/>
                </a:solidFill>
                <a:latin typeface="Arial"/>
                <a:ea typeface="Arial"/>
                <a:cs typeface="Arial"/>
              </a:rPr>
              <a:t>10</a:t>
            </a:r>
          </a:p>
        </p:txBody>
      </p:sp>
      <p:pic>
        <p:nvPicPr>
          <p:cNvPr id="3" name="demo_english.mp4" descr="VIDEO_POSTER_DEMO">
            <a:extLst>
              <a:ext uri="{FF2B5EF4-FFF2-40B4-BE49-F238E27FC236}">
                <ns2:creationId id="{548B55FD-BD8E-45B5-A831-C7B713798BA5}"/>
              </a:ext>
            </a:extLst>
            <a:hlinkClick action="ppaction://media"/>
          </p:cNvPr>
          <p:cNvPicPr>
            <a:picLocks noChangeAspect="1"/>
          </p:cNvPicPr>
          <p:nvPr>
            <a:videoFile r:link="rIdPresentationVideo"/>
            <p:extLst>
              <p:ext uri="{DAA4B4D4-6D71-4841-9C94-3DE7FCFB9230}">
                <p14:media r:embed="rIdPresentationMedia"/>
              </p:ext>
            </p:extLst>
          </p:nvPr>
        </p:nvPicPr>
        <p:blipFill>
          <a:blip r:embed="R9153b81342c04a00"/>
          <a:stretch/>
        </p:blipFill>
        <p:spPr>
          <a:xfrm>
            <a:off x="1735667" y="1190625"/>
            <a:ext cx="8720667" cy="4905375"/>
          </a:xfrm>
          <a:prstGeom prst="rect">
            <a:avLst/>
          </a:prstGeom>
        </p:spPr>
      </p:pic>
      <p:sp>
        <p:nvSpPr>
          <p:cNvPr id="4" name="Click the video in Slide Show. English cap">
            <a:extLst>
              <a:ext uri="{FF2B5EF4-FFF2-40B4-BE49-F238E27FC236}">
                <ns2:creationId id="{7F6FEE3B-F624-4A19-AFA3-33E003B1FA7D}"/>
              </a:ext>
            </a:extLst>
          </p:cNvPr>
          <p:cNvSpPr>
            <a:spLocks noGrp="1"/>
          </p:cNvSpPr>
          <p:nvPr/>
        </p:nvSpPr>
        <p:spPr>
          <a:xfrm>
            <a:off x="533400" y="6219825"/>
            <a:ext cx="10620375" cy="381000"/>
          </a:xfrm>
          <a:prstGeom prst="rect">
            <a:avLst/>
          </a:prstGeom>
          <a:noFill/>
          <a:ln w="0">
            <a:noFill/>
          </a:ln>
        </p:spPr>
        <p:txBody>
          <a:bodyPr wrap="square" lIns="0" tIns="0" rIns="0" bIns="0" anchor="t">
            <a:noAutofit/>
          </a:bodyPr>
          <a:lstStyle>
            <a:defPPr>
              <a:defRPr sz="1275" b="0">
                <a:solidFill>
                  <a:srgbClr val="526579"/>
                </a:solidFill>
                <a:latin typeface="Arial"/>
                <a:ea typeface="Arial"/>
                <a:cs typeface="Arial"/>
              </a:defRPr>
            </a:defPPr>
          </a:lstStyle>
          <a:p>
            <a:pPr>
              <a:defRPr sz="1275" b="0">
                <a:solidFill>
                  <a:srgbClr val="526579"/>
                </a:solidFill>
                <a:latin typeface="Arial"/>
                <a:ea typeface="Arial"/>
                <a:cs typeface="Arial"/>
              </a:defRPr>
            </a:pPr>
            <a:r>
              <a:rPr sz="1275" b="0">
                <a:solidFill>
                  <a:srgbClr val="526579"/>
                </a:solidFill>
                <a:latin typeface="Arial"/>
                <a:ea typeface="Arial"/>
                <a:cs typeface="Arial"/>
              </a:rPr>
              <a:t>Click the video in Slide Show. English captions identify scene previews and expert-controlled physics.</a:t>
            </a:r>
          </a:p>
        </p:txBody>
      </p:sp>
    </p:spTree>
    <p:extLst>
      <p:ext uri="{BB962C8B-B14F-4D97-AF65-F5344CB8AC3E}">
        <p14:creationId val="2128316276"/>
      </p:ext>
    </p:extLst>
  </p:cSld>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11.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21" name="32 rooms share one physics clock">
            <a:extLst xmlns:a="http://schemas.openxmlformats.org/drawingml/2006/main">
              <a:ext uri="{FF2B5EF4-FFF2-40B4-BE49-F238E27FC236}">
                <a16:creationId xmlns:a16="http://schemas.microsoft.com/office/drawing/2014/main" id="{3BA2BDF9-37EC-4A4F-BD2F-3CA1F3F46850}"/>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32 rooms share one physics clock</a:t>
            </a:r>
          </a:p>
        </p:txBody>
      </p:sp>
      <p:sp>
        <p:nvSpPr>
          <p:cNvPr id="2" name="11">
            <a:extLst xmlns:a="http://schemas.openxmlformats.org/drawingml/2006/main">
              <a:ext uri="{FF2B5EF4-FFF2-40B4-BE49-F238E27FC236}">
                <a16:creationId xmlns:a16="http://schemas.microsoft.com/office/drawing/2014/main" id="{58E3510C-7167-4AAA-B16A-94BD35E5BC52}"/>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9EC2677C-B1F0-4609-A9FA-0734E5C29A45}"/>
              </a:ext>
            </a:extLst>
          </p:cNvPr>
          <p:cNvSpPr>
            <a:spLocks xmlns:a="http://schemas.openxmlformats.org/drawingml/2006/main" noGrp="1"/>
          </p:cNvSpPr>
          <p:nvPr/>
        </p:nvSpPr>
        <p:spPr>
          <a:xfrm xmlns:a="http://schemas.openxmlformats.org/drawingml/2006/main">
            <a:off x="533400" y="1714500"/>
            <a:ext cx="2476500" cy="18097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4" name="Initialize">
            <a:extLst xmlns:a="http://schemas.openxmlformats.org/drawingml/2006/main">
              <a:ext uri="{FF2B5EF4-FFF2-40B4-BE49-F238E27FC236}">
                <a16:creationId xmlns:a16="http://schemas.microsoft.com/office/drawing/2014/main" id="{12667140-CAF8-41C9-93AC-58A7AA7BD2D1}"/>
              </a:ext>
            </a:extLst>
          </p:cNvPr>
          <p:cNvSpPr>
            <a:spLocks xmlns:a="http://schemas.openxmlformats.org/drawingml/2006/main" noGrp="1"/>
          </p:cNvSpPr>
          <p:nvPr/>
        </p:nvSpPr>
        <p:spPr>
          <a:xfrm xmlns:a="http://schemas.openxmlformats.org/drawingml/2006/main">
            <a:off x="723900" y="1885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Initialize</a:t>
            </a:r>
          </a:p>
        </p:txBody>
      </p:sp>
      <p:sp>
        <p:nvSpPr>
          <p:cNvPr id="5" name="Registered initial&#10;states and seeds">
            <a:extLst xmlns:a="http://schemas.openxmlformats.org/drawingml/2006/main">
              <a:ext uri="{FF2B5EF4-FFF2-40B4-BE49-F238E27FC236}">
                <a16:creationId xmlns:a16="http://schemas.microsoft.com/office/drawing/2014/main" id="{3B517937-F814-45AE-BDDD-6CA52FCE9543}"/>
              </a:ext>
            </a:extLst>
          </p:cNvPr>
          <p:cNvSpPr>
            <a:spLocks xmlns:a="http://schemas.openxmlformats.org/drawingml/2006/main" noGrp="1"/>
          </p:cNvSpPr>
          <p:nvPr/>
        </p:nvSpPr>
        <p:spPr>
          <a:xfrm xmlns:a="http://schemas.openxmlformats.org/drawingml/2006/main">
            <a:off x="723900" y="243840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Registered initial</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states and seeds</a:t>
            </a:r>
          </a:p>
        </p:txBody>
      </p:sp>
      <p:sp>
        <p:nvSpPr>
          <p:cNvPr id="6" name="">
            <a:extLst xmlns:a="http://schemas.openxmlformats.org/drawingml/2006/main">
              <a:ext uri="{FF2B5EF4-FFF2-40B4-BE49-F238E27FC236}">
                <a16:creationId xmlns:a16="http://schemas.microsoft.com/office/drawing/2014/main" id="{DAA3E7B1-4BD3-46C0-BE23-25095C20AA1F}"/>
              </a:ext>
            </a:extLst>
          </p:cNvPr>
          <p:cNvSpPr>
            <a:spLocks xmlns:a="http://schemas.openxmlformats.org/drawingml/2006/main" noGrp="1"/>
          </p:cNvSpPr>
          <p:nvPr/>
        </p:nvSpPr>
        <p:spPr>
          <a:xfrm xmlns:a="http://schemas.openxmlformats.org/drawingml/2006/main">
            <a:off x="3095625" y="2524125"/>
            <a:ext cx="22860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8661CF1-494F-4F2D-9749-8203A7A90DD7}"/>
              </a:ext>
            </a:extLst>
          </p:cNvPr>
          <p:cNvSpPr>
            <a:spLocks xmlns:a="http://schemas.openxmlformats.org/drawingml/2006/main" noGrp="1"/>
          </p:cNvSpPr>
          <p:nvPr/>
        </p:nvSpPr>
        <p:spPr>
          <a:xfrm xmlns:a="http://schemas.openxmlformats.org/drawingml/2006/main">
            <a:off x="3409950" y="1714500"/>
            <a:ext cx="2476500" cy="18097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8" name="Control">
            <a:extLst xmlns:a="http://schemas.openxmlformats.org/drawingml/2006/main">
              <a:ext uri="{FF2B5EF4-FFF2-40B4-BE49-F238E27FC236}">
                <a16:creationId xmlns:a16="http://schemas.microsoft.com/office/drawing/2014/main" id="{157C2E3D-C945-4DB8-9DC8-596C284DC44F}"/>
              </a:ext>
            </a:extLst>
          </p:cNvPr>
          <p:cNvSpPr>
            <a:spLocks xmlns:a="http://schemas.openxmlformats.org/drawingml/2006/main" noGrp="1"/>
          </p:cNvSpPr>
          <p:nvPr/>
        </p:nvSpPr>
        <p:spPr>
          <a:xfrm xmlns:a="http://schemas.openxmlformats.org/drawingml/2006/main">
            <a:off x="3600450" y="1885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Control</a:t>
            </a:r>
          </a:p>
        </p:txBody>
      </p:sp>
      <p:sp>
        <p:nvSpPr>
          <p:cNvPr id="9" name="Independent targets&#10;for each room">
            <a:extLst xmlns:a="http://schemas.openxmlformats.org/drawingml/2006/main">
              <a:ext uri="{FF2B5EF4-FFF2-40B4-BE49-F238E27FC236}">
                <a16:creationId xmlns:a16="http://schemas.microsoft.com/office/drawing/2014/main" id="{2488B14A-B113-44F5-B692-5285CF0ACC4E}"/>
              </a:ext>
            </a:extLst>
          </p:cNvPr>
          <p:cNvSpPr>
            <a:spLocks xmlns:a="http://schemas.openxmlformats.org/drawingml/2006/main" noGrp="1"/>
          </p:cNvSpPr>
          <p:nvPr/>
        </p:nvSpPr>
        <p:spPr>
          <a:xfrm xmlns:a="http://schemas.openxmlformats.org/drawingml/2006/main">
            <a:off x="3600450" y="243840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Independent targets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for each room</a:t>
            </a:r>
          </a:p>
        </p:txBody>
      </p:sp>
      <p:sp>
        <p:nvSpPr>
          <p:cNvPr id="10" name="">
            <a:extLst xmlns:a="http://schemas.openxmlformats.org/drawingml/2006/main">
              <a:ext uri="{FF2B5EF4-FFF2-40B4-BE49-F238E27FC236}">
                <a16:creationId xmlns:a16="http://schemas.microsoft.com/office/drawing/2014/main" id="{5B63FE0C-A946-4752-8AF6-105FB7285246}"/>
              </a:ext>
            </a:extLst>
          </p:cNvPr>
          <p:cNvSpPr>
            <a:spLocks xmlns:a="http://schemas.openxmlformats.org/drawingml/2006/main" noGrp="1"/>
          </p:cNvSpPr>
          <p:nvPr/>
        </p:nvSpPr>
        <p:spPr>
          <a:xfrm xmlns:a="http://schemas.openxmlformats.org/drawingml/2006/main">
            <a:off x="5972175" y="2524125"/>
            <a:ext cx="22860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A8A794-5A91-4A36-9F04-7DD01DBFC895}"/>
              </a:ext>
            </a:extLst>
          </p:cNvPr>
          <p:cNvSpPr>
            <a:spLocks xmlns:a="http://schemas.openxmlformats.org/drawingml/2006/main" noGrp="1"/>
          </p:cNvSpPr>
          <p:nvPr/>
        </p:nvSpPr>
        <p:spPr>
          <a:xfrm xmlns:a="http://schemas.openxmlformats.org/drawingml/2006/main">
            <a:off x="6286500" y="1714500"/>
            <a:ext cx="2476500" cy="18097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2" name="Advance">
            <a:extLst xmlns:a="http://schemas.openxmlformats.org/drawingml/2006/main">
              <a:ext uri="{FF2B5EF4-FFF2-40B4-BE49-F238E27FC236}">
                <a16:creationId xmlns:a16="http://schemas.microsoft.com/office/drawing/2014/main" id="{DFFE8EDC-44DD-466E-871F-5D1C124CC89C}"/>
              </a:ext>
            </a:extLst>
          </p:cNvPr>
          <p:cNvSpPr>
            <a:spLocks xmlns:a="http://schemas.openxmlformats.org/drawingml/2006/main" noGrp="1"/>
          </p:cNvSpPr>
          <p:nvPr/>
        </p:nvSpPr>
        <p:spPr>
          <a:xfrm xmlns:a="http://schemas.openxmlformats.org/drawingml/2006/main">
            <a:off x="6477000" y="1885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Advance</a:t>
            </a:r>
          </a:p>
        </p:txBody>
      </p:sp>
      <p:sp>
        <p:nvSpPr>
          <p:cNvPr id="13" name="One engine runs&#10;25 shared substeps">
            <a:extLst xmlns:a="http://schemas.openxmlformats.org/drawingml/2006/main">
              <a:ext uri="{FF2B5EF4-FFF2-40B4-BE49-F238E27FC236}">
                <a16:creationId xmlns:a16="http://schemas.microsoft.com/office/drawing/2014/main" id="{D93976B4-E61A-4281-8C96-189FBE2EE12D}"/>
              </a:ext>
            </a:extLst>
          </p:cNvPr>
          <p:cNvSpPr>
            <a:spLocks xmlns:a="http://schemas.openxmlformats.org/drawingml/2006/main" noGrp="1"/>
          </p:cNvSpPr>
          <p:nvPr/>
        </p:nvSpPr>
        <p:spPr>
          <a:xfrm xmlns:a="http://schemas.openxmlformats.org/drawingml/2006/main">
            <a:off x="6477000" y="243840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One engine runs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25 shared substeps</a:t>
            </a:r>
          </a:p>
        </p:txBody>
      </p:sp>
      <p:sp>
        <p:nvSpPr>
          <p:cNvPr id="14" name="">
            <a:extLst xmlns:a="http://schemas.openxmlformats.org/drawingml/2006/main">
              <a:ext uri="{FF2B5EF4-FFF2-40B4-BE49-F238E27FC236}">
                <a16:creationId xmlns:a16="http://schemas.microsoft.com/office/drawing/2014/main" id="{6AA6442D-AB67-4792-A03A-A691799E8799}"/>
              </a:ext>
            </a:extLst>
          </p:cNvPr>
          <p:cNvSpPr>
            <a:spLocks xmlns:a="http://schemas.openxmlformats.org/drawingml/2006/main" noGrp="1"/>
          </p:cNvSpPr>
          <p:nvPr/>
        </p:nvSpPr>
        <p:spPr>
          <a:xfrm xmlns:a="http://schemas.openxmlformats.org/drawingml/2006/main">
            <a:off x="8848725" y="2524125"/>
            <a:ext cx="22860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B19E04C-6CEC-4B4A-9FFC-A13B99AB9373}"/>
              </a:ext>
            </a:extLst>
          </p:cNvPr>
          <p:cNvSpPr>
            <a:spLocks xmlns:a="http://schemas.openxmlformats.org/drawingml/2006/main" noGrp="1"/>
          </p:cNvSpPr>
          <p:nvPr/>
        </p:nvSpPr>
        <p:spPr>
          <a:xfrm xmlns:a="http://schemas.openxmlformats.org/drawingml/2006/main">
            <a:off x="9163050" y="1714500"/>
            <a:ext cx="2476500" cy="18097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6" name="Qualify">
            <a:extLst xmlns:a="http://schemas.openxmlformats.org/drawingml/2006/main">
              <a:ext uri="{FF2B5EF4-FFF2-40B4-BE49-F238E27FC236}">
                <a16:creationId xmlns:a16="http://schemas.microsoft.com/office/drawing/2014/main" id="{73F855CA-EA8D-47DE-8466-E613B324ECB1}"/>
              </a:ext>
            </a:extLst>
          </p:cNvPr>
          <p:cNvSpPr>
            <a:spLocks xmlns:a="http://schemas.openxmlformats.org/drawingml/2006/main" noGrp="1"/>
          </p:cNvSpPr>
          <p:nvPr/>
        </p:nvSpPr>
        <p:spPr>
          <a:xfrm xmlns:a="http://schemas.openxmlformats.org/drawingml/2006/main">
            <a:off x="9353550" y="1885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Qualify</a:t>
            </a:r>
          </a:p>
        </p:txBody>
      </p:sp>
      <p:sp>
        <p:nvSpPr>
          <p:cNvPr id="17" name="Close trajectories&#10;and media per room">
            <a:extLst xmlns:a="http://schemas.openxmlformats.org/drawingml/2006/main">
              <a:ext uri="{FF2B5EF4-FFF2-40B4-BE49-F238E27FC236}">
                <a16:creationId xmlns:a16="http://schemas.microsoft.com/office/drawing/2014/main" id="{BE52A4A2-1169-4422-AB3E-AC1310899151}"/>
              </a:ext>
            </a:extLst>
          </p:cNvPr>
          <p:cNvSpPr>
            <a:spLocks xmlns:a="http://schemas.openxmlformats.org/drawingml/2006/main" noGrp="1"/>
          </p:cNvSpPr>
          <p:nvPr/>
        </p:nvSpPr>
        <p:spPr>
          <a:xfrm xmlns:a="http://schemas.openxmlformats.org/drawingml/2006/main">
            <a:off x="9353550" y="243840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Close trajectories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media per room</a:t>
            </a:r>
          </a:p>
        </p:txBody>
      </p:sp>
      <p:pic>
        <p:nvPicPr>
          <p:cNvPr id="18" name="">
            <a:extLst xmlns:a="http://schemas.openxmlformats.org/drawingml/2006/main">
              <a:ext uri="{FF2B5EF4-FFF2-40B4-BE49-F238E27FC236}">
                <a16:creationId xmlns:a16="http://schemas.microsoft.com/office/drawing/2014/main" id="{BFE68D3F-528E-43FF-8F8A-42332E2E154C}"/>
              </a:ext>
            </a:extLst>
          </p:cNvPr>
          <p:cNvPicPr>
            <a:picLocks xmlns:a="http://schemas.openxmlformats.org/drawingml/2006/main" noChangeAspect="1"/>
          </p:cNvPicPr>
          <p:nvPr/>
        </p:nvPicPr>
        <p:blipFill>
          <a:blip xmlns:r="http://schemas.openxmlformats.org/officeDocument/2006/relationships" xmlns:a="http://schemas.openxmlformats.org/drawingml/2006/main" r:embed="Ree63e8b0737c40f4"/>
          <a:stretch xmlns:a="http://schemas.openxmlformats.org/drawingml/2006/main"/>
        </p:blipFill>
        <p:spPr>
          <a:xfrm xmlns:a="http://schemas.openxmlformats.org/drawingml/2006/main">
            <a:off x="1470025" y="3905250"/>
            <a:ext cx="3556000" cy="2000250"/>
          </a:xfrm>
          <a:prstGeom xmlns:a="http://schemas.openxmlformats.org/drawingml/2006/main" prst="rect">
            <a:avLst/>
          </a:prstGeom>
        </p:spPr>
      </p:pic>
      <p:sp>
        <p:nvSpPr>
          <p:cNvPr id="19" name="Preserve completion and failure evidence.&#10;">
            <a:extLst xmlns:a="http://schemas.openxmlformats.org/drawingml/2006/main">
              <a:ext uri="{FF2B5EF4-FFF2-40B4-BE49-F238E27FC236}">
                <a16:creationId xmlns:a16="http://schemas.microsoft.com/office/drawing/2014/main" id="{A872100A-FB0A-49C6-A201-53E4BDE5C16B}"/>
              </a:ext>
            </a:extLst>
          </p:cNvPr>
          <p:cNvSpPr>
            <a:spLocks xmlns:a="http://schemas.openxmlformats.org/drawingml/2006/main" noGrp="1"/>
          </p:cNvSpPr>
          <p:nvPr/>
        </p:nvSpPr>
        <p:spPr>
          <a:xfrm xmlns:a="http://schemas.openxmlformats.org/drawingml/2006/main">
            <a:off x="6477000" y="4267200"/>
            <a:ext cx="5095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34"/>
                </a:solidFill>
                <a:latin typeface="Arial"/>
                <a:ea typeface="Arial"/>
                <a:cs typeface="Arial"/>
              </a:defRPr>
            </a:defPPr>
          </a:lstStyle>
          <a:p xmlns:a="http://schemas.openxmlformats.org/drawingml/2006/main">
            <a:pPr>
              <a:defRPr sz="2250" b="0">
                <a:solidFill>
                  <a:srgbClr val="142334"/>
                </a:solidFill>
                <a:latin typeface="Arial"/>
                <a:ea typeface="Arial"/>
                <a:cs typeface="Arial"/>
              </a:defRPr>
            </a:pPr>
            <a:r>
              <a:rPr sz="2250" b="0">
                <a:solidFill>
                  <a:srgbClr val="142334"/>
                </a:solidFill>
                <a:latin typeface="Arial"/>
                <a:ea typeface="Arial"/>
                <a:cs typeface="Arial"/>
              </a:rPr>
              <a:t>Preserve completion and failure evidence.</a:t>
            </a:r>
          </a:p>
          <a:p xmlns:a="http://schemas.openxmlformats.org/drawingml/2006/main">
            <a:pPr>
              <a:defRPr sz="2250" b="0">
                <a:solidFill>
                  <a:srgbClr val="142334"/>
                </a:solidFill>
                <a:latin typeface="Arial"/>
                <a:ea typeface="Arial"/>
                <a:cs typeface="Arial"/>
              </a:defRPr>
            </a:pPr>
            <a:r>
              <a:rPr sz="2250" b="0">
                <a:solidFill>
                  <a:srgbClr val="142334"/>
                </a:solidFill>
                <a:latin typeface="Arial"/>
                <a:ea typeface="Arial"/>
                <a:cs typeface="Arial"/>
              </a:rPr>
              <a:t>Freeze only qualified complete sources.</a:t>
            </a:r>
          </a:p>
        </p:txBody>
      </p:sp>
      <p:sp>
        <p:nvSpPr>
          <p:cNvPr id="20" name="32 room instances do not equal 32 independ">
            <a:extLst xmlns:a="http://schemas.openxmlformats.org/drawingml/2006/main">
              <a:ext uri="{FF2B5EF4-FFF2-40B4-BE49-F238E27FC236}">
                <a16:creationId xmlns:a16="http://schemas.microsoft.com/office/drawing/2014/main" id="{7D12D4E2-A4C5-40BC-89EB-55BB63F961CC}"/>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32 room instances do not equal 32 independent training/test scenes.</a:t>
            </a:r>
          </a:p>
        </p:txBody>
      </p:sp>
    </p:spTree>
    <p:extLst>
      <p:ext uri="{BB962C8B-B14F-4D97-AF65-F5344CB8AC3E}">
        <p14:creationId xmlns:p14="http://schemas.microsoft.com/office/powerpoint/2010/main" val="103423283"/>
      </p:ext>
    </p:extLst>
  </p:cSld>
</p:sld>
</file>

<file path=ppt/slides/slide12.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Qualification preserves the physical evide">
            <a:extLst xmlns:a="http://schemas.openxmlformats.org/drawingml/2006/main">
              <a:ext uri="{FF2B5EF4-FFF2-40B4-BE49-F238E27FC236}">
                <a16:creationId xmlns:a16="http://schemas.microsoft.com/office/drawing/2014/main" id="{D5560790-AC4C-46A4-8DED-C8972BA4EBEC}"/>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Qualification preserves the physical evidence</a:t>
            </a:r>
          </a:p>
        </p:txBody>
      </p:sp>
      <p:sp>
        <p:nvSpPr>
          <p:cNvPr id="2" name="12">
            <a:extLst xmlns:a="http://schemas.openxmlformats.org/drawingml/2006/main">
              <a:ext uri="{FF2B5EF4-FFF2-40B4-BE49-F238E27FC236}">
                <a16:creationId xmlns:a16="http://schemas.microsoft.com/office/drawing/2014/main" id="{119A2C72-4CE8-45A4-9E83-BE3050F60231}"/>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27C3166B-576F-44E1-869B-CDB3B24F70DD}"/>
              </a:ext>
            </a:extLst>
          </p:cNvPr>
          <p:cNvGraphicFramePr/>
          <p:nvPr/>
        </p:nvGraphicFramePr>
        <p:xfrm>
          <a:off xmlns:a="http://schemas.openxmlformats.org/drawingml/2006/main" x="533400" y="1476375"/>
          <a:ext xmlns:a="http://schemas.openxmlformats.org/drawingml/2006/main" cx="11125200" cy="4095750"/>
        </p:xfrm>
        <a:graphic xmlns:a="http://schemas.openxmlformats.org/drawingml/2006/main">
          <a:graphicData uri="http://schemas.openxmlformats.org/drawingml/2006/table">
            <a:tbl>
              <a:tblPr/>
              <a:tblGrid>
                <a:gridCol w="2381250"/>
                <a:gridCol w="8743950"/>
              </a:tblGrid>
              <a:tr h="682625">
                <a:tc>
                  <a:txBody>
                    <a:bodyPr lIns="114300" tIns="114300" rIns="114300" bIns="114300"/>
                    <a:lstStyle/>
                    <a:p>
                      <a:r>
                        <a:rPr sz="1725" b="1">
                          <a:solidFill>
                            <a:srgbClr val="142334"/>
                          </a:solidFill>
                          <a:latin typeface="Arial"/>
                          <a:ea typeface="Arial"/>
                          <a:cs typeface="Arial"/>
                        </a:rPr>
                        <a:t>Stage</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725" b="1">
                          <a:solidFill>
                            <a:srgbClr val="142334"/>
                          </a:solidFill>
                          <a:latin typeface="Arial"/>
                          <a:ea typeface="Arial"/>
                          <a:cs typeface="Arial"/>
                        </a:rPr>
                        <a:t>Evidence retained</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82625">
                <a:tc>
                  <a:txBody>
                    <a:bodyPr lIns="114300" tIns="114300" rIns="114300" bIns="114300"/>
                    <a:lstStyle/>
                    <a:p>
                      <a:r>
                        <a:rPr sz="1725" b="0">
                          <a:solidFill>
                            <a:srgbClr val="142334"/>
                          </a:solidFill>
                          <a:latin typeface="Arial"/>
                          <a:ea typeface="Arial"/>
                          <a:cs typeface="Arial"/>
                        </a:rPr>
                        <a:t>Pick</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Opposite-edge bilateral contact, lift and table clearance</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82625">
                <a:tc>
                  <a:txBody>
                    <a:bodyPr lIns="114300" tIns="114300" rIns="114300" bIns="114300"/>
                    <a:lstStyle/>
                    <a:p>
                      <a:r>
                        <a:rPr sz="1725" b="0">
                          <a:solidFill>
                            <a:srgbClr val="142334"/>
                          </a:solidFill>
                          <a:latin typeface="Arial"/>
                          <a:ea typeface="Arial"/>
                          <a:cs typeface="Arial"/>
                        </a:rPr>
                        <a:t>Place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Continuous end state, low release and stable support</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82625">
                <a:tc>
                  <a:txBody>
                    <a:bodyPr lIns="114300" tIns="114300" rIns="114300" bIns="114300"/>
                    <a:lstStyle/>
                    <a:p>
                      <a:r>
                        <a:rPr sz="1725" b="0">
                          <a:solidFill>
                            <a:srgbClr val="142334"/>
                          </a:solidFill>
                          <a:latin typeface="Arial"/>
                          <a:ea typeface="Arial"/>
                          <a:cs typeface="Arial"/>
                        </a:rPr>
                        <a:t>Timing and media</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N actions, N+1 states, native video and actual exit status</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82625">
                <a:tc>
                  <a:txBody>
                    <a:bodyPr lIns="114300" tIns="114300" rIns="114300" bIns="114300"/>
                    <a:lstStyle/>
                    <a:p>
                      <a:r>
                        <a:rPr sz="1725" b="0">
                          <a:solidFill>
                            <a:srgbClr val="142334"/>
                          </a:solidFill>
                          <a:latin typeface="Arial"/>
                          <a:ea typeface="Arial"/>
                          <a:cs typeface="Arial"/>
                        </a:rPr>
                        <a:t>Provenance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Parent-scene split, camera identity and frozen manifest</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82625">
                <a:tc>
                  <a:txBody>
                    <a:bodyPr lIns="114300" tIns="114300" rIns="114300" bIns="114300"/>
                    <a:lstStyle/>
                    <a:p>
                      <a:r>
                        <a:rPr sz="1725" b="0">
                          <a:solidFill>
                            <a:srgbClr val="142334"/>
                          </a:solidFill>
                          <a:latin typeface="Arial"/>
                          <a:ea typeface="Arial"/>
                          <a:cs typeface="Arial"/>
                        </a:rPr>
                        <a:t>Failed attempts</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Original logs and media remain outside training</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bl>
          </a:graphicData>
        </a:graphic>
      </p:graphicFrame>
      <p:sp>
        <p:nvSpPr>
          <p:cNvPr id="4" name="One complete Pick/Place source yields two ">
            <a:extLst xmlns:a="http://schemas.openxmlformats.org/drawingml/2006/main">
              <a:ext uri="{FF2B5EF4-FFF2-40B4-BE49-F238E27FC236}">
                <a16:creationId xmlns:a16="http://schemas.microsoft.com/office/drawing/2014/main" id="{1D0DD331-72E6-490C-9D6C-B2B7A5AE7DBE}"/>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One complete Pick/Place source yields two action segments. Camera files are not additional sources.</a:t>
            </a:r>
          </a:p>
        </p:txBody>
      </p:sp>
    </p:spTree>
    <p:extLst>
      <p:ext uri="{BB962C8B-B14F-4D97-AF65-F5344CB8AC3E}">
        <p14:creationId xmlns:p14="http://schemas.microsoft.com/office/powerpoint/2010/main" val="262098414"/>
      </p:ext>
    </p:extLst>
  </p:cSld>
</p:sld>
</file>

<file path=ppt/slides/slide13.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Data inventory and split isolation">
            <a:extLst xmlns:a="http://schemas.openxmlformats.org/drawingml/2006/main">
              <a:ext uri="{FF2B5EF4-FFF2-40B4-BE49-F238E27FC236}">
                <a16:creationId xmlns:a16="http://schemas.microsoft.com/office/drawing/2014/main" id="{8D537875-818E-4FAC-86B9-B2C125624A46}"/>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Data inventory and split isolation</a:t>
            </a:r>
          </a:p>
        </p:txBody>
      </p:sp>
      <p:sp>
        <p:nvSpPr>
          <p:cNvPr id="2" name="13">
            <a:extLst xmlns:a="http://schemas.openxmlformats.org/drawingml/2006/main">
              <a:ext uri="{FF2B5EF4-FFF2-40B4-BE49-F238E27FC236}">
                <a16:creationId xmlns:a16="http://schemas.microsoft.com/office/drawing/2014/main" id="{BDF6F21F-09AD-4647-88FD-B950339186DA}"/>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20033470-866F-49B3-B070-44155BB328B6}"/>
              </a:ext>
            </a:extLst>
          </p:cNvPr>
          <p:cNvGraphicFramePr/>
          <p:nvPr/>
        </p:nvGraphicFramePr>
        <p:xfrm>
          <a:off xmlns:a="http://schemas.openxmlformats.org/drawingml/2006/main" x="533400" y="1619250"/>
          <a:ext xmlns:a="http://schemas.openxmlformats.org/drawingml/2006/main" cx="11125200" cy="3286125"/>
        </p:xfrm>
        <a:graphic xmlns:a="http://schemas.openxmlformats.org/drawingml/2006/main">
          <a:graphicData uri="http://schemas.openxmlformats.org/drawingml/2006/table">
            <a:tbl>
              <a:tblPr/>
              <a:tblGrid>
                <a:gridCol w="2619375"/>
                <a:gridCol w="2095500"/>
                <a:gridCol w="1762125"/>
                <a:gridCol w="1762125"/>
                <a:gridCol w="2886075"/>
              </a:tblGrid>
              <a:tr h="657225">
                <a:tc>
                  <a:txBody>
                    <a:bodyPr lIns="114300" tIns="114300" rIns="114300" bIns="114300"/>
                    <a:lstStyle/>
                    <a:p>
                      <a:r>
                        <a:rPr sz="1650" b="1">
                          <a:solidFill>
                            <a:srgbClr val="142334"/>
                          </a:solidFill>
                          <a:latin typeface="Arial"/>
                          <a:ea typeface="Arial"/>
                          <a:cs typeface="Arial"/>
                        </a:rPr>
                        <a:t>Data domain</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650" b="1">
                          <a:solidFill>
                            <a:srgbClr val="142334"/>
                          </a:solidFill>
                          <a:latin typeface="Arial"/>
                          <a:ea typeface="Arial"/>
                          <a:cs typeface="Arial"/>
                        </a:rPr>
                        <a:t>Train</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650" b="1">
                          <a:solidFill>
                            <a:srgbClr val="142334"/>
                          </a:solidFill>
                          <a:latin typeface="Arial"/>
                          <a:ea typeface="Arial"/>
                          <a:cs typeface="Arial"/>
                        </a:rPr>
                        <a:t>Val</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650" b="1">
                          <a:solidFill>
                            <a:srgbClr val="142334"/>
                          </a:solidFill>
                          <a:latin typeface="Arial"/>
                          <a:ea typeface="Arial"/>
                          <a:cs typeface="Arial"/>
                        </a:rPr>
                        <a:t>Test</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650" b="1">
                          <a:solidFill>
                            <a:srgbClr val="142334"/>
                          </a:solidFill>
                          <a:latin typeface="Arial"/>
                          <a:ea typeface="Arial"/>
                          <a:cs typeface="Arial"/>
                        </a:rPr>
                        <a:t>Role</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57225">
                <a:tc>
                  <a:txBody>
                    <a:bodyPr lIns="114300" tIns="114300" rIns="114300" bIns="114300"/>
                    <a:lstStyle/>
                    <a:p>
                      <a:r>
                        <a:rPr sz="1650" b="0">
                          <a:solidFill>
                            <a:srgbClr val="142334"/>
                          </a:solidFill>
                          <a:latin typeface="Arial"/>
                          <a:ea typeface="Arial"/>
                          <a:cs typeface="Arial"/>
                        </a:rPr>
                        <a:t>Real demonstrations</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102 episodes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13 episodes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19 episodes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Train + fixed evaluation</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57225">
                <a:tc>
                  <a:txBody>
                    <a:bodyPr lIns="114300" tIns="114300" rIns="114300" bIns="114300"/>
                    <a:lstStyle/>
                    <a:p>
                      <a:r>
                        <a:rPr sz="1650" b="0">
                          <a:solidFill>
                            <a:srgbClr val="142334"/>
                          </a:solidFill>
                          <a:latin typeface="Arial"/>
                          <a:ea typeface="Arial"/>
                          <a:cs typeface="Arial"/>
                        </a:rPr>
                        <a:t>New Isaac data</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300 full pairs</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0</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0</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600 action segments</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57225">
                <a:tc>
                  <a:txBody>
                    <a:bodyPr lIns="114300" tIns="114300" rIns="114300" bIns="114300"/>
                    <a:lstStyle/>
                    <a:p>
                      <a:r>
                        <a:rPr sz="1650" b="0">
                          <a:solidFill>
                            <a:srgbClr val="142334"/>
                          </a:solidFill>
                          <a:latin typeface="Arial"/>
                          <a:ea typeface="Arial"/>
                          <a:cs typeface="Arial"/>
                        </a:rPr>
                        <a:t>Earlier narrow / wide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30 + 29 pairs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0</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0</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Separate selectable version</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57225">
                <a:tc>
                  <a:txBody>
                    <a:bodyPr lIns="114300" tIns="114300" rIns="114300" bIns="114300"/>
                    <a:lstStyle/>
                    <a:p>
                      <a:r>
                        <a:rPr sz="1650" b="0">
                          <a:solidFill>
                            <a:srgbClr val="142334"/>
                          </a:solidFill>
                          <a:latin typeface="Arial"/>
                          <a:ea typeface="Arial"/>
                          <a:cs typeface="Arial"/>
                        </a:rPr>
                        <a:t>Additional production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13 full pairs</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Outside the frozen 300</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bl>
          </a:graphicData>
        </a:graphic>
      </p:graphicFrame>
      <p:sp>
        <p:nvSpPr>
          <p:cNvPr id="4" name="Fit normalization and sampling weights usi">
            <a:extLst xmlns:a="http://schemas.openxmlformats.org/drawingml/2006/main">
              <a:ext uri="{FF2B5EF4-FFF2-40B4-BE49-F238E27FC236}">
                <a16:creationId xmlns:a16="http://schemas.microsoft.com/office/drawing/2014/main" id="{93BDD440-F499-4837-AC7B-22429E41E6F8}"/>
              </a:ext>
            </a:extLst>
          </p:cNvPr>
          <p:cNvSpPr>
            <a:spLocks xmlns:a="http://schemas.openxmlformats.org/drawingml/2006/main" noGrp="1"/>
          </p:cNvSpPr>
          <p:nvPr/>
        </p:nvSpPr>
        <p:spPr>
          <a:xfrm xmlns:a="http://schemas.openxmlformats.org/drawingml/2006/main">
            <a:off x="533400" y="5334000"/>
            <a:ext cx="1112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67BA"/>
                </a:solidFill>
                <a:latin typeface="Arial"/>
                <a:ea typeface="Arial"/>
                <a:cs typeface="Arial"/>
              </a:defRPr>
            </a:defPPr>
          </a:lstStyle>
          <a:p xmlns:a="http://schemas.openxmlformats.org/drawingml/2006/main">
            <a:pPr>
              <a:defRPr sz="2175" b="1">
                <a:solidFill>
                  <a:srgbClr val="2667BA"/>
                </a:solidFill>
                <a:latin typeface="Arial"/>
                <a:ea typeface="Arial"/>
                <a:cs typeface="Arial"/>
              </a:defRPr>
            </a:pPr>
            <a:r>
              <a:rPr sz="2175" b="1">
                <a:solidFill>
                  <a:srgbClr val="2667BA"/>
                </a:solidFill>
                <a:latin typeface="Arial"/>
                <a:ea typeface="Arial"/>
                <a:cs typeface="Arial"/>
              </a:rPr>
              <a:t>Fit normalization and sampling weights using training data only.</a:t>
            </a:r>
          </a:p>
        </p:txBody>
      </p:sp>
    </p:spTree>
    <p:extLst>
      <p:ext uri="{BB962C8B-B14F-4D97-AF65-F5344CB8AC3E}">
        <p14:creationId xmlns:p14="http://schemas.microsoft.com/office/powerpoint/2010/main" val="1563435944"/>
      </p:ext>
    </p:extLst>
  </p:cSld>
</p:sld>
</file>

<file path=ppt/slides/slide14.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0" name="Mixed training with duration-weighted BC">
            <a:extLst xmlns:a="http://schemas.openxmlformats.org/drawingml/2006/main">
              <a:ext uri="{FF2B5EF4-FFF2-40B4-BE49-F238E27FC236}">
                <a16:creationId xmlns:a16="http://schemas.microsoft.com/office/drawing/2014/main" id="{6AE0D759-42EB-4CC7-B3B2-325F1229D24E}"/>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Mixed training with duration-weighted BC</a:t>
            </a:r>
          </a:p>
        </p:txBody>
      </p:sp>
      <p:sp>
        <p:nvSpPr>
          <p:cNvPr id="2" name="14">
            <a:extLst xmlns:a="http://schemas.openxmlformats.org/drawingml/2006/main">
              <a:ext uri="{FF2B5EF4-FFF2-40B4-BE49-F238E27FC236}">
                <a16:creationId xmlns:a16="http://schemas.microsoft.com/office/drawing/2014/main" id="{ABF3EAF9-603A-401A-BFA2-DCC26BF4D648}"/>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14</a:t>
            </a:r>
          </a:p>
        </p:txBody>
      </p:sp>
      <p:sp>
        <p:nvSpPr>
          <p:cNvPr id="3" name="Domain sampling ratio p">
            <a:extLst xmlns:a="http://schemas.openxmlformats.org/drawingml/2006/main">
              <a:ext uri="{FF2B5EF4-FFF2-40B4-BE49-F238E27FC236}">
                <a16:creationId xmlns:a16="http://schemas.microsoft.com/office/drawing/2014/main" id="{1ABD0207-6355-4F9E-B6EE-DCD70C9E5524}"/>
              </a:ext>
            </a:extLst>
          </p:cNvPr>
          <p:cNvSpPr>
            <a:spLocks xmlns:a="http://schemas.openxmlformats.org/drawingml/2006/main" noGrp="1"/>
          </p:cNvSpPr>
          <p:nvPr/>
        </p:nvSpPr>
        <p:spPr>
          <a:xfrm xmlns:a="http://schemas.openxmlformats.org/drawingml/2006/main">
            <a:off x="533400" y="1381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Domain sampling ratio p</a:t>
            </a:r>
          </a:p>
        </p:txBody>
      </p:sp>
      <p:sp>
        <p:nvSpPr>
          <p:cNvPr id="4" name="Sample real data with probability p and si">
            <a:extLst xmlns:a="http://schemas.openxmlformats.org/drawingml/2006/main">
              <a:ext uri="{FF2B5EF4-FFF2-40B4-BE49-F238E27FC236}">
                <a16:creationId xmlns:a16="http://schemas.microsoft.com/office/drawing/2014/main" id="{4F70990D-DB93-46B3-80C2-6918D7ABB6ED}"/>
              </a:ext>
            </a:extLst>
          </p:cNvPr>
          <p:cNvSpPr>
            <a:spLocks xmlns:a="http://schemas.openxmlformats.org/drawingml/2006/main" noGrp="1"/>
          </p:cNvSpPr>
          <p:nvPr/>
        </p:nvSpPr>
        <p:spPr>
          <a:xfrm xmlns:a="http://schemas.openxmlformats.org/drawingml/2006/main">
            <a:off x="533400" y="1838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Sample real data with probability p and simulation with 1−p. A domain at 0% contributes neither samples nor normalization data.</a:t>
            </a:r>
          </a:p>
        </p:txBody>
      </p:sp>
      <p:sp>
        <p:nvSpPr>
          <p:cNvPr id="5" name="Action and source sampling">
            <a:extLst xmlns:a="http://schemas.openxmlformats.org/drawingml/2006/main">
              <a:ext uri="{FF2B5EF4-FFF2-40B4-BE49-F238E27FC236}">
                <a16:creationId xmlns:a16="http://schemas.microsoft.com/office/drawing/2014/main" id="{70E34D89-9F0F-4966-9CD8-62BA258D2961}"/>
              </a:ext>
            </a:extLst>
          </p:cNvPr>
          <p:cNvSpPr>
            <a:spLocks xmlns:a="http://schemas.openxmlformats.org/drawingml/2006/main" noGrp="1"/>
          </p:cNvSpPr>
          <p:nvPr/>
        </p:nvSpPr>
        <p:spPr>
          <a:xfrm xmlns:a="http://schemas.openxmlformats.org/drawingml/2006/main">
            <a:off x="533400" y="2762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Action and source sampling</a:t>
            </a:r>
          </a:p>
        </p:txBody>
      </p:sp>
      <p:sp>
        <p:nvSpPr>
          <p:cNvPr id="6" name="Balance Pick and Place within each domain.">
            <a:extLst xmlns:a="http://schemas.openxmlformats.org/drawingml/2006/main">
              <a:ext uri="{FF2B5EF4-FFF2-40B4-BE49-F238E27FC236}">
                <a16:creationId xmlns:a16="http://schemas.microsoft.com/office/drawing/2014/main" id="{E5950CDA-C991-438C-A8D7-941DD98B122C}"/>
              </a:ext>
            </a:extLst>
          </p:cNvPr>
          <p:cNvSpPr>
            <a:spLocks xmlns:a="http://schemas.openxmlformats.org/drawingml/2006/main" noGrp="1"/>
          </p:cNvSpPr>
          <p:nvPr/>
        </p:nvSpPr>
        <p:spPr>
          <a:xfrm xmlns:a="http://schemas.openxmlformats.org/drawingml/2006/main">
            <a:off x="533400" y="32194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Balance Pick and Place within each domain. Weight sources by bounded inverse duration, then sample frames uniformly within a source.</a:t>
            </a:r>
          </a:p>
        </p:txBody>
      </p:sp>
      <p:sp>
        <p:nvSpPr>
          <p:cNvPr id="7" name="w = clip(median(T) / T, 0.5, 2.0)">
            <a:extLst xmlns:a="http://schemas.openxmlformats.org/drawingml/2006/main">
              <a:ext uri="{FF2B5EF4-FFF2-40B4-BE49-F238E27FC236}">
                <a16:creationId xmlns:a16="http://schemas.microsoft.com/office/drawing/2014/main" id="{E53815C6-9099-4328-A1D6-E02EEEE8E17E}"/>
              </a:ext>
            </a:extLst>
          </p:cNvPr>
          <p:cNvSpPr>
            <a:spLocks xmlns:a="http://schemas.openxmlformats.org/drawingml/2006/main" noGrp="1"/>
          </p:cNvSpPr>
          <p:nvPr/>
        </p:nvSpPr>
        <p:spPr>
          <a:xfrm xmlns:a="http://schemas.openxmlformats.org/drawingml/2006/main">
            <a:off x="533400" y="44291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2667BA"/>
                </a:solidFill>
                <a:latin typeface="Arial"/>
                <a:ea typeface="Arial"/>
                <a:cs typeface="Arial"/>
              </a:defRPr>
            </a:defPPr>
          </a:lstStyle>
          <a:p xmlns:a="http://schemas.openxmlformats.org/drawingml/2006/main">
            <a:pPr>
              <a:defRPr sz="2925" b="1">
                <a:solidFill>
                  <a:srgbClr val="2667BA"/>
                </a:solidFill>
                <a:latin typeface="Arial"/>
                <a:ea typeface="Arial"/>
                <a:cs typeface="Arial"/>
              </a:defRPr>
            </a:pPr>
            <a:r>
              <a:rPr sz="2925" b="1">
                <a:solidFill>
                  <a:srgbClr val="2667BA"/>
                </a:solidFill>
                <a:latin typeface="Arial"/>
                <a:ea typeface="Arial"/>
                <a:cs typeface="Arial"/>
              </a:rPr>
              <a:t>w = clip(median(T) / T, 0.5, 2.0)</a:t>
            </a:r>
          </a:p>
        </p:txBody>
      </p:sp>
      <p:sp>
        <p:nvSpPr>
          <p:cNvPr id="8" name="π0.5 LoRA     Batch 8     Horizon 20     1">
            <a:extLst xmlns:a="http://schemas.openxmlformats.org/drawingml/2006/main">
              <a:ext uri="{FF2B5EF4-FFF2-40B4-BE49-F238E27FC236}">
                <a16:creationId xmlns:a16="http://schemas.microsoft.com/office/drawing/2014/main" id="{0E5FB678-A4DB-40CD-8692-F5C4F6A8462A}"/>
              </a:ext>
            </a:extLst>
          </p:cNvPr>
          <p:cNvSpPr>
            <a:spLocks xmlns:a="http://schemas.openxmlformats.org/drawingml/2006/main" noGrp="1"/>
          </p:cNvSpPr>
          <p:nvPr/>
        </p:nvSpPr>
        <p:spPr>
          <a:xfrm xmlns:a="http://schemas.openxmlformats.org/drawingml/2006/main">
            <a:off x="533400" y="53816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334"/>
                </a:solidFill>
                <a:latin typeface="Arial"/>
                <a:ea typeface="Arial"/>
                <a:cs typeface="Arial"/>
              </a:defRPr>
            </a:defPPr>
          </a:lstStyle>
          <a:p xmlns:a="http://schemas.openxmlformats.org/drawingml/2006/main">
            <a:pPr>
              <a:defRPr sz="2100" b="0">
                <a:solidFill>
                  <a:srgbClr val="142334"/>
                </a:solidFill>
                <a:latin typeface="Arial"/>
                <a:ea typeface="Arial"/>
                <a:cs typeface="Arial"/>
              </a:defRPr>
            </a:pPr>
            <a:r>
              <a:rPr sz="2100" b="0">
                <a:solidFill>
                  <a:srgbClr val="142334"/>
                </a:solidFill>
                <a:latin typeface="Arial"/>
                <a:ea typeface="Arial"/>
                <a:cs typeface="Arial"/>
              </a:rPr>
              <a:t>π0.5 LoRA     Batch 8     Horizon 20     10,000 updates</a:t>
            </a:r>
          </a:p>
        </p:txBody>
      </p:sp>
      <p:sp>
        <p:nvSpPr>
          <p:cNvPr id="9" name="Sampling weights change source probabiliti">
            <a:extLst xmlns:a="http://schemas.openxmlformats.org/drawingml/2006/main">
              <a:ext uri="{FF2B5EF4-FFF2-40B4-BE49-F238E27FC236}">
                <a16:creationId xmlns:a16="http://schemas.microsoft.com/office/drawing/2014/main" id="{99AFD6CA-182F-4A8E-95C8-050A293317FA}"/>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Sampling weights change source probabilities. Recorded physical trajectories retain their original timing.</a:t>
            </a:r>
          </a:p>
        </p:txBody>
      </p:sp>
    </p:spTree>
    <p:extLst>
      <p:ext uri="{BB962C8B-B14F-4D97-AF65-F5344CB8AC3E}">
        <p14:creationId xmlns:p14="http://schemas.microsoft.com/office/powerpoint/2010/main" val="849477311"/>
      </p:ext>
    </p:extLst>
  </p:cSld>
</p:sld>
</file>

<file path=ppt/slides/slide15.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5" name="Sim2Real validation uses three evidence le">
            <a:extLst xmlns:a="http://schemas.openxmlformats.org/drawingml/2006/main">
              <a:ext uri="{FF2B5EF4-FFF2-40B4-BE49-F238E27FC236}">
                <a16:creationId xmlns:a16="http://schemas.microsoft.com/office/drawing/2014/main" id="{365CEA34-1A5B-4399-93D9-A09C456BB332}"/>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Sim2Real validation uses three evidence levels</a:t>
            </a:r>
          </a:p>
        </p:txBody>
      </p:sp>
      <p:sp>
        <p:nvSpPr>
          <p:cNvPr id="2" name="15">
            <a:extLst xmlns:a="http://schemas.openxmlformats.org/drawingml/2006/main">
              <a:ext uri="{FF2B5EF4-FFF2-40B4-BE49-F238E27FC236}">
                <a16:creationId xmlns:a16="http://schemas.microsoft.com/office/drawing/2014/main" id="{7DE56611-5D18-4DC1-839F-45616A458196}"/>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346F5FA2-DF36-44DD-A3A4-E6A3E7466B90}"/>
              </a:ext>
            </a:extLst>
          </p:cNvPr>
          <p:cNvSpPr>
            <a:spLocks xmlns:a="http://schemas.openxmlformats.org/drawingml/2006/main" noGrp="1"/>
          </p:cNvSpPr>
          <p:nvPr/>
        </p:nvSpPr>
        <p:spPr>
          <a:xfrm xmlns:a="http://schemas.openxmlformats.org/drawingml/2006/main">
            <a:off x="533400" y="1809750"/>
            <a:ext cx="3333750" cy="266700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4" name="Offline real-data test">
            <a:extLst xmlns:a="http://schemas.openxmlformats.org/drawingml/2006/main">
              <a:ext uri="{FF2B5EF4-FFF2-40B4-BE49-F238E27FC236}">
                <a16:creationId xmlns:a16="http://schemas.microsoft.com/office/drawing/2014/main" id="{7AE3A8C7-7EBB-462E-89FE-16FA33EB1702}"/>
              </a:ext>
            </a:extLst>
          </p:cNvPr>
          <p:cNvSpPr>
            <a:spLocks xmlns:a="http://schemas.openxmlformats.org/drawingml/2006/main" noGrp="1"/>
          </p:cNvSpPr>
          <p:nvPr/>
        </p:nvSpPr>
        <p:spPr>
          <a:xfrm xmlns:a="http://schemas.openxmlformats.org/drawingml/2006/main">
            <a:off x="723900" y="19812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Offline real-data test</a:t>
            </a:r>
          </a:p>
        </p:txBody>
      </p:sp>
      <p:sp>
        <p:nvSpPr>
          <p:cNvPr id="5" name="Recorded observations&#10;Per-joint / gripper ">
            <a:extLst xmlns:a="http://schemas.openxmlformats.org/drawingml/2006/main">
              <a:ext uri="{FF2B5EF4-FFF2-40B4-BE49-F238E27FC236}">
                <a16:creationId xmlns:a16="http://schemas.microsoft.com/office/drawing/2014/main" id="{248C8BE3-836A-4088-8C08-EF19F95D3007}"/>
              </a:ext>
            </a:extLst>
          </p:cNvPr>
          <p:cNvSpPr>
            <a:spLocks xmlns:a="http://schemas.openxmlformats.org/drawingml/2006/main" noGrp="1"/>
          </p:cNvSpPr>
          <p:nvPr/>
        </p:nvSpPr>
        <p:spPr>
          <a:xfrm xmlns:a="http://schemas.openxmlformats.org/drawingml/2006/main">
            <a:off x="723900" y="2533650"/>
            <a:ext cx="2952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Recorded observations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Per-joint / gripper MSE</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Prediction error analysis</a:t>
            </a:r>
          </a:p>
        </p:txBody>
      </p:sp>
      <p:sp>
        <p:nvSpPr>
          <p:cNvPr id="6" name="">
            <a:extLst xmlns:a="http://schemas.openxmlformats.org/drawingml/2006/main">
              <a:ext uri="{FF2B5EF4-FFF2-40B4-BE49-F238E27FC236}">
                <a16:creationId xmlns:a16="http://schemas.microsoft.com/office/drawing/2014/main" id="{75CD99FE-033D-406A-81EA-F9E4DECA48F5}"/>
              </a:ext>
            </a:extLst>
          </p:cNvPr>
          <p:cNvSpPr>
            <a:spLocks xmlns:a="http://schemas.openxmlformats.org/drawingml/2006/main" noGrp="1"/>
          </p:cNvSpPr>
          <p:nvPr/>
        </p:nvSpPr>
        <p:spPr>
          <a:xfrm xmlns:a="http://schemas.openxmlformats.org/drawingml/2006/main">
            <a:off x="3981450" y="3000375"/>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41C12C0-27E5-448F-85CC-17C50F722C3E}"/>
              </a:ext>
            </a:extLst>
          </p:cNvPr>
          <p:cNvSpPr>
            <a:spLocks xmlns:a="http://schemas.openxmlformats.org/drawingml/2006/main" noGrp="1"/>
          </p:cNvSpPr>
          <p:nvPr/>
        </p:nvSpPr>
        <p:spPr>
          <a:xfrm xmlns:a="http://schemas.openxmlformats.org/drawingml/2006/main">
            <a:off x="4429125" y="1809750"/>
            <a:ext cx="3333750" cy="266700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8" name="Isaac policy rollout">
            <a:extLst xmlns:a="http://schemas.openxmlformats.org/drawingml/2006/main">
              <a:ext uri="{FF2B5EF4-FFF2-40B4-BE49-F238E27FC236}">
                <a16:creationId xmlns:a16="http://schemas.microsoft.com/office/drawing/2014/main" id="{60E906CC-3C23-4A92-A8B6-7C1A652C60B3}"/>
              </a:ext>
            </a:extLst>
          </p:cNvPr>
          <p:cNvSpPr>
            <a:spLocks xmlns:a="http://schemas.openxmlformats.org/drawingml/2006/main" noGrp="1"/>
          </p:cNvSpPr>
          <p:nvPr/>
        </p:nvSpPr>
        <p:spPr>
          <a:xfrm xmlns:a="http://schemas.openxmlformats.org/drawingml/2006/main">
            <a:off x="4619625" y="19812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Isaac policy rollout</a:t>
            </a:r>
          </a:p>
        </p:txBody>
      </p:sp>
      <p:sp>
        <p:nvSpPr>
          <p:cNvPr id="9" name="Model drives physics&#10;No teacher or IK fall">
            <a:extLst xmlns:a="http://schemas.openxmlformats.org/drawingml/2006/main">
              <a:ext uri="{FF2B5EF4-FFF2-40B4-BE49-F238E27FC236}">
                <a16:creationId xmlns:a16="http://schemas.microsoft.com/office/drawing/2014/main" id="{58B63081-6B32-43A9-9C5B-95002F05D928}"/>
              </a:ext>
            </a:extLst>
          </p:cNvPr>
          <p:cNvSpPr>
            <a:spLocks xmlns:a="http://schemas.openxmlformats.org/drawingml/2006/main" noGrp="1"/>
          </p:cNvSpPr>
          <p:nvPr/>
        </p:nvSpPr>
        <p:spPr>
          <a:xfrm xmlns:a="http://schemas.openxmlformats.org/drawingml/2006/main">
            <a:off x="4619625" y="2533650"/>
            <a:ext cx="2952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Model drives physics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No teacher or IK fallback</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Independent task audit</a:t>
            </a:r>
          </a:p>
        </p:txBody>
      </p:sp>
      <p:sp>
        <p:nvSpPr>
          <p:cNvPr id="10" name="">
            <a:extLst xmlns:a="http://schemas.openxmlformats.org/drawingml/2006/main">
              <a:ext uri="{FF2B5EF4-FFF2-40B4-BE49-F238E27FC236}">
                <a16:creationId xmlns:a16="http://schemas.microsoft.com/office/drawing/2014/main" id="{B0C6C5C0-5543-402C-90DB-621C1DAF2E4D}"/>
              </a:ext>
            </a:extLst>
          </p:cNvPr>
          <p:cNvSpPr>
            <a:spLocks xmlns:a="http://schemas.openxmlformats.org/drawingml/2006/main" noGrp="1"/>
          </p:cNvSpPr>
          <p:nvPr/>
        </p:nvSpPr>
        <p:spPr>
          <a:xfrm xmlns:a="http://schemas.openxmlformats.org/drawingml/2006/main">
            <a:off x="7877175" y="3000375"/>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320A63C-209A-401F-A3CE-78E74F8DCFB9}"/>
              </a:ext>
            </a:extLst>
          </p:cNvPr>
          <p:cNvSpPr>
            <a:spLocks xmlns:a="http://schemas.openxmlformats.org/drawingml/2006/main" noGrp="1"/>
          </p:cNvSpPr>
          <p:nvPr/>
        </p:nvSpPr>
        <p:spPr>
          <a:xfrm xmlns:a="http://schemas.openxmlformats.org/drawingml/2006/main">
            <a:off x="8324850" y="1809750"/>
            <a:ext cx="3333750" cy="266700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2" name="Real-robot validation">
            <a:extLst xmlns:a="http://schemas.openxmlformats.org/drawingml/2006/main">
              <a:ext uri="{FF2B5EF4-FFF2-40B4-BE49-F238E27FC236}">
                <a16:creationId xmlns:a16="http://schemas.microsoft.com/office/drawing/2014/main" id="{AE5D31AC-3B04-43B7-AAF4-DE166C6DE34E}"/>
              </a:ext>
            </a:extLst>
          </p:cNvPr>
          <p:cNvSpPr>
            <a:spLocks xmlns:a="http://schemas.openxmlformats.org/drawingml/2006/main" noGrp="1"/>
          </p:cNvSpPr>
          <p:nvPr/>
        </p:nvSpPr>
        <p:spPr>
          <a:xfrm xmlns:a="http://schemas.openxmlformats.org/drawingml/2006/main">
            <a:off x="8515350" y="19812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Real-robot validation</a:t>
            </a:r>
          </a:p>
        </p:txBody>
      </p:sp>
      <p:sp>
        <p:nvSpPr>
          <p:cNvPr id="13" name="Consistent interface&#10;Controlled deployment">
            <a:extLst xmlns:a="http://schemas.openxmlformats.org/drawingml/2006/main">
              <a:ext uri="{FF2B5EF4-FFF2-40B4-BE49-F238E27FC236}">
                <a16:creationId xmlns:a16="http://schemas.microsoft.com/office/drawing/2014/main" id="{65A4EFFD-F190-4F69-8612-CC5B5124FF10}"/>
              </a:ext>
            </a:extLst>
          </p:cNvPr>
          <p:cNvSpPr>
            <a:spLocks xmlns:a="http://schemas.openxmlformats.org/drawingml/2006/main" noGrp="1"/>
          </p:cNvSpPr>
          <p:nvPr/>
        </p:nvSpPr>
        <p:spPr>
          <a:xfrm xmlns:a="http://schemas.openxmlformats.org/drawingml/2006/main">
            <a:off x="8515350" y="2533650"/>
            <a:ext cx="2952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Consistent interface</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Controlled deployment</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Successes / attempts</a:t>
            </a:r>
          </a:p>
        </p:txBody>
      </p:sp>
      <p:sp>
        <p:nvSpPr>
          <p:cNvPr id="14" name="Prediction accuracy, closed-loop behavior ">
            <a:extLst xmlns:a="http://schemas.openxmlformats.org/drawingml/2006/main">
              <a:ext uri="{FF2B5EF4-FFF2-40B4-BE49-F238E27FC236}">
                <a16:creationId xmlns:a16="http://schemas.microsoft.com/office/drawing/2014/main" id="{5E2EB820-7F93-4A61-8B9C-A8834A91DDD0}"/>
              </a:ext>
            </a:extLst>
          </p:cNvPr>
          <p:cNvSpPr>
            <a:spLocks xmlns:a="http://schemas.openxmlformats.org/drawingml/2006/main" noGrp="1"/>
          </p:cNvSpPr>
          <p:nvPr/>
        </p:nvSpPr>
        <p:spPr>
          <a:xfrm xmlns:a="http://schemas.openxmlformats.org/drawingml/2006/main">
            <a:off x="533400" y="50958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667BA"/>
                </a:solidFill>
                <a:latin typeface="Arial"/>
                <a:ea typeface="Arial"/>
                <a:cs typeface="Arial"/>
              </a:defRPr>
            </a:defPPr>
          </a:lstStyle>
          <a:p xmlns:a="http://schemas.openxmlformats.org/drawingml/2006/main">
            <a:pPr>
              <a:defRPr sz="2250" b="1">
                <a:solidFill>
                  <a:srgbClr val="2667BA"/>
                </a:solidFill>
                <a:latin typeface="Arial"/>
                <a:ea typeface="Arial"/>
                <a:cs typeface="Arial"/>
              </a:defRPr>
            </a:pPr>
            <a:r>
              <a:rPr sz="2250" b="1">
                <a:solidFill>
                  <a:srgbClr val="2667BA"/>
                </a:solidFill>
                <a:latin typeface="Arial"/>
                <a:ea typeface="Arial"/>
                <a:cs typeface="Arial"/>
              </a:rPr>
              <a:t>Prediction accuracy, closed-loop behavior and real task outcomes answer different questions.</a:t>
            </a:r>
          </a:p>
        </p:txBody>
      </p:sp>
    </p:spTree>
    <p:extLst>
      <p:ext uri="{BB962C8B-B14F-4D97-AF65-F5344CB8AC3E}">
        <p14:creationId xmlns:p14="http://schemas.microsoft.com/office/powerpoint/2010/main" val="1227821132"/>
      </p:ext>
    </p:extLst>
  </p:cSld>
</p:sld>
</file>

<file path=ppt/slides/slide16.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A common MSE evaluation protocol">
            <a:extLst xmlns:a="http://schemas.openxmlformats.org/drawingml/2006/main">
              <a:ext uri="{FF2B5EF4-FFF2-40B4-BE49-F238E27FC236}">
                <a16:creationId xmlns:a16="http://schemas.microsoft.com/office/drawing/2014/main" id="{78B4DEEC-B522-47CD-AF95-D622FB82012E}"/>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A common MSE evaluation protocol</a:t>
            </a:r>
          </a:p>
        </p:txBody>
      </p:sp>
      <p:sp>
        <p:nvSpPr>
          <p:cNvPr id="2" name="16">
            <a:extLst xmlns:a="http://schemas.openxmlformats.org/drawingml/2006/main">
              <a:ext uri="{FF2B5EF4-FFF2-40B4-BE49-F238E27FC236}">
                <a16:creationId xmlns:a16="http://schemas.microsoft.com/office/drawing/2014/main" id="{4D707BE1-57BC-485E-86DA-43C4F569DFF8}"/>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16</a:t>
            </a:r>
          </a:p>
        </p:txBody>
      </p:sp>
      <p:graphicFrame>
        <p:nvGraphicFramePr>
          <p:cNvPr id="3" name="">
            <a:extLst xmlns:a="http://schemas.openxmlformats.org/drawingml/2006/main">
              <a:ext uri="{FF2B5EF4-FFF2-40B4-BE49-F238E27FC236}">
                <a16:creationId xmlns:a16="http://schemas.microsoft.com/office/drawing/2014/main" id="{8FF053D0-7165-4F76-8DB2-D3EF5425D26A}"/>
              </a:ext>
            </a:extLst>
          </p:cNvPr>
          <p:cNvGraphicFramePr/>
          <p:nvPr/>
        </p:nvGraphicFramePr>
        <p:xfrm>
          <a:off xmlns:a="http://schemas.openxmlformats.org/drawingml/2006/main" x="533400" y="1476375"/>
          <a:ext xmlns:a="http://schemas.openxmlformats.org/drawingml/2006/main" cx="11125200" cy="4095750"/>
        </p:xfrm>
        <a:graphic xmlns:a="http://schemas.openxmlformats.org/drawingml/2006/main">
          <a:graphicData uri="http://schemas.openxmlformats.org/drawingml/2006/table">
            <a:tbl>
              <a:tblPr/>
              <a:tblGrid>
                <a:gridCol w="2857500"/>
                <a:gridCol w="8267700"/>
              </a:tblGrid>
              <a:tr h="682625">
                <a:tc>
                  <a:txBody>
                    <a:bodyPr lIns="114300" tIns="114300" rIns="114300" bIns="114300"/>
                    <a:lstStyle/>
                    <a:p>
                      <a:r>
                        <a:rPr sz="1725" b="1">
                          <a:solidFill>
                            <a:srgbClr val="142334"/>
                          </a:solidFill>
                          <a:latin typeface="Arial"/>
                          <a:ea typeface="Arial"/>
                          <a:cs typeface="Arial"/>
                        </a:rPr>
                        <a:t>Dimension</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725" b="1">
                          <a:solidFill>
                            <a:srgbClr val="142334"/>
                          </a:solidFill>
                          <a:latin typeface="Arial"/>
                          <a:ea typeface="Arial"/>
                          <a:cs typeface="Arial"/>
                        </a:rPr>
                        <a:t>Common evaluation setting</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82625">
                <a:tc>
                  <a:txBody>
                    <a:bodyPr lIns="114300" tIns="114300" rIns="114300" bIns="114300"/>
                    <a:lstStyle/>
                    <a:p>
                      <a:r>
                        <a:rPr sz="1725" b="0">
                          <a:solidFill>
                            <a:srgbClr val="142334"/>
                          </a:solidFill>
                          <a:latin typeface="Arial"/>
                          <a:ea typeface="Arial"/>
                          <a:cs typeface="Arial"/>
                        </a:rPr>
                        <a:t>Real test set</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19 episodes: 11 Pick and 8 Place</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82625">
                <a:tc>
                  <a:txBody>
                    <a:bodyPr lIns="114300" tIns="114300" rIns="114300" bIns="114300"/>
                    <a:lstStyle/>
                    <a:p>
                      <a:r>
                        <a:rPr sz="1725" b="0">
                          <a:solidFill>
                            <a:srgbClr val="142334"/>
                          </a:solidFill>
                          <a:latin typeface="Arial"/>
                          <a:ea typeface="Arial"/>
                          <a:cs typeface="Arial"/>
                        </a:rPr>
                        <a:t>Observation / prediction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All 3,653 frames, 20 Hz, horizon 20</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82625">
                <a:tc>
                  <a:txBody>
                    <a:bodyPr lIns="114300" tIns="114300" rIns="114300" bIns="114300"/>
                    <a:lstStyle/>
                    <a:p>
                      <a:r>
                        <a:rPr sz="1725" b="0">
                          <a:solidFill>
                            <a:srgbClr val="142334"/>
                          </a:solidFill>
                          <a:latin typeface="Arial"/>
                          <a:ea typeface="Arial"/>
                          <a:cs typeface="Arial"/>
                        </a:rPr>
                        <a:t>Valid targets</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69,450 window timesteps, excluding tail padding</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82625">
                <a:tc>
                  <a:txBody>
                    <a:bodyPr lIns="114300" tIns="114300" rIns="114300" bIns="114300"/>
                    <a:lstStyle/>
                    <a:p>
                      <a:r>
                        <a:rPr sz="1725" b="0">
                          <a:solidFill>
                            <a:srgbClr val="142334"/>
                          </a:solidFill>
                          <a:latin typeface="Arial"/>
                          <a:ea typeface="Arial"/>
                          <a:cs typeface="Arial"/>
                        </a:rPr>
                        <a:t>Noise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Frame seed = 42000 + global frame index</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82625">
                <a:tc>
                  <a:txBody>
                    <a:bodyPr lIns="114300" tIns="114300" rIns="114300" bIns="114300"/>
                    <a:lstStyle/>
                    <a:p>
                      <a:r>
                        <a:rPr sz="1725" b="0">
                          <a:solidFill>
                            <a:srgbClr val="142334"/>
                          </a:solidFill>
                          <a:latin typeface="Arial"/>
                          <a:ea typeface="Arial"/>
                          <a:cs typeface="Arial"/>
                        </a:rPr>
                        <a:t>Metrics</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14 joints in rad², 2 grippers in mm², base excluded</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bl>
          </a:graphicData>
        </a:graphic>
      </p:graphicFrame>
      <p:sp>
        <p:nvSpPr>
          <p:cNvPr id="4" name="Overlapping windows are not independent sa">
            <a:extLst xmlns:a="http://schemas.openxmlformats.org/drawingml/2006/main">
              <a:ext uri="{FF2B5EF4-FFF2-40B4-BE49-F238E27FC236}">
                <a16:creationId xmlns:a16="http://schemas.microsoft.com/office/drawing/2014/main" id="{96AE48D8-E37F-4807-88F0-685F9A9267D6}"/>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Overlapping windows are not independent samples. Offline MSE does not measure task success.</a:t>
            </a:r>
          </a:p>
        </p:txBody>
      </p:sp>
    </p:spTree>
    <p:extLst>
      <p:ext uri="{BB962C8B-B14F-4D97-AF65-F5344CB8AC3E}">
        <p14:creationId xmlns:p14="http://schemas.microsoft.com/office/powerpoint/2010/main" val="811471079"/>
      </p:ext>
    </p:extLst>
  </p:cSld>
</p:sld>
</file>

<file path=ppt/slides/slide17.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Left arm: error for every joint">
            <a:extLst xmlns:a="http://schemas.openxmlformats.org/drawingml/2006/main">
              <a:ext uri="{FF2B5EF4-FFF2-40B4-BE49-F238E27FC236}">
                <a16:creationId xmlns:a16="http://schemas.microsoft.com/office/drawing/2014/main" id="{17BDAB0D-0555-4F0D-B64C-E660297EA9FB}"/>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Left arm: error for every joint</a:t>
            </a:r>
          </a:p>
        </p:txBody>
      </p:sp>
      <p:sp>
        <p:nvSpPr>
          <p:cNvPr id="2" name="17">
            <a:extLst xmlns:a="http://schemas.openxmlformats.org/drawingml/2006/main">
              <a:ext uri="{FF2B5EF4-FFF2-40B4-BE49-F238E27FC236}">
                <a16:creationId xmlns:a16="http://schemas.microsoft.com/office/drawing/2014/main" id="{5C05A2EE-8A58-40F8-846E-C9FA957D292D}"/>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17</a:t>
            </a:r>
          </a:p>
        </p:txBody>
      </p:sp>
      <p:graphicFrame>
        <p:nvGraphicFramePr>
          <p:cNvPr id="3" name="Chart">
            <a:extLst xmlns:a="http://schemas.openxmlformats.org/drawingml/2006/main">
              <a:ext uri="{FF2B5EF4-FFF2-40B4-BE49-F238E27FC236}">
                <a16:creationId xmlns:a16="http://schemas.microsoft.com/office/drawing/2014/main" id="{C741A0FA-C240-48A8-BA03-19EC61F22FFF}"/>
              </a:ext>
            </a:extLst>
          </p:cNvPr>
          <p:cNvGraphicFramePr/>
          <p:nvPr/>
        </p:nvGraphicFramePr>
        <p:xfrm>
          <a:off xmlns:a="http://schemas.openxmlformats.org/drawingml/2006/main" x="533400" y="1619250"/>
          <a:ext xmlns:a="http://schemas.openxmlformats.org/drawingml/2006/main" cx="11125200" cy="4000500"/>
        </p:xfrm>
        <a:graphic xmlns:a="http://schemas.openxmlformats.org/drawingml/2006/main">
          <a:graphicData uri="http://schemas.openxmlformats.org/drawingml/2006/chart">
            <c:chart xmlns:r="http://schemas.openxmlformats.org/officeDocument/2006/relationships" xmlns:c="http://schemas.openxmlformats.org/drawingml/2006/chart" r:id="R628755d782e84008"/>
          </a:graphicData>
        </a:graphic>
      </p:graphicFrame>
      <p:sp>
        <p:nvSpPr>
          <p:cNvPr id="4" name="Lower is better. Each model has 10,000 upd">
            <a:extLst xmlns:a="http://schemas.openxmlformats.org/drawingml/2006/main">
              <a:ext uri="{FF2B5EF4-FFF2-40B4-BE49-F238E27FC236}">
                <a16:creationId xmlns:a16="http://schemas.microsoft.com/office/drawing/2014/main" id="{0E9EB2BC-7CAC-4214-AB65-35669B5EAFF9}"/>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Lower is better. Each model has 10,000 updates. Initialization, simulated data and recipes differ.</a:t>
            </a:r>
          </a:p>
        </p:txBody>
      </p:sp>
    </p:spTree>
    <p:extLst>
      <p:ext uri="{BB962C8B-B14F-4D97-AF65-F5344CB8AC3E}">
        <p14:creationId xmlns:p14="http://schemas.microsoft.com/office/powerpoint/2010/main" val="1845137456"/>
      </p:ext>
    </p:extLst>
  </p:cSld>
</p:sld>
</file>

<file path=ppt/slides/slide18.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Right arm: error for every joint">
            <a:extLst xmlns:a="http://schemas.openxmlformats.org/drawingml/2006/main">
              <a:ext uri="{FF2B5EF4-FFF2-40B4-BE49-F238E27FC236}">
                <a16:creationId xmlns:a16="http://schemas.microsoft.com/office/drawing/2014/main" id="{AD42416D-BCEB-41F8-9C85-E40B0AB21D4E}"/>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Right arm: error for every joint</a:t>
            </a:r>
          </a:p>
        </p:txBody>
      </p:sp>
      <p:sp>
        <p:nvSpPr>
          <p:cNvPr id="2" name="18">
            <a:extLst xmlns:a="http://schemas.openxmlformats.org/drawingml/2006/main">
              <a:ext uri="{FF2B5EF4-FFF2-40B4-BE49-F238E27FC236}">
                <a16:creationId xmlns:a16="http://schemas.microsoft.com/office/drawing/2014/main" id="{6D01BEFB-4B79-45FF-A6DD-23C1117CDCFD}"/>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18</a:t>
            </a:r>
          </a:p>
        </p:txBody>
      </p:sp>
      <p:graphicFrame>
        <p:nvGraphicFramePr>
          <p:cNvPr id="3" name="Chart">
            <a:extLst xmlns:a="http://schemas.openxmlformats.org/drawingml/2006/main">
              <a:ext uri="{FF2B5EF4-FFF2-40B4-BE49-F238E27FC236}">
                <a16:creationId xmlns:a16="http://schemas.microsoft.com/office/drawing/2014/main" id="{9F951B03-F286-49D2-B113-8007BEA10D98}"/>
              </a:ext>
            </a:extLst>
          </p:cNvPr>
          <p:cNvGraphicFramePr/>
          <p:nvPr/>
        </p:nvGraphicFramePr>
        <p:xfrm>
          <a:off xmlns:a="http://schemas.openxmlformats.org/drawingml/2006/main" x="533400" y="1619250"/>
          <a:ext xmlns:a="http://schemas.openxmlformats.org/drawingml/2006/main" cx="11125200" cy="4000500"/>
        </p:xfrm>
        <a:graphic xmlns:a="http://schemas.openxmlformats.org/drawingml/2006/main">
          <a:graphicData uri="http://schemas.openxmlformats.org/drawingml/2006/chart">
            <c:chart xmlns:r="http://schemas.openxmlformats.org/officeDocument/2006/relationships" xmlns:c="http://schemas.openxmlformats.org/drawingml/2006/chart" r:id="Re3b39e58c4614457"/>
          </a:graphicData>
        </a:graphic>
      </p:graphicFrame>
      <p:sp>
        <p:nvSpPr>
          <p:cNvPr id="4" name="Lower is better. Read all channels and act">
            <a:extLst xmlns:a="http://schemas.openxmlformats.org/drawingml/2006/main">
              <a:ext uri="{FF2B5EF4-FFF2-40B4-BE49-F238E27FC236}">
                <a16:creationId xmlns:a16="http://schemas.microsoft.com/office/drawing/2014/main" id="{0A2947E6-45AC-4ED0-8BCA-A1B45AC9F22B}"/>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Lower is better. Read all channels and action groups before interpreting the aggregate.</a:t>
            </a:r>
          </a:p>
        </p:txBody>
      </p:sp>
    </p:spTree>
    <p:extLst>
      <p:ext uri="{BB962C8B-B14F-4D97-AF65-F5344CB8AC3E}">
        <p14:creationId xmlns:p14="http://schemas.microsoft.com/office/powerpoint/2010/main" val="1199679283"/>
      </p:ext>
    </p:extLst>
  </p:cSld>
</p:sld>
</file>

<file path=ppt/slides/slide19.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2" name="Gripper error and aggregate joint MSE">
            <a:extLst xmlns:a="http://schemas.openxmlformats.org/drawingml/2006/main">
              <a:ext uri="{FF2B5EF4-FFF2-40B4-BE49-F238E27FC236}">
                <a16:creationId xmlns:a16="http://schemas.microsoft.com/office/drawing/2014/main" id="{19F4A7EE-45AE-4022-9621-2BF9DC96A040}"/>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Gripper error and aggregate joint MSE</a:t>
            </a:r>
          </a:p>
        </p:txBody>
      </p:sp>
      <p:sp>
        <p:nvSpPr>
          <p:cNvPr id="2" name="19">
            <a:extLst xmlns:a="http://schemas.openxmlformats.org/drawingml/2006/main">
              <a:ext uri="{FF2B5EF4-FFF2-40B4-BE49-F238E27FC236}">
                <a16:creationId xmlns:a16="http://schemas.microsoft.com/office/drawing/2014/main" id="{1869CF0E-6E74-4D42-AEA5-6936C6B72DFE}"/>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19</a:t>
            </a:r>
          </a:p>
        </p:txBody>
      </p:sp>
      <p:graphicFrame>
        <p:nvGraphicFramePr>
          <p:cNvPr id="3" name="Chart">
            <a:extLst xmlns:a="http://schemas.openxmlformats.org/drawingml/2006/main">
              <a:ext uri="{FF2B5EF4-FFF2-40B4-BE49-F238E27FC236}">
                <a16:creationId xmlns:a16="http://schemas.microsoft.com/office/drawing/2014/main" id="{35A00F73-264F-4409-B118-56718F4539BD}"/>
              </a:ext>
            </a:extLst>
          </p:cNvPr>
          <p:cNvGraphicFramePr/>
          <p:nvPr/>
        </p:nvGraphicFramePr>
        <p:xfrm>
          <a:off xmlns:a="http://schemas.openxmlformats.org/drawingml/2006/main" x="533400" y="1571625"/>
          <a:ext xmlns:a="http://schemas.openxmlformats.org/drawingml/2006/main" cx="6572250" cy="4000500"/>
        </p:xfrm>
        <a:graphic xmlns:a="http://schemas.openxmlformats.org/drawingml/2006/main">
          <a:graphicData uri="http://schemas.openxmlformats.org/drawingml/2006/chart">
            <c:chart xmlns:r="http://schemas.openxmlformats.org/officeDocument/2006/relationships" xmlns:c="http://schemas.openxmlformats.org/drawingml/2006/chart" r:id="R764a5c16c7b64292"/>
          </a:graphicData>
        </a:graphic>
      </p:graphicFrame>
      <p:sp>
        <p:nvSpPr>
          <p:cNvPr id="4" name="Mean across 14 joints">
            <a:extLst xmlns:a="http://schemas.openxmlformats.org/drawingml/2006/main">
              <a:ext uri="{FF2B5EF4-FFF2-40B4-BE49-F238E27FC236}">
                <a16:creationId xmlns:a16="http://schemas.microsoft.com/office/drawing/2014/main" id="{622D0236-7F01-4A31-88E0-647B086662AE}"/>
              </a:ext>
            </a:extLst>
          </p:cNvPr>
          <p:cNvSpPr>
            <a:spLocks xmlns:a="http://schemas.openxmlformats.org/drawingml/2006/main" noGrp="1"/>
          </p:cNvSpPr>
          <p:nvPr/>
        </p:nvSpPr>
        <p:spPr>
          <a:xfrm xmlns:a="http://schemas.openxmlformats.org/drawingml/2006/main">
            <a:off x="7620000" y="176212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Mean across 14 joints</a:t>
            </a:r>
          </a:p>
        </p:txBody>
      </p:sp>
      <p:sp>
        <p:nvSpPr>
          <p:cNvPr id="5" name="Real 100%">
            <a:extLst xmlns:a="http://schemas.openxmlformats.org/drawingml/2006/main">
              <a:ext uri="{FF2B5EF4-FFF2-40B4-BE49-F238E27FC236}">
                <a16:creationId xmlns:a16="http://schemas.microsoft.com/office/drawing/2014/main" id="{94D46D30-817B-4F82-A4E5-45DAACAFF24A}"/>
              </a:ext>
            </a:extLst>
          </p:cNvPr>
          <p:cNvSpPr>
            <a:spLocks xmlns:a="http://schemas.openxmlformats.org/drawingml/2006/main" noGrp="1"/>
          </p:cNvSpPr>
          <p:nvPr/>
        </p:nvSpPr>
        <p:spPr>
          <a:xfrm xmlns:a="http://schemas.openxmlformats.org/drawingml/2006/main">
            <a:off x="7620000" y="252412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2667BA"/>
                </a:solidFill>
                <a:latin typeface="Arial"/>
                <a:ea typeface="Arial"/>
                <a:cs typeface="Arial"/>
              </a:defRPr>
            </a:defPPr>
          </a:lstStyle>
          <a:p xmlns:a="http://schemas.openxmlformats.org/drawingml/2006/main">
            <a:pPr>
              <a:defRPr sz="1725" b="1">
                <a:solidFill>
                  <a:srgbClr val="2667BA"/>
                </a:solidFill>
                <a:latin typeface="Arial"/>
                <a:ea typeface="Arial"/>
                <a:cs typeface="Arial"/>
              </a:defRPr>
            </a:pPr>
            <a:r>
              <a:rPr sz="1725" b="1">
                <a:solidFill>
                  <a:srgbClr val="2667BA"/>
                </a:solidFill>
                <a:latin typeface="Arial"/>
                <a:ea typeface="Arial"/>
                <a:cs typeface="Arial"/>
              </a:rPr>
              <a:t>Real 100%</a:t>
            </a:r>
          </a:p>
        </p:txBody>
      </p:sp>
      <p:sp>
        <p:nvSpPr>
          <p:cNvPr id="6" name="0.006769 rad²">
            <a:extLst xmlns:a="http://schemas.openxmlformats.org/drawingml/2006/main">
              <a:ext uri="{FF2B5EF4-FFF2-40B4-BE49-F238E27FC236}">
                <a16:creationId xmlns:a16="http://schemas.microsoft.com/office/drawing/2014/main" id="{BFAD1D7B-17BE-448E-846D-5FD7756DF79E}"/>
              </a:ext>
            </a:extLst>
          </p:cNvPr>
          <p:cNvSpPr>
            <a:spLocks xmlns:a="http://schemas.openxmlformats.org/drawingml/2006/main" noGrp="1"/>
          </p:cNvSpPr>
          <p:nvPr/>
        </p:nvSpPr>
        <p:spPr>
          <a:xfrm xmlns:a="http://schemas.openxmlformats.org/drawingml/2006/main">
            <a:off x="7620000" y="28765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4"/>
                </a:solidFill>
                <a:latin typeface="Arial"/>
                <a:ea typeface="Arial"/>
                <a:cs typeface="Arial"/>
              </a:defRPr>
            </a:defPPr>
          </a:lstStyle>
          <a:p xmlns:a="http://schemas.openxmlformats.org/drawingml/2006/main">
            <a:pPr>
              <a:defRPr sz="2175" b="0">
                <a:solidFill>
                  <a:srgbClr val="142334"/>
                </a:solidFill>
                <a:latin typeface="Arial"/>
                <a:ea typeface="Arial"/>
                <a:cs typeface="Arial"/>
              </a:defRPr>
            </a:pPr>
            <a:r>
              <a:rPr sz="2175" b="0">
                <a:solidFill>
                  <a:srgbClr val="142334"/>
                </a:solidFill>
                <a:latin typeface="Arial"/>
                <a:ea typeface="Arial"/>
                <a:cs typeface="Arial"/>
              </a:rPr>
              <a:t>0.006769 rad²</a:t>
            </a:r>
          </a:p>
        </p:txBody>
      </p:sp>
      <p:sp>
        <p:nvSpPr>
          <p:cNvPr id="7" name="Real 90% / Sim 10%">
            <a:extLst xmlns:a="http://schemas.openxmlformats.org/drawingml/2006/main">
              <a:ext uri="{FF2B5EF4-FFF2-40B4-BE49-F238E27FC236}">
                <a16:creationId xmlns:a16="http://schemas.microsoft.com/office/drawing/2014/main" id="{B722A203-DD6D-4998-B94D-AA0EBB4B20D4}"/>
              </a:ext>
            </a:extLst>
          </p:cNvPr>
          <p:cNvSpPr>
            <a:spLocks xmlns:a="http://schemas.openxmlformats.org/drawingml/2006/main" noGrp="1"/>
          </p:cNvSpPr>
          <p:nvPr/>
        </p:nvSpPr>
        <p:spPr>
          <a:xfrm xmlns:a="http://schemas.openxmlformats.org/drawingml/2006/main">
            <a:off x="7620000" y="34290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08879"/>
                </a:solidFill>
                <a:latin typeface="Arial"/>
                <a:ea typeface="Arial"/>
                <a:cs typeface="Arial"/>
              </a:defRPr>
            </a:defPPr>
          </a:lstStyle>
          <a:p xmlns:a="http://schemas.openxmlformats.org/drawingml/2006/main">
            <a:pPr>
              <a:defRPr sz="1725" b="1">
                <a:solidFill>
                  <a:srgbClr val="008879"/>
                </a:solidFill>
                <a:latin typeface="Arial"/>
                <a:ea typeface="Arial"/>
                <a:cs typeface="Arial"/>
              </a:defRPr>
            </a:pPr>
            <a:r>
              <a:rPr sz="1725" b="1">
                <a:solidFill>
                  <a:srgbClr val="008879"/>
                </a:solidFill>
                <a:latin typeface="Arial"/>
                <a:ea typeface="Arial"/>
                <a:cs typeface="Arial"/>
              </a:rPr>
              <a:t>Real 90% / Sim 10%</a:t>
            </a:r>
          </a:p>
        </p:txBody>
      </p:sp>
      <p:sp>
        <p:nvSpPr>
          <p:cNvPr id="8" name="0.006496 rad²">
            <a:extLst xmlns:a="http://schemas.openxmlformats.org/drawingml/2006/main">
              <a:ext uri="{FF2B5EF4-FFF2-40B4-BE49-F238E27FC236}">
                <a16:creationId xmlns:a16="http://schemas.microsoft.com/office/drawing/2014/main" id="{BC9EABF1-9548-43EB-A031-EC2BE5936C17}"/>
              </a:ext>
            </a:extLst>
          </p:cNvPr>
          <p:cNvSpPr>
            <a:spLocks xmlns:a="http://schemas.openxmlformats.org/drawingml/2006/main" noGrp="1"/>
          </p:cNvSpPr>
          <p:nvPr/>
        </p:nvSpPr>
        <p:spPr>
          <a:xfrm xmlns:a="http://schemas.openxmlformats.org/drawingml/2006/main">
            <a:off x="7620000" y="3781425"/>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4"/>
                </a:solidFill>
                <a:latin typeface="Arial"/>
                <a:ea typeface="Arial"/>
                <a:cs typeface="Arial"/>
              </a:defRPr>
            </a:defPPr>
          </a:lstStyle>
          <a:p xmlns:a="http://schemas.openxmlformats.org/drawingml/2006/main">
            <a:pPr>
              <a:defRPr sz="2175" b="0">
                <a:solidFill>
                  <a:srgbClr val="142334"/>
                </a:solidFill>
                <a:latin typeface="Arial"/>
                <a:ea typeface="Arial"/>
                <a:cs typeface="Arial"/>
              </a:defRPr>
            </a:pPr>
            <a:r>
              <a:rPr sz="2175" b="0">
                <a:solidFill>
                  <a:srgbClr val="142334"/>
                </a:solidFill>
                <a:latin typeface="Arial"/>
                <a:ea typeface="Arial"/>
                <a:cs typeface="Arial"/>
              </a:rPr>
              <a:t>0.006496 rad²</a:t>
            </a:r>
          </a:p>
        </p:txBody>
      </p:sp>
      <p:sp>
        <p:nvSpPr>
          <p:cNvPr id="9" name="Real 50% / Sim 50%">
            <a:extLst xmlns:a="http://schemas.openxmlformats.org/drawingml/2006/main">
              <a:ext uri="{FF2B5EF4-FFF2-40B4-BE49-F238E27FC236}">
                <a16:creationId xmlns:a16="http://schemas.microsoft.com/office/drawing/2014/main" id="{1D111F85-E301-41FC-BF09-AFCC46EE39A2}"/>
              </a:ext>
            </a:extLst>
          </p:cNvPr>
          <p:cNvSpPr>
            <a:spLocks xmlns:a="http://schemas.openxmlformats.org/drawingml/2006/main" noGrp="1"/>
          </p:cNvSpPr>
          <p:nvPr/>
        </p:nvSpPr>
        <p:spPr>
          <a:xfrm xmlns:a="http://schemas.openxmlformats.org/drawingml/2006/main">
            <a:off x="7620000" y="43338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D8882E"/>
                </a:solidFill>
                <a:latin typeface="Arial"/>
                <a:ea typeface="Arial"/>
                <a:cs typeface="Arial"/>
              </a:defRPr>
            </a:defPPr>
          </a:lstStyle>
          <a:p xmlns:a="http://schemas.openxmlformats.org/drawingml/2006/main">
            <a:pPr>
              <a:defRPr sz="1725" b="1">
                <a:solidFill>
                  <a:srgbClr val="D8882E"/>
                </a:solidFill>
                <a:latin typeface="Arial"/>
                <a:ea typeface="Arial"/>
                <a:cs typeface="Arial"/>
              </a:defRPr>
            </a:pPr>
            <a:r>
              <a:rPr sz="1725" b="1">
                <a:solidFill>
                  <a:srgbClr val="D8882E"/>
                </a:solidFill>
                <a:latin typeface="Arial"/>
                <a:ea typeface="Arial"/>
                <a:cs typeface="Arial"/>
              </a:rPr>
              <a:t>Real 50% / Sim 50%</a:t>
            </a:r>
          </a:p>
        </p:txBody>
      </p:sp>
      <p:sp>
        <p:nvSpPr>
          <p:cNvPr id="10" name="0.007230 rad²">
            <a:extLst xmlns:a="http://schemas.openxmlformats.org/drawingml/2006/main">
              <a:ext uri="{FF2B5EF4-FFF2-40B4-BE49-F238E27FC236}">
                <a16:creationId xmlns:a16="http://schemas.microsoft.com/office/drawing/2014/main" id="{79669263-F488-43E4-8C71-B63D1282CE41}"/>
              </a:ext>
            </a:extLst>
          </p:cNvPr>
          <p:cNvSpPr>
            <a:spLocks xmlns:a="http://schemas.openxmlformats.org/drawingml/2006/main" noGrp="1"/>
          </p:cNvSpPr>
          <p:nvPr/>
        </p:nvSpPr>
        <p:spPr>
          <a:xfrm xmlns:a="http://schemas.openxmlformats.org/drawingml/2006/main">
            <a:off x="7620000" y="46863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4"/>
                </a:solidFill>
                <a:latin typeface="Arial"/>
                <a:ea typeface="Arial"/>
                <a:cs typeface="Arial"/>
              </a:defRPr>
            </a:defPPr>
          </a:lstStyle>
          <a:p xmlns:a="http://schemas.openxmlformats.org/drawingml/2006/main">
            <a:pPr>
              <a:defRPr sz="2175" b="0">
                <a:solidFill>
                  <a:srgbClr val="142334"/>
                </a:solidFill>
                <a:latin typeface="Arial"/>
                <a:ea typeface="Arial"/>
                <a:cs typeface="Arial"/>
              </a:defRPr>
            </a:pPr>
            <a:r>
              <a:rPr sz="2175" b="0">
                <a:solidFill>
                  <a:srgbClr val="142334"/>
                </a:solidFill>
                <a:latin typeface="Arial"/>
                <a:ea typeface="Arial"/>
                <a:cs typeface="Arial"/>
              </a:rPr>
              <a:t>0.007230 rad²</a:t>
            </a:r>
          </a:p>
        </p:txBody>
      </p:sp>
      <p:sp>
        <p:nvSpPr>
          <p:cNvPr id="11" name="Report joints and grippers separately. The">
            <a:extLst xmlns:a="http://schemas.openxmlformats.org/drawingml/2006/main">
              <a:ext uri="{FF2B5EF4-FFF2-40B4-BE49-F238E27FC236}">
                <a16:creationId xmlns:a16="http://schemas.microsoft.com/office/drawing/2014/main" id="{2580CA85-9422-4BB5-839E-B9F4C1E7D286}"/>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Report joints and grippers separately. The companion CSV also includes Pick / Place breakdowns.</a:t>
            </a:r>
          </a:p>
        </p:txBody>
      </p:sp>
    </p:spTree>
    <p:extLst>
      <p:ext uri="{BB962C8B-B14F-4D97-AF65-F5344CB8AC3E}">
        <p14:creationId xmlns:p14="http://schemas.microsoft.com/office/powerpoint/2010/main" val="113146969"/>
      </p:ext>
    </p:extLst>
  </p:cSld>
</p:sld>
</file>

<file path=ppt/slides/slide20.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9" name="What the measurements support">
            <a:extLst xmlns:a="http://schemas.openxmlformats.org/drawingml/2006/main">
              <a:ext uri="{FF2B5EF4-FFF2-40B4-BE49-F238E27FC236}">
                <a16:creationId xmlns:a16="http://schemas.microsoft.com/office/drawing/2014/main" id="{5696B502-E6A4-4857-9602-848A5A8179B0}"/>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What the measurements support</a:t>
            </a:r>
          </a:p>
        </p:txBody>
      </p:sp>
      <p:sp>
        <p:nvSpPr>
          <p:cNvPr id="2" name="20">
            <a:extLst xmlns:a="http://schemas.openxmlformats.org/drawingml/2006/main">
              <a:ext uri="{FF2B5EF4-FFF2-40B4-BE49-F238E27FC236}">
                <a16:creationId xmlns:a16="http://schemas.microsoft.com/office/drawing/2014/main" id="{EBF3ACD5-68D4-4D6A-8521-4A956B3E85DC}"/>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20</a:t>
            </a:r>
          </a:p>
        </p:txBody>
      </p:sp>
      <p:sp>
        <p:nvSpPr>
          <p:cNvPr id="3" name="The 10% simulation model improves aggregat">
            <a:extLst xmlns:a="http://schemas.openxmlformats.org/drawingml/2006/main">
              <a:ext uri="{FF2B5EF4-FFF2-40B4-BE49-F238E27FC236}">
                <a16:creationId xmlns:a16="http://schemas.microsoft.com/office/drawing/2014/main" id="{5301FEFC-D5D0-447B-AABB-DF8F463EA9BF}"/>
              </a:ext>
            </a:extLst>
          </p:cNvPr>
          <p:cNvSpPr>
            <a:spLocks xmlns:a="http://schemas.openxmlformats.org/drawingml/2006/main" noGrp="1"/>
          </p:cNvSpPr>
          <p:nvPr/>
        </p:nvSpPr>
        <p:spPr>
          <a:xfrm xmlns:a="http://schemas.openxmlformats.org/drawingml/2006/main">
            <a:off x="533400" y="1381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The 10% simulation model improves aggregate MSE</a:t>
            </a:r>
          </a:p>
        </p:txBody>
      </p:sp>
      <p:sp>
        <p:nvSpPr>
          <p:cNvPr id="4" name="Relative to real-only: joint MSE decreases">
            <a:extLst xmlns:a="http://schemas.openxmlformats.org/drawingml/2006/main">
              <a:ext uri="{FF2B5EF4-FFF2-40B4-BE49-F238E27FC236}">
                <a16:creationId xmlns:a16="http://schemas.microsoft.com/office/drawing/2014/main" id="{EA857D8B-83A0-4927-8EDC-E261D2E64125}"/>
              </a:ext>
            </a:extLst>
          </p:cNvPr>
          <p:cNvSpPr>
            <a:spLocks xmlns:a="http://schemas.openxmlformats.org/drawingml/2006/main" noGrp="1"/>
          </p:cNvSpPr>
          <p:nvPr/>
        </p:nvSpPr>
        <p:spPr>
          <a:xfrm xmlns:a="http://schemas.openxmlformats.org/drawingml/2006/main">
            <a:off x="533400" y="1838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Relative to real-only: joint MSE decreases 4.04% and gripper MSE decreases 7.86%. Nine of 14 arm joints improve.</a:t>
            </a:r>
          </a:p>
        </p:txBody>
      </p:sp>
      <p:sp>
        <p:nvSpPr>
          <p:cNvPr id="5" name="The 50% simulation model has mixed results">
            <a:extLst xmlns:a="http://schemas.openxmlformats.org/drawingml/2006/main">
              <a:ext uri="{FF2B5EF4-FFF2-40B4-BE49-F238E27FC236}">
                <a16:creationId xmlns:a16="http://schemas.microsoft.com/office/drawing/2014/main" id="{186886D8-50B5-441B-9E67-509D3C51D4A6}"/>
              </a:ext>
            </a:extLst>
          </p:cNvPr>
          <p:cNvSpPr>
            <a:spLocks xmlns:a="http://schemas.openxmlformats.org/drawingml/2006/main" noGrp="1"/>
          </p:cNvSpPr>
          <p:nvPr/>
        </p:nvSpPr>
        <p:spPr>
          <a:xfrm xmlns:a="http://schemas.openxmlformats.org/drawingml/2006/main">
            <a:off x="533400" y="2952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The 50% simulation model has mixed results</a:t>
            </a:r>
          </a:p>
        </p:txBody>
      </p:sp>
      <p:sp>
        <p:nvSpPr>
          <p:cNvPr id="6" name="Joint MSE rises 6.80% to 0.007230 rad². Gr">
            <a:extLst xmlns:a="http://schemas.openxmlformats.org/drawingml/2006/main">
              <a:ext uri="{FF2B5EF4-FFF2-40B4-BE49-F238E27FC236}">
                <a16:creationId xmlns:a16="http://schemas.microsoft.com/office/drawing/2014/main" id="{753B852D-882B-4BC4-949A-3F7468E02868}"/>
              </a:ext>
            </a:extLst>
          </p:cNvPr>
          <p:cNvSpPr>
            <a:spLocks xmlns:a="http://schemas.openxmlformats.org/drawingml/2006/main" noGrp="1"/>
          </p:cNvSpPr>
          <p:nvPr/>
        </p:nvSpPr>
        <p:spPr>
          <a:xfrm xmlns:a="http://schemas.openxmlformats.org/drawingml/2006/main">
            <a:off x="533400" y="34099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Joint MSE rises 6.80% to 0.007230 rad². Gripper MSE falls 12.20% to 356.80 mm², relative to real-only.</a:t>
            </a:r>
          </a:p>
        </p:txBody>
      </p:sp>
      <p:sp>
        <p:nvSpPr>
          <p:cNvPr id="7" name="Controlled ablations are needed for causal">
            <a:extLst xmlns:a="http://schemas.openxmlformats.org/drawingml/2006/main">
              <a:ext uri="{FF2B5EF4-FFF2-40B4-BE49-F238E27FC236}">
                <a16:creationId xmlns:a16="http://schemas.microsoft.com/office/drawing/2014/main" id="{E9EEA81E-F53B-4E41-A530-D9284C0697D9}"/>
              </a:ext>
            </a:extLst>
          </p:cNvPr>
          <p:cNvSpPr>
            <a:spLocks xmlns:a="http://schemas.openxmlformats.org/drawingml/2006/main" noGrp="1"/>
          </p:cNvSpPr>
          <p:nvPr/>
        </p:nvSpPr>
        <p:spPr>
          <a:xfrm xmlns:a="http://schemas.openxmlformats.org/drawingml/2006/main">
            <a:off x="533400" y="4524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Controlled ablations are needed for causal attribution</a:t>
            </a:r>
          </a:p>
        </p:txBody>
      </p:sp>
      <p:sp>
        <p:nvSpPr>
          <p:cNvPr id="8" name="Existing models differ in initialization a">
            <a:extLst xmlns:a="http://schemas.openxmlformats.org/drawingml/2006/main">
              <a:ext uri="{FF2B5EF4-FFF2-40B4-BE49-F238E27FC236}">
                <a16:creationId xmlns:a16="http://schemas.microsoft.com/office/drawing/2014/main" id="{639EC908-91AA-4FA2-B239-AC0CDFC20DCB}"/>
              </a:ext>
            </a:extLst>
          </p:cNvPr>
          <p:cNvSpPr>
            <a:spLocks xmlns:a="http://schemas.openxmlformats.org/drawingml/2006/main" noGrp="1"/>
          </p:cNvSpPr>
          <p:nvPr/>
        </p:nvSpPr>
        <p:spPr>
          <a:xfrm xmlns:a="http://schemas.openxmlformats.org/drawingml/2006/main">
            <a:off x="533400" y="49815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Existing models differ in initialization and simulated data. A ratio-only study must hold these fixed and measure real-robot completion rates.</a:t>
            </a:r>
          </a:p>
        </p:txBody>
      </p:sp>
    </p:spTree>
    <p:extLst>
      <p:ext uri="{BB962C8B-B14F-4D97-AF65-F5344CB8AC3E}">
        <p14:creationId xmlns:p14="http://schemas.microsoft.com/office/powerpoint/2010/main" val="586121159"/>
      </p:ext>
    </p:extLst>
  </p:cSld>
</p:sld>
</file>

<file path=ppt/slides/slide21.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Current evidence and remaining validation">
            <a:extLst xmlns:a="http://schemas.openxmlformats.org/drawingml/2006/main">
              <a:ext uri="{FF2B5EF4-FFF2-40B4-BE49-F238E27FC236}">
                <a16:creationId xmlns:a16="http://schemas.microsoft.com/office/drawing/2014/main" id="{BD4D9568-39C1-443F-B81A-FE3D062187B6}"/>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Current evidence and remaining validation</a:t>
            </a:r>
          </a:p>
        </p:txBody>
      </p:sp>
      <p:sp>
        <p:nvSpPr>
          <p:cNvPr id="2" name="21">
            <a:extLst xmlns:a="http://schemas.openxmlformats.org/drawingml/2006/main">
              <a:ext uri="{FF2B5EF4-FFF2-40B4-BE49-F238E27FC236}">
                <a16:creationId xmlns:a16="http://schemas.microsoft.com/office/drawing/2014/main" id="{385BD351-A528-4E58-9723-EF8AE1FB4882}"/>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21</a:t>
            </a:r>
          </a:p>
        </p:txBody>
      </p:sp>
      <p:graphicFrame>
        <p:nvGraphicFramePr>
          <p:cNvPr id="3" name="">
            <a:extLst xmlns:a="http://schemas.openxmlformats.org/drawingml/2006/main">
              <a:ext uri="{FF2B5EF4-FFF2-40B4-BE49-F238E27FC236}">
                <a16:creationId xmlns:a16="http://schemas.microsoft.com/office/drawing/2014/main" id="{29BD7B64-2860-4065-B096-79F88BF94982}"/>
              </a:ext>
            </a:extLst>
          </p:cNvPr>
          <p:cNvGraphicFramePr/>
          <p:nvPr/>
        </p:nvGraphicFramePr>
        <p:xfrm>
          <a:off xmlns:a="http://schemas.openxmlformats.org/drawingml/2006/main" x="533400" y="1524000"/>
          <a:ext xmlns:a="http://schemas.openxmlformats.org/drawingml/2006/main" cx="11125200" cy="3857625"/>
        </p:xfrm>
        <a:graphic xmlns:a="http://schemas.openxmlformats.org/drawingml/2006/main">
          <a:graphicData uri="http://schemas.openxmlformats.org/drawingml/2006/table">
            <a:tbl>
              <a:tblPr/>
              <a:tblGrid>
                <a:gridCol w="2667000"/>
                <a:gridCol w="8458200"/>
              </a:tblGrid>
              <a:tr h="642938">
                <a:tc>
                  <a:txBody>
                    <a:bodyPr lIns="114300" tIns="114300" rIns="114300" bIns="114300"/>
                    <a:lstStyle/>
                    <a:p>
                      <a:r>
                        <a:rPr sz="1725" b="1">
                          <a:solidFill>
                            <a:srgbClr val="142334"/>
                          </a:solidFill>
                          <a:latin typeface="Arial"/>
                          <a:ea typeface="Arial"/>
                          <a:cs typeface="Arial"/>
                        </a:rPr>
                        <a:t>Workstream</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725" b="1">
                          <a:solidFill>
                            <a:srgbClr val="142334"/>
                          </a:solidFill>
                          <a:latin typeface="Arial"/>
                          <a:ea typeface="Arial"/>
                          <a:cs typeface="Arial"/>
                        </a:rPr>
                        <a:t>Evidence available</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42938">
                <a:tc>
                  <a:txBody>
                    <a:bodyPr lIns="114300" tIns="114300" rIns="114300" bIns="114300"/>
                    <a:lstStyle/>
                    <a:p>
                      <a:r>
                        <a:rPr sz="1725" b="0">
                          <a:solidFill>
                            <a:srgbClr val="142334"/>
                          </a:solidFill>
                          <a:latin typeface="Arial"/>
                          <a:ea typeface="Arial"/>
                          <a:cs typeface="Arial"/>
                        </a:rPr>
                        <a:t>Scene and website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English UI, scene editing, job queue and downloadable MSE figures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42938">
                <a:tc>
                  <a:txBody>
                    <a:bodyPr lIns="114300" tIns="114300" rIns="114300" bIns="114300"/>
                    <a:lstStyle/>
                    <a:p>
                      <a:r>
                        <a:rPr sz="1725" b="0">
                          <a:solidFill>
                            <a:srgbClr val="142334"/>
                          </a:solidFill>
                          <a:latin typeface="Arial"/>
                          <a:ea typeface="Arial"/>
                          <a:cs typeface="Arial"/>
                        </a:rPr>
                        <a:t>Data and model</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300 frozen pairs and a 10,000-update 50/50 checkpoint</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42938">
                <a:tc>
                  <a:txBody>
                    <a:bodyPr lIns="114300" tIns="114300" rIns="114300" bIns="114300"/>
                    <a:lstStyle/>
                    <a:p>
                      <a:r>
                        <a:rPr sz="1725" b="0">
                          <a:solidFill>
                            <a:srgbClr val="142334"/>
                          </a:solidFill>
                          <a:latin typeface="Arial"/>
                          <a:ea typeface="Arial"/>
                          <a:cs typeface="Arial"/>
                        </a:rPr>
                        <a:t>Offline evaluation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Per-joint comparison using fixed real observations</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42938">
                <a:tc>
                  <a:txBody>
                    <a:bodyPr lIns="114300" tIns="114300" rIns="114300" bIns="114300"/>
                    <a:lstStyle/>
                    <a:p>
                      <a:r>
                        <a:rPr sz="1725" b="0">
                          <a:solidFill>
                            <a:srgbClr val="142334"/>
                          </a:solidFill>
                          <a:latin typeface="Arial"/>
                          <a:ea typeface="Arial"/>
                          <a:cs typeface="Arial"/>
                        </a:rPr>
                        <a:t>Policy rollout</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Interface implemented, successful rollout still unverified</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42938">
                <a:tc>
                  <a:txBody>
                    <a:bodyPr lIns="114300" tIns="114300" rIns="114300" bIns="114300"/>
                    <a:lstStyle/>
                    <a:p>
                      <a:r>
                        <a:rPr sz="1725" b="0">
                          <a:solidFill>
                            <a:srgbClr val="142334"/>
                          </a:solidFill>
                          <a:latin typeface="Arial"/>
                          <a:ea typeface="Arial"/>
                          <a:cs typeface="Arial"/>
                        </a:rPr>
                        <a:t>Real-robot footage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User reports 10% real + 90% sim, 10,000 updates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bl>
          </a:graphicData>
        </a:graphic>
      </p:graphicFrame>
      <p:sp>
        <p:nvSpPr>
          <p:cNvPr id="4" name="The expert-controlled simulation demo does">
            <a:extLst xmlns:a="http://schemas.openxmlformats.org/drawingml/2006/main">
              <a:ext uri="{FF2B5EF4-FFF2-40B4-BE49-F238E27FC236}">
                <a16:creationId xmlns:a16="http://schemas.microsoft.com/office/drawing/2014/main" id="{A15A0386-EBEC-4D70-8C9D-4B4FF3D443A8}"/>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The expert-controlled simulation demo does not establish VLA closed-loop success.</a:t>
            </a:r>
          </a:p>
        </p:txBody>
      </p:sp>
    </p:spTree>
    <p:extLst>
      <p:ext uri="{BB962C8B-B14F-4D97-AF65-F5344CB8AC3E}">
        <p14:creationId xmlns:p14="http://schemas.microsoft.com/office/powerpoint/2010/main" val="1715637123"/>
      </p:ext>
    </p:extLst>
  </p:cSld>
</p:sld>
</file>

<file path=ppt/slides/slide2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111F30"/>
        </a:solidFill>
      </p:bgPr>
    </p:bg>
    <p:spTree>
      <p:nvGrpSpPr>
        <p:cNvPr id="1" name=""/>
        <p:cNvGrpSpPr/>
        <p:nvPr/>
      </p:nvGrpSpPr>
      <p:grpSpPr>
        <a:xfrm/>
      </p:grpSpPr>
      <p:sp>
        <p:nvSpPr>
          <p:cNvPr id="5" name="Real-robot demonstration">
            <a:extLst>
              <a:ext uri="{FF2B5EF4-FFF2-40B4-BE49-F238E27FC236}">
                <ns2:creationId id="{24A1B38E-A69D-4CFE-9E98-FD0F166E2771}"/>
              </a:ext>
            </a:extLst>
          </p:cNvPr>
          <p:cNvSpPr>
            <a:spLocks noGrp="1"/>
          </p:cNvSpPr>
          <p:nvPr/>
        </p:nvSpPr>
        <p:spPr>
          <a:xfrm>
            <a:off x="533400" y="381000"/>
            <a:ext cx="11049000" cy="647700"/>
          </a:xfrm>
          <a:prstGeom prst="rect">
            <a:avLst/>
          </a:prstGeom>
          <a:noFill/>
          <a:ln w="0">
            <a:noFill/>
          </a:ln>
        </p:spPr>
        <p:txBody>
          <a:bodyPr wrap="square" lIns="0" tIns="0" rIns="0" bIns="0" anchor="t">
            <a:noAutofit/>
          </a:bodyPr>
          <a:lstStyle>
            <a:defPPr>
              <a:defRPr sz="3225" b="1">
                <a:solidFill>
                  <a:srgbClr val="FFFFFF"/>
                </a:solidFill>
                <a:latin typeface="Arial"/>
                <a:ea typeface="Arial"/>
                <a:cs typeface="Arial"/>
              </a:defRPr>
            </a:defPPr>
          </a:lstStyle>
          <a:p>
            <a:pPr>
              <a:defRPr sz="3225" b="1">
                <a:solidFill>
                  <a:srgbClr val="FFFFFF"/>
                </a:solidFill>
                <a:latin typeface="Arial"/>
                <a:ea typeface="Arial"/>
                <a:cs typeface="Arial"/>
              </a:defRPr>
            </a:pPr>
            <a:r>
              <a:rPr sz="3225" b="1">
                <a:solidFill>
                  <a:srgbClr val="FFFFFF"/>
                </a:solidFill>
                <a:latin typeface="Arial"/>
                <a:ea typeface="Arial"/>
                <a:cs typeface="Arial"/>
              </a:rPr>
              <a:t>Real-robot demonstration</a:t>
            </a:r>
          </a:p>
        </p:txBody>
      </p:sp>
      <p:sp>
        <p:nvSpPr>
          <p:cNvPr id="2" name="22">
            <a:extLst>
              <a:ext uri="{FF2B5EF4-FFF2-40B4-BE49-F238E27FC236}">
                <ns2:creationId id="{69C7F397-A6A5-4B05-8F5C-F2F92AF3FA56}"/>
              </a:ext>
            </a:extLst>
          </p:cNvPr>
          <p:cNvSpPr>
            <a:spLocks noGrp="1"/>
          </p:cNvSpPr>
          <p:nvPr/>
        </p:nvSpPr>
        <p:spPr>
          <a:xfrm>
            <a:off x="11334750" y="6429375"/>
            <a:ext cx="428625" cy="228600"/>
          </a:xfrm>
          <a:prstGeom prst="rect">
            <a:avLst/>
          </a:prstGeom>
          <a:noFill/>
          <a:ln w="0">
            <a:noFill/>
          </a:ln>
        </p:spPr>
        <p:txBody>
          <a:bodyPr wrap="square" lIns="0" tIns="0" rIns="0" bIns="0" anchor="t">
            <a:noAutofit/>
          </a:bodyPr>
          <a:lstStyle>
            <a:defPPr>
              <a:defRPr sz="1200" b="0">
                <a:solidFill>
                  <a:srgbClr val="B4C3D3"/>
                </a:solidFill>
                <a:latin typeface="Arial"/>
                <a:ea typeface="Arial"/>
                <a:cs typeface="Arial"/>
              </a:defRPr>
            </a:defPPr>
          </a:lstStyle>
          <a:p>
            <a:pPr>
              <a:defRPr sz="1200" b="0">
                <a:solidFill>
                  <a:srgbClr val="B4C3D3"/>
                </a:solidFill>
                <a:latin typeface="Arial"/>
                <a:ea typeface="Arial"/>
                <a:cs typeface="Arial"/>
              </a:defRPr>
            </a:pPr>
            <a:r>
              <a:rPr sz="1200" b="0">
                <a:solidFill>
                  <a:srgbClr val="B4C3D3"/>
                </a:solidFill>
                <a:latin typeface="Arial"/>
                <a:ea typeface="Arial"/>
                <a:cs typeface="Arial"/>
              </a:rPr>
              <a:t>22</a:t>
            </a:r>
          </a:p>
        </p:txBody>
      </p:sp>
      <p:pic>
        <p:nvPicPr>
          <p:cNvPr id="3" name="real_robot_english.mp4" descr="VIDEO_POSTER_REAL">
            <a:extLst>
              <a:ext uri="{FF2B5EF4-FFF2-40B4-BE49-F238E27FC236}">
                <ns2:creationId id="{915DA88D-5932-43DD-B6E9-6BCB943352BC}"/>
              </a:ext>
            </a:extLst>
            <a:hlinkClick action="ppaction://media"/>
          </p:cNvPr>
          <p:cNvPicPr>
            <a:picLocks noChangeAspect="1"/>
          </p:cNvPicPr>
          <p:nvPr>
            <a:videoFile r:link="rIdPresentationVideo"/>
            <p:extLst>
              <p:ext uri="{DAA4B4D4-6D71-4841-9C94-3DE7FCFB9230}">
                <p14:media r:embed="rIdPresentationMedia"/>
              </p:ext>
            </p:extLst>
          </p:nvPr>
        </p:nvPicPr>
        <p:blipFill>
          <a:blip r:embed="Rbb807b25dfa44c13"/>
          <a:stretch/>
        </p:blipFill>
        <p:spPr>
          <a:xfrm>
            <a:off x="1735667" y="1190625"/>
            <a:ext cx="8720667" cy="4905375"/>
          </a:xfrm>
          <a:prstGeom prst="rect">
            <a:avLst/>
          </a:prstGeom>
        </p:spPr>
      </p:pic>
      <p:sp>
        <p:nvSpPr>
          <p:cNvPr id="4" name="Original speed. User-reported recipe: 10% ">
            <a:extLst>
              <a:ext uri="{FF2B5EF4-FFF2-40B4-BE49-F238E27FC236}">
                <ns2:creationId id="{DD2322E8-DA7A-479E-AE82-90A1C04145DB}"/>
              </a:ext>
            </a:extLst>
          </p:cNvPr>
          <p:cNvSpPr>
            <a:spLocks noGrp="1"/>
          </p:cNvSpPr>
          <p:nvPr/>
        </p:nvSpPr>
        <p:spPr>
          <a:xfrm>
            <a:off x="533400" y="6219825"/>
            <a:ext cx="10620375" cy="400050"/>
          </a:xfrm>
          <a:prstGeom prst="rect">
            <a:avLst/>
          </a:prstGeom>
          <a:noFill/>
          <a:ln w="0">
            <a:noFill/>
          </a:ln>
        </p:spPr>
        <p:txBody>
          <a:bodyPr wrap="square" lIns="0" tIns="0" rIns="0" bIns="0" anchor="t">
            <a:noAutofit/>
          </a:bodyPr>
          <a:lstStyle>
            <a:defPPr>
              <a:defRPr sz="1275" b="0">
                <a:solidFill>
                  <a:srgbClr val="B3C5D9"/>
                </a:solidFill>
                <a:latin typeface="Arial"/>
                <a:ea typeface="Arial"/>
                <a:cs typeface="Arial"/>
              </a:defRPr>
            </a:defPPr>
          </a:lstStyle>
          <a:p>
            <a:pPr>
              <a:defRPr sz="1275" b="0">
                <a:solidFill>
                  <a:srgbClr val="B3C5D9"/>
                </a:solidFill>
                <a:latin typeface="Arial"/>
                <a:ea typeface="Arial"/>
                <a:cs typeface="Arial"/>
              </a:defRPr>
            </a:pPr>
            <a:r>
              <a:rPr sz="1275" b="0">
                <a:solidFill>
                  <a:srgbClr val="B3C5D9"/>
                </a:solidFill>
                <a:latin typeface="Arial"/>
                <a:ea typeface="Arial"/>
                <a:cs typeface="Arial"/>
              </a:rPr>
              <a:t>Original speed. User-reported recipe: 10% real + 90% simulation, 10,000 updates.</a:t>
            </a:r>
          </a:p>
        </p:txBody>
      </p:sp>
    </p:spTree>
    <p:extLst>
      <p:ext uri="{BB962C8B-B14F-4D97-AF65-F5344CB8AC3E}">
        <p14:creationId val="1646549580"/>
      </p:ext>
    </p:extLst>
  </p:cSld>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2026-10-19T05:43:03.7520000Z</dcterms:created>
  <dcterms:modified xsi:type="dcterms:W3CDTF">2026-10-19T05:43:03.7520000Z</dcterms:modified>
</coreProperties>
</file>